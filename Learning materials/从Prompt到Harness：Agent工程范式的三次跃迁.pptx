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12192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5FFF"/>
    <a:srgbClr val="FFFFFF"/>
    <a:srgbClr val="FE9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87" autoAdjust="0"/>
    <p:restoredTop sz="81738" autoAdjust="0"/>
  </p:normalViewPr>
  <p:slideViewPr>
    <p:cSldViewPr snapToGrid="0" snapToObjects="1">
      <p:cViewPr varScale="1">
        <p:scale>
          <a:sx n="90" d="100"/>
          <a:sy n="90" d="100"/>
        </p:scale>
        <p:origin x="160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1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73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3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77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7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82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82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85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85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6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0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90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5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95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9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9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99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72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2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6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6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5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5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0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0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1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srajdev.com/p/understanding-agentic-ai-architecture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hyperlink" Target="https://hy.tencent.com/research/100025?langVersion=zh" TargetMode="External"/><Relationship Id="rId4" Type="http://schemas.openxmlformats.org/officeDocument/2006/relationships/hyperlink" Target="https://www.anthropic.com/engineering/effective-context-engineering-for-ai-agents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i.com/zh-Hans-CN/index/harness-engineering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hyperlink" Target="https://magazine.sebastianraschka.com/p/components-of-a-coding-agent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mohamed-hendawy.medium.com/from-prompts-to-harnesses-the-three-eras-of-ai-agent-engineering-fbd0e6168b21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gi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72B"/>
              </a:gs>
              <a:gs pos="50000">
                <a:srgbClr val="1D293D"/>
              </a:gs>
              <a:gs pos="100000">
                <a:srgbClr val="312C85"/>
              </a:gs>
            </a:gsLst>
            <a:lin ang="2700000" scaled="1"/>
          </a:gradFill>
        </p:spPr>
      </p:sp>
      <p:pic>
        <p:nvPicPr>
          <p:cNvPr id="2097156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62" r="62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1048723" name="Shape 1"/>
          <p:cNvSpPr/>
          <p:nvPr/>
        </p:nvSpPr>
        <p:spPr>
          <a:xfrm>
            <a:off x="3701935" y="1819520"/>
            <a:ext cx="4788131" cy="987262"/>
          </a:xfrm>
          <a:custGeom>
            <a:avLst/>
            <a:gdLst/>
            <a:ahLst/>
            <a:cxnLst/>
            <a:rect l="l" t="t" r="r" b="b"/>
            <a:pathLst>
              <a:path w="2635827" h="387927">
                <a:moveTo>
                  <a:pt x="193964" y="0"/>
                </a:moveTo>
                <a:lnTo>
                  <a:pt x="2441864" y="0"/>
                </a:lnTo>
                <a:cubicBezTo>
                  <a:pt x="2548987" y="0"/>
                  <a:pt x="2635827" y="86840"/>
                  <a:pt x="2635827" y="193964"/>
                </a:cubicBezTo>
                <a:lnTo>
                  <a:pt x="2635827" y="193964"/>
                </a:lnTo>
                <a:cubicBezTo>
                  <a:pt x="2635827" y="301087"/>
                  <a:pt x="2548987" y="387927"/>
                  <a:pt x="2441864" y="387927"/>
                </a:cubicBezTo>
                <a:lnTo>
                  <a:pt x="193964" y="387927"/>
                </a:lnTo>
                <a:cubicBezTo>
                  <a:pt x="86840" y="387927"/>
                  <a:pt x="0" y="301087"/>
                  <a:pt x="0" y="193964"/>
                </a:cubicBezTo>
                <a:lnTo>
                  <a:pt x="0" y="193964"/>
                </a:lnTo>
                <a:cubicBezTo>
                  <a:pt x="0" y="86840"/>
                  <a:pt x="86840" y="0"/>
                  <a:pt x="193964" y="0"/>
                </a:cubicBezTo>
                <a:close/>
              </a:path>
            </a:pathLst>
          </a:custGeom>
          <a:solidFill>
            <a:srgbClr val="615FFF">
              <a:alpha val="20000"/>
            </a:srgbClr>
          </a:solidFill>
          <a:ln w="9236">
            <a:solidFill>
              <a:srgbClr val="7C86FF">
                <a:alpha val="30196"/>
              </a:srgbClr>
            </a:solidFill>
            <a:prstDash val="solid"/>
          </a:ln>
        </p:spPr>
      </p:sp>
      <p:sp>
        <p:nvSpPr>
          <p:cNvPr id="1048724" name="Text 2"/>
          <p:cNvSpPr/>
          <p:nvPr/>
        </p:nvSpPr>
        <p:spPr>
          <a:xfrm>
            <a:off x="3585557" y="2018476"/>
            <a:ext cx="5020886" cy="5130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kern="0" spc="53" dirty="0">
                <a:solidFill>
                  <a:srgbClr val="A3B3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AGENTIC SYSTEM</a:t>
            </a:r>
          </a:p>
          <a:p>
            <a:pPr algn="ctr">
              <a:lnSpc>
                <a:spcPct val="120000"/>
              </a:lnSpc>
            </a:pPr>
            <a:r>
              <a:rPr lang="en-US" sz="2000" b="1" kern="0" spc="53" dirty="0">
                <a:solidFill>
                  <a:srgbClr val="A3B3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ENGINEERING EVOLUTION</a:t>
            </a:r>
            <a:endParaRPr lang="en-US" sz="3600" dirty="0"/>
          </a:p>
        </p:txBody>
      </p:sp>
      <p:sp>
        <p:nvSpPr>
          <p:cNvPr id="1048725" name="Text 3"/>
          <p:cNvSpPr/>
          <p:nvPr/>
        </p:nvSpPr>
        <p:spPr>
          <a:xfrm>
            <a:off x="2075089" y="2912282"/>
            <a:ext cx="8041822" cy="11858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从Prompt到Harness</a:t>
            </a:r>
            <a:endParaRPr lang="en-US" sz="1600" dirty="0"/>
          </a:p>
        </p:txBody>
      </p:sp>
      <p:sp>
        <p:nvSpPr>
          <p:cNvPr id="1048726" name="Text 4"/>
          <p:cNvSpPr/>
          <p:nvPr/>
        </p:nvSpPr>
        <p:spPr>
          <a:xfrm>
            <a:off x="2924673" y="3819409"/>
            <a:ext cx="6342654" cy="8157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C6D2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Agent</a:t>
            </a:r>
            <a:r>
              <a:rPr lang="en-US" altLang="zh-CN" sz="2250" dirty="0">
                <a:solidFill>
                  <a:srgbClr val="C6D2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ic </a:t>
            </a:r>
            <a:r>
              <a:rPr lang="en-US" altLang="zh-CN" sz="2250" dirty="0" err="1">
                <a:solidFill>
                  <a:srgbClr val="C6D2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System</a:t>
            </a:r>
            <a:r>
              <a:rPr lang="en-US" sz="2250" dirty="0" err="1">
                <a:solidFill>
                  <a:srgbClr val="C6D2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工程范式的三次跃迁</a:t>
            </a:r>
            <a:endParaRPr lang="en-US" sz="1600" dirty="0"/>
          </a:p>
        </p:txBody>
      </p:sp>
      <p:sp>
        <p:nvSpPr>
          <p:cNvPr id="1048727" name="Shape 5"/>
          <p:cNvSpPr/>
          <p:nvPr/>
        </p:nvSpPr>
        <p:spPr>
          <a:xfrm>
            <a:off x="5413822" y="4574163"/>
            <a:ext cx="201046" cy="284615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0"/>
                </a:moveTo>
                <a:cubicBezTo>
                  <a:pt x="48790" y="0"/>
                  <a:pt x="53578" y="4789"/>
                  <a:pt x="53578" y="10716"/>
                </a:cubicBezTo>
                <a:lnTo>
                  <a:pt x="53578" y="21431"/>
                </a:lnTo>
                <a:lnTo>
                  <a:pt x="96441" y="21431"/>
                </a:lnTo>
                <a:lnTo>
                  <a:pt x="96441" y="10716"/>
                </a:lnTo>
                <a:cubicBezTo>
                  <a:pt x="96441" y="4789"/>
                  <a:pt x="101229" y="0"/>
                  <a:pt x="107156" y="0"/>
                </a:cubicBezTo>
                <a:cubicBezTo>
                  <a:pt x="113083" y="0"/>
                  <a:pt x="117872" y="4789"/>
                  <a:pt x="117872" y="10716"/>
                </a:cubicBezTo>
                <a:lnTo>
                  <a:pt x="117872" y="21431"/>
                </a:lnTo>
                <a:lnTo>
                  <a:pt x="128588" y="21431"/>
                </a:lnTo>
                <a:cubicBezTo>
                  <a:pt x="140408" y="21431"/>
                  <a:pt x="150019" y="31042"/>
                  <a:pt x="150019" y="42863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42863"/>
                </a:lnTo>
                <a:cubicBezTo>
                  <a:pt x="0" y="31042"/>
                  <a:pt x="9611" y="21431"/>
                  <a:pt x="21431" y="21431"/>
                </a:cubicBezTo>
                <a:lnTo>
                  <a:pt x="32147" y="21431"/>
                </a:lnTo>
                <a:lnTo>
                  <a:pt x="32147" y="10716"/>
                </a:lnTo>
                <a:cubicBezTo>
                  <a:pt x="32147" y="4789"/>
                  <a:pt x="36935" y="0"/>
                  <a:pt x="42863" y="0"/>
                </a:cubicBezTo>
                <a:close/>
                <a:moveTo>
                  <a:pt x="21431" y="80367"/>
                </a:moveTo>
                <a:lnTo>
                  <a:pt x="21431" y="91083"/>
                </a:lnTo>
                <a:cubicBezTo>
                  <a:pt x="21431" y="94030"/>
                  <a:pt x="23842" y="96441"/>
                  <a:pt x="26789" y="96441"/>
                </a:cubicBezTo>
                <a:lnTo>
                  <a:pt x="37505" y="96441"/>
                </a:lnTo>
                <a:cubicBezTo>
                  <a:pt x="40451" y="96441"/>
                  <a:pt x="42863" y="94030"/>
                  <a:pt x="42863" y="91083"/>
                </a:cubicBezTo>
                <a:lnTo>
                  <a:pt x="42863" y="80367"/>
                </a:lnTo>
                <a:cubicBezTo>
                  <a:pt x="42863" y="77420"/>
                  <a:pt x="40451" y="75009"/>
                  <a:pt x="37505" y="75009"/>
                </a:cubicBezTo>
                <a:lnTo>
                  <a:pt x="26789" y="75009"/>
                </a:lnTo>
                <a:cubicBezTo>
                  <a:pt x="23842" y="75009"/>
                  <a:pt x="21431" y="77420"/>
                  <a:pt x="21431" y="80367"/>
                </a:cubicBezTo>
                <a:close/>
                <a:moveTo>
                  <a:pt x="64294" y="80367"/>
                </a:moveTo>
                <a:lnTo>
                  <a:pt x="64294" y="91083"/>
                </a:lnTo>
                <a:cubicBezTo>
                  <a:pt x="64294" y="94030"/>
                  <a:pt x="66705" y="96441"/>
                  <a:pt x="69652" y="96441"/>
                </a:cubicBezTo>
                <a:lnTo>
                  <a:pt x="80367" y="96441"/>
                </a:lnTo>
                <a:cubicBezTo>
                  <a:pt x="83314" y="96441"/>
                  <a:pt x="85725" y="94030"/>
                  <a:pt x="85725" y="91083"/>
                </a:cubicBezTo>
                <a:lnTo>
                  <a:pt x="85725" y="80367"/>
                </a:lnTo>
                <a:cubicBezTo>
                  <a:pt x="85725" y="77420"/>
                  <a:pt x="83314" y="75009"/>
                  <a:pt x="80367" y="75009"/>
                </a:cubicBezTo>
                <a:lnTo>
                  <a:pt x="69652" y="75009"/>
                </a:lnTo>
                <a:cubicBezTo>
                  <a:pt x="66705" y="75009"/>
                  <a:pt x="64294" y="77420"/>
                  <a:pt x="64294" y="80367"/>
                </a:cubicBezTo>
                <a:close/>
                <a:moveTo>
                  <a:pt x="112514" y="75009"/>
                </a:moveTo>
                <a:cubicBezTo>
                  <a:pt x="109567" y="75009"/>
                  <a:pt x="107156" y="77420"/>
                  <a:pt x="107156" y="80367"/>
                </a:cubicBezTo>
                <a:lnTo>
                  <a:pt x="107156" y="91083"/>
                </a:lnTo>
                <a:cubicBezTo>
                  <a:pt x="107156" y="94030"/>
                  <a:pt x="109567" y="96441"/>
                  <a:pt x="112514" y="96441"/>
                </a:cubicBezTo>
                <a:lnTo>
                  <a:pt x="123230" y="96441"/>
                </a:lnTo>
                <a:cubicBezTo>
                  <a:pt x="126176" y="96441"/>
                  <a:pt x="128588" y="94030"/>
                  <a:pt x="128588" y="91083"/>
                </a:cubicBezTo>
                <a:lnTo>
                  <a:pt x="128588" y="80367"/>
                </a:lnTo>
                <a:cubicBezTo>
                  <a:pt x="128588" y="77420"/>
                  <a:pt x="126176" y="75009"/>
                  <a:pt x="123230" y="75009"/>
                </a:cubicBezTo>
                <a:lnTo>
                  <a:pt x="112514" y="75009"/>
                </a:lnTo>
                <a:close/>
                <a:moveTo>
                  <a:pt x="21431" y="123230"/>
                </a:move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37505" y="139303"/>
                </a:lnTo>
                <a:cubicBezTo>
                  <a:pt x="40451" y="139303"/>
                  <a:pt x="42863" y="136892"/>
                  <a:pt x="42863" y="133945"/>
                </a:cubicBezTo>
                <a:lnTo>
                  <a:pt x="42863" y="123230"/>
                </a:lnTo>
                <a:cubicBezTo>
                  <a:pt x="42863" y="120283"/>
                  <a:pt x="40451" y="117872"/>
                  <a:pt x="37505" y="117872"/>
                </a:cubicBezTo>
                <a:lnTo>
                  <a:pt x="26789" y="117872"/>
                </a:lnTo>
                <a:cubicBezTo>
                  <a:pt x="23842" y="117872"/>
                  <a:pt x="21431" y="120283"/>
                  <a:pt x="21431" y="123230"/>
                </a:cubicBezTo>
                <a:close/>
                <a:moveTo>
                  <a:pt x="69652" y="117872"/>
                </a:moveTo>
                <a:cubicBezTo>
                  <a:pt x="66705" y="117872"/>
                  <a:pt x="64294" y="120283"/>
                  <a:pt x="64294" y="123230"/>
                </a:cubicBezTo>
                <a:lnTo>
                  <a:pt x="64294" y="133945"/>
                </a:lnTo>
                <a:cubicBezTo>
                  <a:pt x="64294" y="136892"/>
                  <a:pt x="66705" y="139303"/>
                  <a:pt x="69652" y="139303"/>
                </a:cubicBezTo>
                <a:lnTo>
                  <a:pt x="80367" y="139303"/>
                </a:lnTo>
                <a:cubicBezTo>
                  <a:pt x="83314" y="139303"/>
                  <a:pt x="85725" y="136892"/>
                  <a:pt x="85725" y="133945"/>
                </a:cubicBezTo>
                <a:lnTo>
                  <a:pt x="85725" y="123230"/>
                </a:lnTo>
                <a:cubicBezTo>
                  <a:pt x="85725" y="120283"/>
                  <a:pt x="83314" y="117872"/>
                  <a:pt x="80367" y="117872"/>
                </a:cubicBezTo>
                <a:lnTo>
                  <a:pt x="69652" y="117872"/>
                </a:lnTo>
                <a:close/>
                <a:moveTo>
                  <a:pt x="107156" y="123230"/>
                </a:moveTo>
                <a:lnTo>
                  <a:pt x="107156" y="133945"/>
                </a:lnTo>
                <a:cubicBezTo>
                  <a:pt x="107156" y="136892"/>
                  <a:pt x="109567" y="139303"/>
                  <a:pt x="112514" y="139303"/>
                </a:cubicBezTo>
                <a:lnTo>
                  <a:pt x="123230" y="139303"/>
                </a:lnTo>
                <a:cubicBezTo>
                  <a:pt x="126176" y="139303"/>
                  <a:pt x="128588" y="136892"/>
                  <a:pt x="128588" y="133945"/>
                </a:cubicBezTo>
                <a:lnTo>
                  <a:pt x="128588" y="123230"/>
                </a:lnTo>
                <a:cubicBezTo>
                  <a:pt x="128588" y="120283"/>
                  <a:pt x="126176" y="117872"/>
                  <a:pt x="123230" y="117872"/>
                </a:cubicBezTo>
                <a:lnTo>
                  <a:pt x="112514" y="117872"/>
                </a:lnTo>
                <a:cubicBezTo>
                  <a:pt x="109567" y="117872"/>
                  <a:pt x="107156" y="120283"/>
                  <a:pt x="107156" y="123230"/>
                </a:cubicBezTo>
                <a:close/>
              </a:path>
            </a:pathLst>
          </a:custGeom>
          <a:solidFill>
            <a:srgbClr val="7C86FF"/>
          </a:solidFill>
        </p:spPr>
      </p:sp>
      <p:sp>
        <p:nvSpPr>
          <p:cNvPr id="1048728" name="Text 6"/>
          <p:cNvSpPr/>
          <p:nvPr/>
        </p:nvSpPr>
        <p:spPr>
          <a:xfrm>
            <a:off x="5626944" y="4526539"/>
            <a:ext cx="1212656" cy="44273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CAD5E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2026年4月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4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汇报大纲</a:t>
            </a:r>
            <a:endParaRPr lang="en-US" sz="1600" dirty="0"/>
          </a:p>
        </p:txBody>
      </p:sp>
      <p:sp>
        <p:nvSpPr>
          <p:cNvPr id="1048735" name="Shape 1"/>
          <p:cNvSpPr/>
          <p:nvPr/>
        </p:nvSpPr>
        <p:spPr>
          <a:xfrm>
            <a:off x="381000" y="876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15FFF"/>
          </a:solidFill>
        </p:spPr>
      </p:sp>
      <p:sp>
        <p:nvSpPr>
          <p:cNvPr id="1048736" name="Shape 2"/>
          <p:cNvSpPr/>
          <p:nvPr/>
        </p:nvSpPr>
        <p:spPr>
          <a:xfrm>
            <a:off x="381000" y="1657350"/>
            <a:ext cx="5598968" cy="1190625"/>
          </a:xfrm>
          <a:custGeom>
            <a:avLst/>
            <a:gdLst/>
            <a:ahLst/>
            <a:cxnLst/>
            <a:rect l="l" t="t" r="r" b="b"/>
            <a:pathLst>
              <a:path w="5598968" h="1190625">
                <a:moveTo>
                  <a:pt x="34636" y="0"/>
                </a:moveTo>
                <a:lnTo>
                  <a:pt x="5484668" y="0"/>
                </a:lnTo>
                <a:cubicBezTo>
                  <a:pt x="5547752" y="0"/>
                  <a:pt x="5598968" y="51216"/>
                  <a:pt x="5598968" y="114300"/>
                </a:cubicBezTo>
                <a:lnTo>
                  <a:pt x="5598968" y="1076325"/>
                </a:lnTo>
                <a:cubicBezTo>
                  <a:pt x="5598968" y="1139409"/>
                  <a:pt x="5547752" y="1190625"/>
                  <a:pt x="5484668" y="1190625"/>
                </a:cubicBezTo>
                <a:lnTo>
                  <a:pt x="34636" y="1190625"/>
                </a:lnTo>
                <a:cubicBezTo>
                  <a:pt x="15507" y="1190625"/>
                  <a:pt x="0" y="1175118"/>
                  <a:pt x="0" y="1155989"/>
                </a:cubicBezTo>
                <a:lnTo>
                  <a:pt x="0" y="34636"/>
                </a:lnTo>
                <a:cubicBezTo>
                  <a:pt x="0" y="15507"/>
                  <a:pt x="15507" y="0"/>
                  <a:pt x="34636" y="0"/>
                </a:cubicBezTo>
                <a:close/>
              </a:path>
            </a:pathLst>
          </a:custGeom>
          <a:gradFill flip="none" rotWithShape="1">
            <a:gsLst>
              <a:gs pos="0">
                <a:srgbClr val="EFF6FF"/>
              </a:gs>
              <a:gs pos="100000">
                <a:srgbClr val="DBEAFE"/>
              </a:gs>
            </a:gsLst>
            <a:lin ang="2700000" scaled="1"/>
          </a:gradFill>
        </p:spPr>
      </p:sp>
      <p:sp>
        <p:nvSpPr>
          <p:cNvPr id="1048737" name="Shape 3"/>
          <p:cNvSpPr/>
          <p:nvPr/>
        </p:nvSpPr>
        <p:spPr>
          <a:xfrm>
            <a:off x="381000" y="1657350"/>
            <a:ext cx="34636" cy="1190625"/>
          </a:xfrm>
          <a:custGeom>
            <a:avLst/>
            <a:gdLst/>
            <a:ahLst/>
            <a:cxnLst/>
            <a:rect l="l" t="t" r="r" b="b"/>
            <a:pathLst>
              <a:path w="34636" h="1190625">
                <a:moveTo>
                  <a:pt x="34636" y="0"/>
                </a:moveTo>
                <a:lnTo>
                  <a:pt x="34636" y="0"/>
                </a:lnTo>
                <a:lnTo>
                  <a:pt x="34636" y="1190625"/>
                </a:lnTo>
                <a:lnTo>
                  <a:pt x="34636" y="1190625"/>
                </a:lnTo>
                <a:cubicBezTo>
                  <a:pt x="15507" y="1190625"/>
                  <a:pt x="0" y="1175118"/>
                  <a:pt x="0" y="1155989"/>
                </a:cubicBezTo>
                <a:lnTo>
                  <a:pt x="0" y="34636"/>
                </a:lnTo>
                <a:cubicBezTo>
                  <a:pt x="0" y="15507"/>
                  <a:pt x="15507" y="0"/>
                  <a:pt x="34636" y="0"/>
                </a:cubicBezTo>
                <a:close/>
              </a:path>
            </a:pathLst>
          </a:custGeom>
          <a:solidFill>
            <a:srgbClr val="2B7FFF"/>
          </a:solidFill>
        </p:spPr>
      </p:sp>
      <p:sp>
        <p:nvSpPr>
          <p:cNvPr id="1048738" name="Shape 4"/>
          <p:cNvSpPr/>
          <p:nvPr/>
        </p:nvSpPr>
        <p:spPr>
          <a:xfrm>
            <a:off x="588818" y="1847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B7FFF"/>
          </a:solidFill>
        </p:spPr>
      </p:sp>
      <p:sp>
        <p:nvSpPr>
          <p:cNvPr id="1048739" name="Text 5"/>
          <p:cNvSpPr/>
          <p:nvPr/>
        </p:nvSpPr>
        <p:spPr>
          <a:xfrm>
            <a:off x="545956" y="184785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600" dirty="0"/>
          </a:p>
        </p:txBody>
      </p:sp>
      <p:sp>
        <p:nvSpPr>
          <p:cNvPr id="1048740" name="Text 6"/>
          <p:cNvSpPr/>
          <p:nvPr/>
        </p:nvSpPr>
        <p:spPr>
          <a:xfrm>
            <a:off x="1084118" y="1905000"/>
            <a:ext cx="476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引言</a:t>
            </a:r>
            <a:endParaRPr lang="en-US" sz="1600" dirty="0"/>
          </a:p>
        </p:txBody>
      </p:sp>
      <p:sp>
        <p:nvSpPr>
          <p:cNvPr id="1048741" name="Text 7"/>
          <p:cNvSpPr/>
          <p:nvPr/>
        </p:nvSpPr>
        <p:spPr>
          <a:xfrm>
            <a:off x="588818" y="2343150"/>
            <a:ext cx="5276850" cy="314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sz="12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什么是</a:t>
            </a:r>
            <a:r>
              <a:rPr lang="en-US" altLang="zh-CN" sz="12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Agent</a:t>
            </a:r>
            <a:r>
              <a:rPr lang="zh-CN" altLang="zh-CN" sz="12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？什么是</a:t>
            </a:r>
            <a:r>
              <a:rPr lang="en-US" altLang="zh-CN" sz="12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Agentic System</a:t>
            </a:r>
            <a:r>
              <a:rPr lang="zh-CN" altLang="zh-CN" sz="12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？</a:t>
            </a:r>
            <a:endParaRPr lang="en-US" sz="1600" dirty="0"/>
          </a:p>
        </p:txBody>
      </p:sp>
      <p:sp>
        <p:nvSpPr>
          <p:cNvPr id="1048742" name="Shape 8"/>
          <p:cNvSpPr/>
          <p:nvPr/>
        </p:nvSpPr>
        <p:spPr>
          <a:xfrm>
            <a:off x="6191250" y="1657350"/>
            <a:ext cx="5598968" cy="1190625"/>
          </a:xfrm>
          <a:custGeom>
            <a:avLst/>
            <a:gdLst/>
            <a:ahLst/>
            <a:cxnLst/>
            <a:rect l="l" t="t" r="r" b="b"/>
            <a:pathLst>
              <a:path w="5598968" h="1190625">
                <a:moveTo>
                  <a:pt x="34636" y="0"/>
                </a:moveTo>
                <a:lnTo>
                  <a:pt x="5484668" y="0"/>
                </a:lnTo>
                <a:cubicBezTo>
                  <a:pt x="5547752" y="0"/>
                  <a:pt x="5598968" y="51216"/>
                  <a:pt x="5598968" y="114300"/>
                </a:cubicBezTo>
                <a:lnTo>
                  <a:pt x="5598968" y="1076325"/>
                </a:lnTo>
                <a:cubicBezTo>
                  <a:pt x="5598968" y="1139409"/>
                  <a:pt x="5547752" y="1190625"/>
                  <a:pt x="5484668" y="1190625"/>
                </a:cubicBezTo>
                <a:lnTo>
                  <a:pt x="34636" y="1190625"/>
                </a:lnTo>
                <a:cubicBezTo>
                  <a:pt x="15507" y="1190625"/>
                  <a:pt x="0" y="1175118"/>
                  <a:pt x="0" y="1155989"/>
                </a:cubicBezTo>
                <a:lnTo>
                  <a:pt x="0" y="34636"/>
                </a:lnTo>
                <a:cubicBezTo>
                  <a:pt x="0" y="15507"/>
                  <a:pt x="15507" y="0"/>
                  <a:pt x="34636" y="0"/>
                </a:cubicBezTo>
                <a:close/>
              </a:path>
            </a:pathLst>
          </a:custGeom>
          <a:gradFill flip="none" rotWithShape="1">
            <a:gsLst>
              <a:gs pos="0">
                <a:srgbClr val="ECFDF5"/>
              </a:gs>
              <a:gs pos="100000">
                <a:srgbClr val="D0FAE5"/>
              </a:gs>
            </a:gsLst>
            <a:lin ang="2700000" scaled="1"/>
          </a:gradFill>
        </p:spPr>
      </p:sp>
      <p:sp>
        <p:nvSpPr>
          <p:cNvPr id="1048743" name="Shape 9"/>
          <p:cNvSpPr/>
          <p:nvPr/>
        </p:nvSpPr>
        <p:spPr>
          <a:xfrm>
            <a:off x="6191250" y="1657350"/>
            <a:ext cx="34636" cy="1190625"/>
          </a:xfrm>
          <a:custGeom>
            <a:avLst/>
            <a:gdLst/>
            <a:ahLst/>
            <a:cxnLst/>
            <a:rect l="l" t="t" r="r" b="b"/>
            <a:pathLst>
              <a:path w="34636" h="1190625">
                <a:moveTo>
                  <a:pt x="34636" y="0"/>
                </a:moveTo>
                <a:lnTo>
                  <a:pt x="34636" y="0"/>
                </a:lnTo>
                <a:lnTo>
                  <a:pt x="34636" y="1190625"/>
                </a:lnTo>
                <a:lnTo>
                  <a:pt x="34636" y="1190625"/>
                </a:lnTo>
                <a:cubicBezTo>
                  <a:pt x="15507" y="1190625"/>
                  <a:pt x="0" y="1175118"/>
                  <a:pt x="0" y="1155989"/>
                </a:cubicBezTo>
                <a:lnTo>
                  <a:pt x="0" y="34636"/>
                </a:lnTo>
                <a:cubicBezTo>
                  <a:pt x="0" y="15507"/>
                  <a:pt x="15507" y="0"/>
                  <a:pt x="34636" y="0"/>
                </a:cubicBezTo>
                <a:close/>
              </a:path>
            </a:pathLst>
          </a:custGeom>
          <a:solidFill>
            <a:srgbClr val="00BC7D"/>
          </a:solidFill>
        </p:spPr>
      </p:sp>
      <p:sp>
        <p:nvSpPr>
          <p:cNvPr id="1048744" name="Shape 10"/>
          <p:cNvSpPr/>
          <p:nvPr/>
        </p:nvSpPr>
        <p:spPr>
          <a:xfrm>
            <a:off x="6399069" y="1847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BC7D"/>
          </a:solidFill>
        </p:spPr>
      </p:sp>
      <p:sp>
        <p:nvSpPr>
          <p:cNvPr id="1048745" name="Text 11"/>
          <p:cNvSpPr/>
          <p:nvPr/>
        </p:nvSpPr>
        <p:spPr>
          <a:xfrm>
            <a:off x="6356206" y="184785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600" dirty="0"/>
          </a:p>
        </p:txBody>
      </p:sp>
      <p:sp>
        <p:nvSpPr>
          <p:cNvPr id="1048746" name="Text 12"/>
          <p:cNvSpPr/>
          <p:nvPr/>
        </p:nvSpPr>
        <p:spPr>
          <a:xfrm>
            <a:off x="6894369" y="1905000"/>
            <a:ext cx="3133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第一次跃迁：Prompt Engineering</a:t>
            </a:r>
            <a:endParaRPr lang="en-US" sz="1600" dirty="0"/>
          </a:p>
        </p:txBody>
      </p:sp>
      <p:sp>
        <p:nvSpPr>
          <p:cNvPr id="1048747" name="Text 13"/>
          <p:cNvSpPr/>
          <p:nvPr/>
        </p:nvSpPr>
        <p:spPr>
          <a:xfrm>
            <a:off x="6399069" y="2343150"/>
            <a:ext cx="5276850" cy="314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2022-：如何与模型"说话"，精心设计的提示词艺术</a:t>
            </a:r>
            <a:endParaRPr lang="en-US" sz="1600" dirty="0"/>
          </a:p>
        </p:txBody>
      </p:sp>
      <p:sp>
        <p:nvSpPr>
          <p:cNvPr id="1048748" name="Shape 14"/>
          <p:cNvSpPr/>
          <p:nvPr/>
        </p:nvSpPr>
        <p:spPr>
          <a:xfrm>
            <a:off x="381000" y="3038475"/>
            <a:ext cx="5598968" cy="1190625"/>
          </a:xfrm>
          <a:custGeom>
            <a:avLst/>
            <a:gdLst/>
            <a:ahLst/>
            <a:cxnLst/>
            <a:rect l="l" t="t" r="r" b="b"/>
            <a:pathLst>
              <a:path w="5598968" h="1190625">
                <a:moveTo>
                  <a:pt x="34636" y="0"/>
                </a:moveTo>
                <a:lnTo>
                  <a:pt x="5484668" y="0"/>
                </a:lnTo>
                <a:cubicBezTo>
                  <a:pt x="5547752" y="0"/>
                  <a:pt x="5598968" y="51216"/>
                  <a:pt x="5598968" y="114300"/>
                </a:cubicBezTo>
                <a:lnTo>
                  <a:pt x="5598968" y="1076325"/>
                </a:lnTo>
                <a:cubicBezTo>
                  <a:pt x="5598968" y="1139409"/>
                  <a:pt x="5547752" y="1190625"/>
                  <a:pt x="5484668" y="1190625"/>
                </a:cubicBezTo>
                <a:lnTo>
                  <a:pt x="34636" y="1190625"/>
                </a:lnTo>
                <a:cubicBezTo>
                  <a:pt x="15507" y="1190625"/>
                  <a:pt x="0" y="1175118"/>
                  <a:pt x="0" y="1155989"/>
                </a:cubicBezTo>
                <a:lnTo>
                  <a:pt x="0" y="34636"/>
                </a:lnTo>
                <a:cubicBezTo>
                  <a:pt x="0" y="15507"/>
                  <a:pt x="15507" y="0"/>
                  <a:pt x="34636" y="0"/>
                </a:cubicBezTo>
                <a:close/>
              </a:path>
            </a:pathLst>
          </a:custGeom>
          <a:gradFill flip="none" rotWithShape="1">
            <a:gsLst>
              <a:gs pos="0">
                <a:srgbClr val="FFFBEB"/>
              </a:gs>
              <a:gs pos="100000">
                <a:srgbClr val="FEF3C6"/>
              </a:gs>
            </a:gsLst>
            <a:lin ang="2700000" scaled="1"/>
          </a:gradFill>
        </p:spPr>
      </p:sp>
      <p:sp>
        <p:nvSpPr>
          <p:cNvPr id="1048749" name="Shape 15"/>
          <p:cNvSpPr/>
          <p:nvPr/>
        </p:nvSpPr>
        <p:spPr>
          <a:xfrm>
            <a:off x="381000" y="3038475"/>
            <a:ext cx="34636" cy="1190625"/>
          </a:xfrm>
          <a:custGeom>
            <a:avLst/>
            <a:gdLst/>
            <a:ahLst/>
            <a:cxnLst/>
            <a:rect l="l" t="t" r="r" b="b"/>
            <a:pathLst>
              <a:path w="34636" h="1190625">
                <a:moveTo>
                  <a:pt x="34636" y="0"/>
                </a:moveTo>
                <a:lnTo>
                  <a:pt x="34636" y="0"/>
                </a:lnTo>
                <a:lnTo>
                  <a:pt x="34636" y="1190625"/>
                </a:lnTo>
                <a:lnTo>
                  <a:pt x="34636" y="1190625"/>
                </a:lnTo>
                <a:cubicBezTo>
                  <a:pt x="15507" y="1190625"/>
                  <a:pt x="0" y="1175118"/>
                  <a:pt x="0" y="1155989"/>
                </a:cubicBezTo>
                <a:lnTo>
                  <a:pt x="0" y="34636"/>
                </a:lnTo>
                <a:cubicBezTo>
                  <a:pt x="0" y="15507"/>
                  <a:pt x="15507" y="0"/>
                  <a:pt x="34636" y="0"/>
                </a:cubicBezTo>
                <a:close/>
              </a:path>
            </a:pathLst>
          </a:custGeom>
          <a:solidFill>
            <a:srgbClr val="FE9A00"/>
          </a:solidFill>
        </p:spPr>
      </p:sp>
      <p:sp>
        <p:nvSpPr>
          <p:cNvPr id="1048750" name="Shape 16"/>
          <p:cNvSpPr/>
          <p:nvPr/>
        </p:nvSpPr>
        <p:spPr>
          <a:xfrm>
            <a:off x="588818" y="32289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E9A00"/>
          </a:solidFill>
        </p:spPr>
      </p:sp>
      <p:sp>
        <p:nvSpPr>
          <p:cNvPr id="1048751" name="Text 17"/>
          <p:cNvSpPr/>
          <p:nvPr/>
        </p:nvSpPr>
        <p:spPr>
          <a:xfrm>
            <a:off x="545956" y="3228975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600" dirty="0"/>
          </a:p>
        </p:txBody>
      </p:sp>
      <p:sp>
        <p:nvSpPr>
          <p:cNvPr id="1048752" name="Text 18"/>
          <p:cNvSpPr/>
          <p:nvPr/>
        </p:nvSpPr>
        <p:spPr>
          <a:xfrm>
            <a:off x="1084118" y="3286125"/>
            <a:ext cx="3152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第二次跃迁：Context Engineering</a:t>
            </a:r>
            <a:endParaRPr lang="en-US" sz="1600" dirty="0"/>
          </a:p>
        </p:txBody>
      </p:sp>
      <p:sp>
        <p:nvSpPr>
          <p:cNvPr id="1048753" name="Text 19"/>
          <p:cNvSpPr/>
          <p:nvPr/>
        </p:nvSpPr>
        <p:spPr>
          <a:xfrm>
            <a:off x="588818" y="3724275"/>
            <a:ext cx="5276850" cy="314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2024</a:t>
            </a:r>
            <a:r>
              <a:rPr lang="en-US" altLang="zh-CN" sz="12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-</a:t>
            </a:r>
            <a:r>
              <a:rPr lang="en-US" sz="12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：从"写好提示词"到"管理上下文"，应对Context Rot挑战</a:t>
            </a:r>
            <a:endParaRPr lang="en-US" sz="1600" dirty="0"/>
          </a:p>
        </p:txBody>
      </p:sp>
      <p:sp>
        <p:nvSpPr>
          <p:cNvPr id="1048754" name="Shape 20"/>
          <p:cNvSpPr/>
          <p:nvPr/>
        </p:nvSpPr>
        <p:spPr>
          <a:xfrm>
            <a:off x="6191250" y="3038475"/>
            <a:ext cx="5598968" cy="1190625"/>
          </a:xfrm>
          <a:custGeom>
            <a:avLst/>
            <a:gdLst/>
            <a:ahLst/>
            <a:cxnLst/>
            <a:rect l="l" t="t" r="r" b="b"/>
            <a:pathLst>
              <a:path w="5598968" h="1190625">
                <a:moveTo>
                  <a:pt x="34636" y="0"/>
                </a:moveTo>
                <a:lnTo>
                  <a:pt x="5484668" y="0"/>
                </a:lnTo>
                <a:cubicBezTo>
                  <a:pt x="5547752" y="0"/>
                  <a:pt x="5598968" y="51216"/>
                  <a:pt x="5598968" y="114300"/>
                </a:cubicBezTo>
                <a:lnTo>
                  <a:pt x="5598968" y="1076325"/>
                </a:lnTo>
                <a:cubicBezTo>
                  <a:pt x="5598968" y="1139409"/>
                  <a:pt x="5547752" y="1190625"/>
                  <a:pt x="5484668" y="1190625"/>
                </a:cubicBezTo>
                <a:lnTo>
                  <a:pt x="34636" y="1190625"/>
                </a:lnTo>
                <a:cubicBezTo>
                  <a:pt x="15507" y="1190625"/>
                  <a:pt x="0" y="1175118"/>
                  <a:pt x="0" y="1155989"/>
                </a:cubicBezTo>
                <a:lnTo>
                  <a:pt x="0" y="34636"/>
                </a:lnTo>
                <a:cubicBezTo>
                  <a:pt x="0" y="15507"/>
                  <a:pt x="15507" y="0"/>
                  <a:pt x="34636" y="0"/>
                </a:cubicBezTo>
                <a:close/>
              </a:path>
            </a:pathLst>
          </a:custGeom>
          <a:gradFill flip="none" rotWithShape="1">
            <a:gsLst>
              <a:gs pos="0">
                <a:srgbClr val="FFF1F2"/>
              </a:gs>
              <a:gs pos="100000">
                <a:srgbClr val="FFE4E6"/>
              </a:gs>
            </a:gsLst>
            <a:lin ang="2700000" scaled="1"/>
          </a:gradFill>
        </p:spPr>
      </p:sp>
      <p:sp>
        <p:nvSpPr>
          <p:cNvPr id="1048755" name="Shape 21"/>
          <p:cNvSpPr/>
          <p:nvPr/>
        </p:nvSpPr>
        <p:spPr>
          <a:xfrm>
            <a:off x="6191250" y="3038475"/>
            <a:ext cx="34636" cy="1190625"/>
          </a:xfrm>
          <a:custGeom>
            <a:avLst/>
            <a:gdLst/>
            <a:ahLst/>
            <a:cxnLst/>
            <a:rect l="l" t="t" r="r" b="b"/>
            <a:pathLst>
              <a:path w="34636" h="1190625">
                <a:moveTo>
                  <a:pt x="34636" y="0"/>
                </a:moveTo>
                <a:lnTo>
                  <a:pt x="34636" y="0"/>
                </a:lnTo>
                <a:lnTo>
                  <a:pt x="34636" y="1190625"/>
                </a:lnTo>
                <a:lnTo>
                  <a:pt x="34636" y="1190625"/>
                </a:lnTo>
                <a:cubicBezTo>
                  <a:pt x="15507" y="1190625"/>
                  <a:pt x="0" y="1175118"/>
                  <a:pt x="0" y="1155989"/>
                </a:cubicBezTo>
                <a:lnTo>
                  <a:pt x="0" y="34636"/>
                </a:lnTo>
                <a:cubicBezTo>
                  <a:pt x="0" y="15507"/>
                  <a:pt x="15507" y="0"/>
                  <a:pt x="34636" y="0"/>
                </a:cubicBezTo>
                <a:close/>
              </a:path>
            </a:pathLst>
          </a:custGeom>
          <a:solidFill>
            <a:srgbClr val="FF2056"/>
          </a:solidFill>
        </p:spPr>
      </p:sp>
      <p:sp>
        <p:nvSpPr>
          <p:cNvPr id="1048756" name="Shape 22"/>
          <p:cNvSpPr/>
          <p:nvPr/>
        </p:nvSpPr>
        <p:spPr>
          <a:xfrm>
            <a:off x="6399069" y="32289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2056"/>
          </a:solidFill>
        </p:spPr>
      </p:sp>
      <p:sp>
        <p:nvSpPr>
          <p:cNvPr id="1048757" name="Text 23"/>
          <p:cNvSpPr/>
          <p:nvPr/>
        </p:nvSpPr>
        <p:spPr>
          <a:xfrm>
            <a:off x="6356206" y="3228975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600" dirty="0"/>
          </a:p>
        </p:txBody>
      </p:sp>
      <p:sp>
        <p:nvSpPr>
          <p:cNvPr id="1048758" name="Text 24"/>
          <p:cNvSpPr/>
          <p:nvPr/>
        </p:nvSpPr>
        <p:spPr>
          <a:xfrm>
            <a:off x="6894369" y="3286125"/>
            <a:ext cx="3171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第三次跃迁：Harness Engineering</a:t>
            </a:r>
            <a:endParaRPr lang="en-US" sz="1600" dirty="0"/>
          </a:p>
        </p:txBody>
      </p:sp>
      <p:sp>
        <p:nvSpPr>
          <p:cNvPr id="1048759" name="Text 25"/>
          <p:cNvSpPr/>
          <p:nvPr/>
        </p:nvSpPr>
        <p:spPr>
          <a:xfrm>
            <a:off x="6399069" y="3724275"/>
            <a:ext cx="5276850" cy="314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</a:t>
            </a:r>
            <a:r>
              <a:rPr lang="en-US" altLang="zh-CN" sz="12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r>
              <a:rPr lang="en-US" sz="12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-：构建Agent运行的"环境"，约束、反馈与控制系统</a:t>
            </a:r>
            <a:endParaRPr lang="en-US" sz="1600" dirty="0"/>
          </a:p>
        </p:txBody>
      </p:sp>
      <p:sp>
        <p:nvSpPr>
          <p:cNvPr id="1048760" name="Shape 26"/>
          <p:cNvSpPr/>
          <p:nvPr/>
        </p:nvSpPr>
        <p:spPr>
          <a:xfrm>
            <a:off x="381000" y="4419600"/>
            <a:ext cx="5598968" cy="1190625"/>
          </a:xfrm>
          <a:custGeom>
            <a:avLst/>
            <a:gdLst/>
            <a:ahLst/>
            <a:cxnLst/>
            <a:rect l="l" t="t" r="r" b="b"/>
            <a:pathLst>
              <a:path w="5598968" h="1190625">
                <a:moveTo>
                  <a:pt x="34636" y="0"/>
                </a:moveTo>
                <a:lnTo>
                  <a:pt x="5484668" y="0"/>
                </a:lnTo>
                <a:cubicBezTo>
                  <a:pt x="5547752" y="0"/>
                  <a:pt x="5598968" y="51216"/>
                  <a:pt x="5598968" y="114300"/>
                </a:cubicBezTo>
                <a:lnTo>
                  <a:pt x="5598968" y="1076325"/>
                </a:lnTo>
                <a:cubicBezTo>
                  <a:pt x="5598968" y="1139409"/>
                  <a:pt x="5547752" y="1190625"/>
                  <a:pt x="5484668" y="1190625"/>
                </a:cubicBezTo>
                <a:lnTo>
                  <a:pt x="34636" y="1190625"/>
                </a:lnTo>
                <a:cubicBezTo>
                  <a:pt x="15507" y="1190625"/>
                  <a:pt x="0" y="1175118"/>
                  <a:pt x="0" y="1155989"/>
                </a:cubicBezTo>
                <a:lnTo>
                  <a:pt x="0" y="34636"/>
                </a:lnTo>
                <a:cubicBezTo>
                  <a:pt x="0" y="15507"/>
                  <a:pt x="15507" y="0"/>
                  <a:pt x="34636" y="0"/>
                </a:cubicBezTo>
                <a:close/>
              </a:path>
            </a:pathLst>
          </a:custGeom>
          <a:gradFill flip="none" rotWithShape="1">
            <a:gsLst>
              <a:gs pos="0">
                <a:srgbClr val="F5F3FF"/>
              </a:gs>
              <a:gs pos="100000">
                <a:srgbClr val="EDE9FE"/>
              </a:gs>
            </a:gsLst>
            <a:lin ang="2700000" scaled="1"/>
          </a:gradFill>
        </p:spPr>
      </p:sp>
      <p:sp>
        <p:nvSpPr>
          <p:cNvPr id="1048761" name="Shape 27"/>
          <p:cNvSpPr/>
          <p:nvPr/>
        </p:nvSpPr>
        <p:spPr>
          <a:xfrm>
            <a:off x="381000" y="4419600"/>
            <a:ext cx="34636" cy="1190625"/>
          </a:xfrm>
          <a:custGeom>
            <a:avLst/>
            <a:gdLst/>
            <a:ahLst/>
            <a:cxnLst/>
            <a:rect l="l" t="t" r="r" b="b"/>
            <a:pathLst>
              <a:path w="34636" h="1190625">
                <a:moveTo>
                  <a:pt x="34636" y="0"/>
                </a:moveTo>
                <a:lnTo>
                  <a:pt x="34636" y="0"/>
                </a:lnTo>
                <a:lnTo>
                  <a:pt x="34636" y="1190625"/>
                </a:lnTo>
                <a:lnTo>
                  <a:pt x="34636" y="1190625"/>
                </a:lnTo>
                <a:cubicBezTo>
                  <a:pt x="15507" y="1190625"/>
                  <a:pt x="0" y="1175118"/>
                  <a:pt x="0" y="1155989"/>
                </a:cubicBezTo>
                <a:lnTo>
                  <a:pt x="0" y="34636"/>
                </a:lnTo>
                <a:cubicBezTo>
                  <a:pt x="0" y="15507"/>
                  <a:pt x="15507" y="0"/>
                  <a:pt x="34636" y="0"/>
                </a:cubicBezTo>
                <a:close/>
              </a:path>
            </a:pathLst>
          </a:custGeom>
          <a:solidFill>
            <a:srgbClr val="8E51FF"/>
          </a:solidFill>
        </p:spPr>
      </p:sp>
      <p:sp>
        <p:nvSpPr>
          <p:cNvPr id="1048762" name="Shape 28"/>
          <p:cNvSpPr/>
          <p:nvPr/>
        </p:nvSpPr>
        <p:spPr>
          <a:xfrm>
            <a:off x="588818" y="4610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E51FF"/>
          </a:solidFill>
        </p:spPr>
      </p:sp>
      <p:sp>
        <p:nvSpPr>
          <p:cNvPr id="1048763" name="Text 29"/>
          <p:cNvSpPr/>
          <p:nvPr/>
        </p:nvSpPr>
        <p:spPr>
          <a:xfrm>
            <a:off x="545956" y="4610100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</a:t>
            </a:r>
            <a:endParaRPr lang="en-US" sz="1600" dirty="0"/>
          </a:p>
        </p:txBody>
      </p:sp>
      <p:sp>
        <p:nvSpPr>
          <p:cNvPr id="1048764" name="Text 30"/>
          <p:cNvSpPr/>
          <p:nvPr/>
        </p:nvSpPr>
        <p:spPr>
          <a:xfrm>
            <a:off x="1084118" y="4667250"/>
            <a:ext cx="21621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Human-Agent关系演变</a:t>
            </a:r>
            <a:endParaRPr lang="en-US" sz="1600" dirty="0"/>
          </a:p>
        </p:txBody>
      </p:sp>
      <p:sp>
        <p:nvSpPr>
          <p:cNvPr id="1048765" name="Text 31"/>
          <p:cNvSpPr/>
          <p:nvPr/>
        </p:nvSpPr>
        <p:spPr>
          <a:xfrm>
            <a:off x="588818" y="5105400"/>
            <a:ext cx="5276850" cy="314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从Human-</a:t>
            </a:r>
            <a:r>
              <a:rPr lang="en-US" altLang="zh-CN" sz="12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Govern</a:t>
            </a:r>
            <a:r>
              <a:rPr lang="en-US" sz="12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到Human-</a:t>
            </a:r>
            <a:r>
              <a:rPr lang="en-US" altLang="zh-CN" sz="12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on-the-Loop</a:t>
            </a:r>
            <a:r>
              <a:rPr lang="en-US" sz="12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的暗线分析</a:t>
            </a:r>
            <a:endParaRPr lang="en-US" sz="1600" dirty="0"/>
          </a:p>
        </p:txBody>
      </p:sp>
      <p:sp>
        <p:nvSpPr>
          <p:cNvPr id="1048766" name="Shape 44"/>
          <p:cNvSpPr/>
          <p:nvPr/>
        </p:nvSpPr>
        <p:spPr>
          <a:xfrm>
            <a:off x="6191250" y="4443413"/>
            <a:ext cx="5598968" cy="1190625"/>
          </a:xfrm>
          <a:custGeom>
            <a:avLst/>
            <a:gdLst/>
            <a:ahLst/>
            <a:cxnLst/>
            <a:rect l="l" t="t" r="r" b="b"/>
            <a:pathLst>
              <a:path w="5598968" h="1190625">
                <a:moveTo>
                  <a:pt x="34636" y="0"/>
                </a:moveTo>
                <a:lnTo>
                  <a:pt x="5484668" y="0"/>
                </a:lnTo>
                <a:cubicBezTo>
                  <a:pt x="5547752" y="0"/>
                  <a:pt x="5598968" y="51216"/>
                  <a:pt x="5598968" y="114300"/>
                </a:cubicBezTo>
                <a:lnTo>
                  <a:pt x="5598968" y="1076325"/>
                </a:lnTo>
                <a:cubicBezTo>
                  <a:pt x="5598968" y="1139409"/>
                  <a:pt x="5547752" y="1190625"/>
                  <a:pt x="5484668" y="1190625"/>
                </a:cubicBezTo>
                <a:lnTo>
                  <a:pt x="34636" y="1190625"/>
                </a:lnTo>
                <a:cubicBezTo>
                  <a:pt x="15507" y="1190625"/>
                  <a:pt x="0" y="1175118"/>
                  <a:pt x="0" y="1155989"/>
                </a:cubicBezTo>
                <a:lnTo>
                  <a:pt x="0" y="34636"/>
                </a:lnTo>
                <a:cubicBezTo>
                  <a:pt x="0" y="15507"/>
                  <a:pt x="15507" y="0"/>
                  <a:pt x="34636" y="0"/>
                </a:cubicBezTo>
                <a:close/>
              </a:path>
            </a:pathLst>
          </a:custGeom>
          <a:gradFill flip="none" rotWithShape="1">
            <a:gsLst>
              <a:gs pos="0">
                <a:srgbClr val="F8FAFC"/>
              </a:gs>
              <a:gs pos="100000">
                <a:srgbClr val="F1F5F9"/>
              </a:gs>
            </a:gsLst>
            <a:lin ang="2700000" scaled="1"/>
          </a:gradFill>
        </p:spPr>
      </p:sp>
      <p:sp>
        <p:nvSpPr>
          <p:cNvPr id="1048767" name="Shape 45"/>
          <p:cNvSpPr/>
          <p:nvPr/>
        </p:nvSpPr>
        <p:spPr>
          <a:xfrm>
            <a:off x="6191250" y="4443413"/>
            <a:ext cx="34636" cy="1190625"/>
          </a:xfrm>
          <a:custGeom>
            <a:avLst/>
            <a:gdLst/>
            <a:ahLst/>
            <a:cxnLst/>
            <a:rect l="l" t="t" r="r" b="b"/>
            <a:pathLst>
              <a:path w="34636" h="1190625">
                <a:moveTo>
                  <a:pt x="34636" y="0"/>
                </a:moveTo>
                <a:lnTo>
                  <a:pt x="34636" y="0"/>
                </a:lnTo>
                <a:lnTo>
                  <a:pt x="34636" y="1190625"/>
                </a:lnTo>
                <a:lnTo>
                  <a:pt x="34636" y="1190625"/>
                </a:lnTo>
                <a:cubicBezTo>
                  <a:pt x="15507" y="1190625"/>
                  <a:pt x="0" y="1175118"/>
                  <a:pt x="0" y="1155989"/>
                </a:cubicBezTo>
                <a:lnTo>
                  <a:pt x="0" y="34636"/>
                </a:lnTo>
                <a:cubicBezTo>
                  <a:pt x="0" y="15507"/>
                  <a:pt x="15507" y="0"/>
                  <a:pt x="34636" y="0"/>
                </a:cubicBezTo>
                <a:close/>
              </a:path>
            </a:pathLst>
          </a:custGeom>
          <a:solidFill>
            <a:srgbClr val="62748E"/>
          </a:solidFill>
        </p:spPr>
      </p:sp>
      <p:sp>
        <p:nvSpPr>
          <p:cNvPr id="1048768" name="Shape 46"/>
          <p:cNvSpPr/>
          <p:nvPr/>
        </p:nvSpPr>
        <p:spPr>
          <a:xfrm>
            <a:off x="6399069" y="46339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62748E"/>
          </a:solidFill>
        </p:spPr>
      </p:sp>
      <p:sp>
        <p:nvSpPr>
          <p:cNvPr id="1048769" name="Text 47"/>
          <p:cNvSpPr/>
          <p:nvPr/>
        </p:nvSpPr>
        <p:spPr>
          <a:xfrm>
            <a:off x="6356206" y="4633913"/>
            <a:ext cx="46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</a:t>
            </a:r>
            <a:endParaRPr lang="en-US" sz="1600" dirty="0"/>
          </a:p>
        </p:txBody>
      </p:sp>
      <p:sp>
        <p:nvSpPr>
          <p:cNvPr id="1048770" name="Text 48"/>
          <p:cNvSpPr/>
          <p:nvPr/>
        </p:nvSpPr>
        <p:spPr>
          <a:xfrm>
            <a:off x="6894369" y="4691063"/>
            <a:ext cx="1047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总结与展望</a:t>
            </a:r>
            <a:endParaRPr lang="en-US" sz="1600" dirty="0"/>
          </a:p>
        </p:txBody>
      </p:sp>
      <p:sp>
        <p:nvSpPr>
          <p:cNvPr id="1048771" name="Text 49"/>
          <p:cNvSpPr/>
          <p:nvPr/>
        </p:nvSpPr>
        <p:spPr>
          <a:xfrm>
            <a:off x="6399069" y="5129213"/>
            <a:ext cx="5276850" cy="314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三次跃迁的本质、Human角色转变、未来方向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5" name="Text 0"/>
          <p:cNvSpPr/>
          <p:nvPr/>
        </p:nvSpPr>
        <p:spPr>
          <a:xfrm>
            <a:off x="322753" y="322753"/>
            <a:ext cx="11691733" cy="3227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zh-CN" altLang="en-US" sz="2287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</a:rPr>
              <a:t>什么是</a:t>
            </a:r>
            <a:r>
              <a:rPr lang="en-US" altLang="zh-CN" sz="2287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</a:rPr>
              <a:t>Agent</a:t>
            </a:r>
            <a:r>
              <a:rPr lang="zh-CN" altLang="en-US" sz="2287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</a:rPr>
              <a:t>？</a:t>
            </a:r>
            <a:endParaRPr lang="en-US" sz="1600" dirty="0"/>
          </a:p>
        </p:txBody>
      </p:sp>
      <p:sp>
        <p:nvSpPr>
          <p:cNvPr id="1048776" name="Shape 1"/>
          <p:cNvSpPr/>
          <p:nvPr/>
        </p:nvSpPr>
        <p:spPr>
          <a:xfrm>
            <a:off x="322753" y="742332"/>
            <a:ext cx="774608" cy="32275"/>
          </a:xfrm>
          <a:custGeom>
            <a:avLst/>
            <a:gdLst/>
            <a:ahLst/>
            <a:cxnLst/>
            <a:rect l="l" t="t" r="r" b="b"/>
            <a:pathLst>
              <a:path w="774608" h="32275">
                <a:moveTo>
                  <a:pt x="0" y="0"/>
                </a:moveTo>
                <a:lnTo>
                  <a:pt x="774608" y="0"/>
                </a:lnTo>
                <a:lnTo>
                  <a:pt x="774608" y="32275"/>
                </a:lnTo>
                <a:lnTo>
                  <a:pt x="0" y="32275"/>
                </a:lnTo>
                <a:lnTo>
                  <a:pt x="0" y="0"/>
                </a:lnTo>
                <a:close/>
              </a:path>
            </a:pathLst>
          </a:custGeom>
          <a:solidFill>
            <a:srgbClr val="00B8DB"/>
          </a:solidFill>
        </p:spPr>
      </p:sp>
      <p:sp>
        <p:nvSpPr>
          <p:cNvPr id="1048777" name="Shape 3"/>
          <p:cNvSpPr/>
          <p:nvPr/>
        </p:nvSpPr>
        <p:spPr>
          <a:xfrm>
            <a:off x="451855" y="2688223"/>
            <a:ext cx="3663077" cy="1775143"/>
          </a:xfrm>
          <a:custGeom>
            <a:avLst/>
            <a:gdLst/>
            <a:ahLst/>
            <a:cxnLst/>
            <a:rect l="l" t="t" r="r" b="b"/>
            <a:pathLst>
              <a:path w="5695126" h="2226997">
                <a:moveTo>
                  <a:pt x="29341" y="0"/>
                </a:moveTo>
                <a:lnTo>
                  <a:pt x="5598296" y="0"/>
                </a:lnTo>
                <a:cubicBezTo>
                  <a:pt x="5651774" y="0"/>
                  <a:pt x="5695126" y="43352"/>
                  <a:pt x="5695126" y="96830"/>
                </a:cubicBezTo>
                <a:lnTo>
                  <a:pt x="5695126" y="2130167"/>
                </a:lnTo>
                <a:cubicBezTo>
                  <a:pt x="5695126" y="2183645"/>
                  <a:pt x="5651774" y="2226997"/>
                  <a:pt x="5598296" y="2226997"/>
                </a:cubicBezTo>
                <a:lnTo>
                  <a:pt x="29341" y="2226997"/>
                </a:lnTo>
                <a:cubicBezTo>
                  <a:pt x="13136" y="2226997"/>
                  <a:pt x="0" y="2213860"/>
                  <a:pt x="0" y="2197656"/>
                </a:cubicBezTo>
                <a:lnTo>
                  <a:pt x="0" y="29341"/>
                </a:lnTo>
                <a:cubicBezTo>
                  <a:pt x="0" y="13136"/>
                  <a:pt x="13136" y="0"/>
                  <a:pt x="29341" y="0"/>
                </a:cubicBezTo>
                <a:close/>
              </a:path>
            </a:pathLst>
          </a:custGeom>
          <a:solidFill>
            <a:srgbClr val="ECFDF5"/>
          </a:solidFill>
        </p:spPr>
      </p:sp>
      <p:sp>
        <p:nvSpPr>
          <p:cNvPr id="1048778" name="Shape 4"/>
          <p:cNvSpPr/>
          <p:nvPr/>
        </p:nvSpPr>
        <p:spPr>
          <a:xfrm>
            <a:off x="451855" y="2688223"/>
            <a:ext cx="29341" cy="1775143"/>
          </a:xfrm>
          <a:custGeom>
            <a:avLst/>
            <a:gdLst/>
            <a:ahLst/>
            <a:cxnLst/>
            <a:rect l="l" t="t" r="r" b="b"/>
            <a:pathLst>
              <a:path w="29341" h="2226997">
                <a:moveTo>
                  <a:pt x="29341" y="0"/>
                </a:moveTo>
                <a:lnTo>
                  <a:pt x="29341" y="0"/>
                </a:lnTo>
                <a:lnTo>
                  <a:pt x="29341" y="2226997"/>
                </a:lnTo>
                <a:lnTo>
                  <a:pt x="29341" y="2226997"/>
                </a:lnTo>
                <a:cubicBezTo>
                  <a:pt x="13136" y="2226997"/>
                  <a:pt x="0" y="2213860"/>
                  <a:pt x="0" y="2197656"/>
                </a:cubicBezTo>
                <a:lnTo>
                  <a:pt x="0" y="29341"/>
                </a:lnTo>
                <a:cubicBezTo>
                  <a:pt x="0" y="13136"/>
                  <a:pt x="13136" y="0"/>
                  <a:pt x="29341" y="0"/>
                </a:cubicBezTo>
                <a:close/>
              </a:path>
            </a:pathLst>
          </a:custGeom>
          <a:solidFill>
            <a:srgbClr val="00BC7D"/>
          </a:solidFill>
        </p:spPr>
      </p:sp>
      <p:sp>
        <p:nvSpPr>
          <p:cNvPr id="1048779" name="Text 5"/>
          <p:cNvSpPr/>
          <p:nvPr/>
        </p:nvSpPr>
        <p:spPr>
          <a:xfrm>
            <a:off x="595627" y="2817324"/>
            <a:ext cx="5502941" cy="3227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highlight>
                  <a:srgbClr val="00BC7D">
                    <a:alpha val="10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</a:t>
            </a:r>
            <a:r>
              <a:rPr lang="zh-CN" altLang="en-US" sz="14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大语言模型（</a:t>
            </a:r>
            <a:r>
              <a:rPr lang="en-US" altLang="zh-CN" sz="14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LLM</a:t>
            </a:r>
            <a:r>
              <a:rPr lang="zh-CN" altLang="en-US" sz="14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</a:t>
            </a:r>
            <a:endParaRPr lang="en-US" dirty="0"/>
          </a:p>
        </p:txBody>
      </p:sp>
      <p:sp>
        <p:nvSpPr>
          <p:cNvPr id="1048780" name="Shape 6"/>
          <p:cNvSpPr/>
          <p:nvPr/>
        </p:nvSpPr>
        <p:spPr>
          <a:xfrm>
            <a:off x="595628" y="3204628"/>
            <a:ext cx="3487566" cy="548680"/>
          </a:xfrm>
          <a:custGeom>
            <a:avLst/>
            <a:gdLst/>
            <a:ahLst/>
            <a:cxnLst/>
            <a:rect l="l" t="t" r="r" b="b"/>
            <a:pathLst>
              <a:path w="5422253" h="548680">
                <a:moveTo>
                  <a:pt x="64552" y="0"/>
                </a:moveTo>
                <a:lnTo>
                  <a:pt x="5357701" y="0"/>
                </a:lnTo>
                <a:cubicBezTo>
                  <a:pt x="5393352" y="0"/>
                  <a:pt x="5422253" y="28901"/>
                  <a:pt x="5422253" y="64552"/>
                </a:cubicBezTo>
                <a:lnTo>
                  <a:pt x="5422253" y="484128"/>
                </a:lnTo>
                <a:cubicBezTo>
                  <a:pt x="5422253" y="519779"/>
                  <a:pt x="5393352" y="548680"/>
                  <a:pt x="5357701" y="548680"/>
                </a:cubicBezTo>
                <a:lnTo>
                  <a:pt x="64552" y="548680"/>
                </a:lnTo>
                <a:cubicBezTo>
                  <a:pt x="28901" y="548680"/>
                  <a:pt x="0" y="519779"/>
                  <a:pt x="0" y="484128"/>
                </a:cubicBezTo>
                <a:lnTo>
                  <a:pt x="0" y="64552"/>
                </a:lnTo>
                <a:cubicBezTo>
                  <a:pt x="0" y="28901"/>
                  <a:pt x="28901" y="0"/>
                  <a:pt x="6455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48781" name="Text 7"/>
          <p:cNvSpPr/>
          <p:nvPr/>
        </p:nvSpPr>
        <p:spPr>
          <a:xfrm>
            <a:off x="692453" y="3301454"/>
            <a:ext cx="5293152" cy="193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1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</a:t>
            </a:r>
            <a:endParaRPr lang="en-US" sz="2000" dirty="0"/>
          </a:p>
        </p:txBody>
      </p:sp>
      <p:sp>
        <p:nvSpPr>
          <p:cNvPr id="1048782" name="Text 8"/>
          <p:cNvSpPr/>
          <p:nvPr/>
        </p:nvSpPr>
        <p:spPr>
          <a:xfrm>
            <a:off x="692453" y="3495105"/>
            <a:ext cx="5285083" cy="1613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0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逻辑推理、语义理解、意图识别</a:t>
            </a:r>
            <a:endParaRPr lang="en-US" sz="2000" dirty="0"/>
          </a:p>
        </p:txBody>
      </p:sp>
      <p:sp>
        <p:nvSpPr>
          <p:cNvPr id="1048783" name="Shape 9"/>
          <p:cNvSpPr/>
          <p:nvPr/>
        </p:nvSpPr>
        <p:spPr>
          <a:xfrm>
            <a:off x="595628" y="3817859"/>
            <a:ext cx="3487566" cy="548680"/>
          </a:xfrm>
          <a:custGeom>
            <a:avLst/>
            <a:gdLst/>
            <a:ahLst/>
            <a:cxnLst/>
            <a:rect l="l" t="t" r="r" b="b"/>
            <a:pathLst>
              <a:path w="5422253" h="548680">
                <a:moveTo>
                  <a:pt x="64552" y="0"/>
                </a:moveTo>
                <a:lnTo>
                  <a:pt x="5357701" y="0"/>
                </a:lnTo>
                <a:cubicBezTo>
                  <a:pt x="5393352" y="0"/>
                  <a:pt x="5422253" y="28901"/>
                  <a:pt x="5422253" y="64552"/>
                </a:cubicBezTo>
                <a:lnTo>
                  <a:pt x="5422253" y="484128"/>
                </a:lnTo>
                <a:cubicBezTo>
                  <a:pt x="5422253" y="519779"/>
                  <a:pt x="5393352" y="548680"/>
                  <a:pt x="5357701" y="548680"/>
                </a:cubicBezTo>
                <a:lnTo>
                  <a:pt x="64552" y="548680"/>
                </a:lnTo>
                <a:cubicBezTo>
                  <a:pt x="28901" y="548680"/>
                  <a:pt x="0" y="519779"/>
                  <a:pt x="0" y="484128"/>
                </a:cubicBezTo>
                <a:lnTo>
                  <a:pt x="0" y="64552"/>
                </a:lnTo>
                <a:cubicBezTo>
                  <a:pt x="0" y="28901"/>
                  <a:pt x="28901" y="0"/>
                  <a:pt x="6455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48784" name="Text 10"/>
          <p:cNvSpPr/>
          <p:nvPr/>
        </p:nvSpPr>
        <p:spPr>
          <a:xfrm>
            <a:off x="692453" y="3914685"/>
            <a:ext cx="5293152" cy="193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1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代表技术</a:t>
            </a:r>
            <a:endParaRPr lang="en-US" sz="2000" dirty="0"/>
          </a:p>
        </p:txBody>
      </p:sp>
      <p:sp>
        <p:nvSpPr>
          <p:cNvPr id="1048785" name="Text 11"/>
          <p:cNvSpPr/>
          <p:nvPr/>
        </p:nvSpPr>
        <p:spPr>
          <a:xfrm>
            <a:off x="692453" y="4108336"/>
            <a:ext cx="5285083" cy="1613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GPT-4o, Claude 3.5 Sonnet, Llama 3, deepseekv3, qwen2.5, …</a:t>
            </a:r>
            <a:endParaRPr lang="en-US" sz="2000" dirty="0"/>
          </a:p>
        </p:txBody>
      </p:sp>
      <p:sp>
        <p:nvSpPr>
          <p:cNvPr id="1048786" name="Shape 16"/>
          <p:cNvSpPr/>
          <p:nvPr/>
        </p:nvSpPr>
        <p:spPr>
          <a:xfrm>
            <a:off x="461757" y="4617976"/>
            <a:ext cx="3639264" cy="1775143"/>
          </a:xfrm>
          <a:custGeom>
            <a:avLst/>
            <a:gdLst/>
            <a:ahLst/>
            <a:cxnLst/>
            <a:rect l="l" t="t" r="r" b="b"/>
            <a:pathLst>
              <a:path w="5695126" h="2420649">
                <a:moveTo>
                  <a:pt x="29341" y="0"/>
                </a:moveTo>
                <a:lnTo>
                  <a:pt x="5598300" y="0"/>
                </a:lnTo>
                <a:cubicBezTo>
                  <a:pt x="5651775" y="0"/>
                  <a:pt x="5695126" y="43350"/>
                  <a:pt x="5695126" y="96826"/>
                </a:cubicBezTo>
                <a:lnTo>
                  <a:pt x="5695126" y="2323823"/>
                </a:lnTo>
                <a:cubicBezTo>
                  <a:pt x="5695126" y="2377298"/>
                  <a:pt x="5651775" y="2420649"/>
                  <a:pt x="5598300" y="2420649"/>
                </a:cubicBezTo>
                <a:lnTo>
                  <a:pt x="29341" y="2420649"/>
                </a:lnTo>
                <a:cubicBezTo>
                  <a:pt x="13136" y="2420649"/>
                  <a:pt x="0" y="2407512"/>
                  <a:pt x="0" y="2391307"/>
                </a:cubicBezTo>
                <a:lnTo>
                  <a:pt x="0" y="29341"/>
                </a:lnTo>
                <a:cubicBezTo>
                  <a:pt x="0" y="13147"/>
                  <a:pt x="13147" y="0"/>
                  <a:pt x="29341" y="0"/>
                </a:cubicBezTo>
                <a:close/>
              </a:path>
            </a:pathLst>
          </a:custGeom>
          <a:solidFill>
            <a:srgbClr val="EFF6FF"/>
          </a:solidFill>
        </p:spPr>
      </p:sp>
      <p:sp>
        <p:nvSpPr>
          <p:cNvPr id="1048787" name="Shape 17"/>
          <p:cNvSpPr/>
          <p:nvPr/>
        </p:nvSpPr>
        <p:spPr>
          <a:xfrm>
            <a:off x="461757" y="4617976"/>
            <a:ext cx="29341" cy="1775143"/>
          </a:xfrm>
          <a:custGeom>
            <a:avLst/>
            <a:gdLst/>
            <a:ahLst/>
            <a:cxnLst/>
            <a:rect l="l" t="t" r="r" b="b"/>
            <a:pathLst>
              <a:path w="29341" h="2420649">
                <a:moveTo>
                  <a:pt x="29341" y="0"/>
                </a:moveTo>
                <a:lnTo>
                  <a:pt x="29341" y="0"/>
                </a:lnTo>
                <a:lnTo>
                  <a:pt x="29341" y="2420649"/>
                </a:lnTo>
                <a:lnTo>
                  <a:pt x="29341" y="2420649"/>
                </a:lnTo>
                <a:cubicBezTo>
                  <a:pt x="13136" y="2420649"/>
                  <a:pt x="0" y="2407512"/>
                  <a:pt x="0" y="2391307"/>
                </a:cubicBezTo>
                <a:lnTo>
                  <a:pt x="0" y="29341"/>
                </a:lnTo>
                <a:cubicBezTo>
                  <a:pt x="0" y="13136"/>
                  <a:pt x="13136" y="0"/>
                  <a:pt x="29341" y="0"/>
                </a:cubicBezTo>
                <a:close/>
              </a:path>
            </a:pathLst>
          </a:custGeom>
          <a:solidFill>
            <a:srgbClr val="2B7FFF"/>
          </a:solidFill>
        </p:spPr>
      </p:sp>
      <p:sp>
        <p:nvSpPr>
          <p:cNvPr id="1048788" name="Text 18"/>
          <p:cNvSpPr/>
          <p:nvPr/>
        </p:nvSpPr>
        <p:spPr>
          <a:xfrm>
            <a:off x="605529" y="4747078"/>
            <a:ext cx="3516455" cy="3227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highlight>
                  <a:srgbClr val="2B7FFF">
                    <a:alpha val="10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</a:t>
            </a:r>
            <a:r>
              <a:rPr lang="zh-CN" altLang="en-US" sz="14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规划（</a:t>
            </a:r>
            <a:r>
              <a:rPr lang="en-US" sz="14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Planning）</a:t>
            </a:r>
            <a:endParaRPr lang="en-US" dirty="0"/>
          </a:p>
        </p:txBody>
      </p:sp>
      <p:sp>
        <p:nvSpPr>
          <p:cNvPr id="1048789" name="Shape 19"/>
          <p:cNvSpPr/>
          <p:nvPr/>
        </p:nvSpPr>
        <p:spPr>
          <a:xfrm>
            <a:off x="605530" y="5134381"/>
            <a:ext cx="3464894" cy="548680"/>
          </a:xfrm>
          <a:custGeom>
            <a:avLst/>
            <a:gdLst/>
            <a:ahLst/>
            <a:cxnLst/>
            <a:rect l="l" t="t" r="r" b="b"/>
            <a:pathLst>
              <a:path w="5422253" h="548680">
                <a:moveTo>
                  <a:pt x="64552" y="0"/>
                </a:moveTo>
                <a:lnTo>
                  <a:pt x="5357701" y="0"/>
                </a:lnTo>
                <a:cubicBezTo>
                  <a:pt x="5393352" y="0"/>
                  <a:pt x="5422253" y="28901"/>
                  <a:pt x="5422253" y="64552"/>
                </a:cubicBezTo>
                <a:lnTo>
                  <a:pt x="5422253" y="484128"/>
                </a:lnTo>
                <a:cubicBezTo>
                  <a:pt x="5422253" y="519779"/>
                  <a:pt x="5393352" y="548680"/>
                  <a:pt x="5357701" y="548680"/>
                </a:cubicBezTo>
                <a:lnTo>
                  <a:pt x="64552" y="548680"/>
                </a:lnTo>
                <a:cubicBezTo>
                  <a:pt x="28901" y="548680"/>
                  <a:pt x="0" y="519779"/>
                  <a:pt x="0" y="484128"/>
                </a:cubicBezTo>
                <a:lnTo>
                  <a:pt x="0" y="64552"/>
                </a:lnTo>
                <a:cubicBezTo>
                  <a:pt x="0" y="28901"/>
                  <a:pt x="28901" y="0"/>
                  <a:pt x="6455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48790" name="Text 20"/>
          <p:cNvSpPr/>
          <p:nvPr/>
        </p:nvSpPr>
        <p:spPr>
          <a:xfrm>
            <a:off x="702355" y="5231207"/>
            <a:ext cx="5293152" cy="193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05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</a:t>
            </a:r>
            <a:endParaRPr lang="en-US" dirty="0"/>
          </a:p>
        </p:txBody>
      </p:sp>
      <p:sp>
        <p:nvSpPr>
          <p:cNvPr id="1048791" name="Text 21"/>
          <p:cNvSpPr/>
          <p:nvPr/>
        </p:nvSpPr>
        <p:spPr>
          <a:xfrm>
            <a:off x="702355" y="5424859"/>
            <a:ext cx="3377241" cy="1613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任务分解、自我反思、思维链生成</a:t>
            </a:r>
            <a:endParaRPr lang="en-US" dirty="0"/>
          </a:p>
        </p:txBody>
      </p:sp>
      <p:sp>
        <p:nvSpPr>
          <p:cNvPr id="1048792" name="Shape 22"/>
          <p:cNvSpPr/>
          <p:nvPr/>
        </p:nvSpPr>
        <p:spPr>
          <a:xfrm>
            <a:off x="605530" y="5747612"/>
            <a:ext cx="3464894" cy="548680"/>
          </a:xfrm>
          <a:custGeom>
            <a:avLst/>
            <a:gdLst/>
            <a:ahLst/>
            <a:cxnLst/>
            <a:rect l="l" t="t" r="r" b="b"/>
            <a:pathLst>
              <a:path w="5422253" h="548680">
                <a:moveTo>
                  <a:pt x="64552" y="0"/>
                </a:moveTo>
                <a:lnTo>
                  <a:pt x="5357701" y="0"/>
                </a:lnTo>
                <a:cubicBezTo>
                  <a:pt x="5393352" y="0"/>
                  <a:pt x="5422253" y="28901"/>
                  <a:pt x="5422253" y="64552"/>
                </a:cubicBezTo>
                <a:lnTo>
                  <a:pt x="5422253" y="484128"/>
                </a:lnTo>
                <a:cubicBezTo>
                  <a:pt x="5422253" y="519779"/>
                  <a:pt x="5393352" y="548680"/>
                  <a:pt x="5357701" y="548680"/>
                </a:cubicBezTo>
                <a:lnTo>
                  <a:pt x="64552" y="548680"/>
                </a:lnTo>
                <a:cubicBezTo>
                  <a:pt x="28901" y="548680"/>
                  <a:pt x="0" y="519779"/>
                  <a:pt x="0" y="484128"/>
                </a:cubicBezTo>
                <a:lnTo>
                  <a:pt x="0" y="64552"/>
                </a:lnTo>
                <a:cubicBezTo>
                  <a:pt x="0" y="28901"/>
                  <a:pt x="28901" y="0"/>
                  <a:pt x="6455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48793" name="Text 23"/>
          <p:cNvSpPr/>
          <p:nvPr/>
        </p:nvSpPr>
        <p:spPr>
          <a:xfrm>
            <a:off x="702355" y="5844438"/>
            <a:ext cx="5293152" cy="193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05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代表技术</a:t>
            </a:r>
            <a:endParaRPr lang="en-US" dirty="0"/>
          </a:p>
        </p:txBody>
      </p:sp>
      <p:sp>
        <p:nvSpPr>
          <p:cNvPr id="1048794" name="Text 24"/>
          <p:cNvSpPr/>
          <p:nvPr/>
        </p:nvSpPr>
        <p:spPr>
          <a:xfrm>
            <a:off x="702355" y="6038090"/>
            <a:ext cx="3377241" cy="1613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 err="1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CoT</a:t>
            </a:r>
            <a:r>
              <a:rPr lang="en-US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</a:t>
            </a:r>
            <a:r>
              <a:rPr lang="en-US" sz="900" dirty="0" err="1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</a:t>
            </a:r>
            <a:r>
              <a:rPr lang="en-US" altLang="zh-CN" sz="900" dirty="0" err="1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</a:t>
            </a:r>
            <a:r>
              <a:rPr lang="en-US" altLang="zh-CN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</a:t>
            </a:r>
            <a:r>
              <a:rPr lang="en-US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900" dirty="0" err="1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ReAct</a:t>
            </a:r>
            <a:r>
              <a:rPr lang="en-US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</a:t>
            </a:r>
            <a:r>
              <a:rPr lang="en-US" altLang="zh-CN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self-critic, …</a:t>
            </a:r>
            <a:endParaRPr lang="en-US" dirty="0"/>
          </a:p>
        </p:txBody>
      </p:sp>
      <p:sp>
        <p:nvSpPr>
          <p:cNvPr id="1048795" name="Shape 28"/>
          <p:cNvSpPr/>
          <p:nvPr/>
        </p:nvSpPr>
        <p:spPr>
          <a:xfrm>
            <a:off x="5222455" y="2652149"/>
            <a:ext cx="5695126" cy="1811217"/>
          </a:xfrm>
          <a:custGeom>
            <a:avLst/>
            <a:gdLst/>
            <a:ahLst/>
            <a:cxnLst/>
            <a:rect l="l" t="t" r="r" b="b"/>
            <a:pathLst>
              <a:path w="5695126" h="2097895">
                <a:moveTo>
                  <a:pt x="29341" y="0"/>
                </a:moveTo>
                <a:lnTo>
                  <a:pt x="5598308" y="0"/>
                </a:lnTo>
                <a:cubicBezTo>
                  <a:pt x="5651779" y="0"/>
                  <a:pt x="5695126" y="43347"/>
                  <a:pt x="5695126" y="96818"/>
                </a:cubicBezTo>
                <a:lnTo>
                  <a:pt x="5695126" y="2001078"/>
                </a:lnTo>
                <a:cubicBezTo>
                  <a:pt x="5695126" y="2054549"/>
                  <a:pt x="5651779" y="2097895"/>
                  <a:pt x="5598308" y="2097895"/>
                </a:cubicBezTo>
                <a:lnTo>
                  <a:pt x="29341" y="2097895"/>
                </a:lnTo>
                <a:cubicBezTo>
                  <a:pt x="13136" y="2097895"/>
                  <a:pt x="0" y="2084759"/>
                  <a:pt x="0" y="2068554"/>
                </a:cubicBezTo>
                <a:lnTo>
                  <a:pt x="0" y="29341"/>
                </a:lnTo>
                <a:cubicBezTo>
                  <a:pt x="0" y="13147"/>
                  <a:pt x="13147" y="0"/>
                  <a:pt x="29341" y="0"/>
                </a:cubicBezTo>
                <a:close/>
              </a:path>
            </a:pathLst>
          </a:custGeom>
          <a:solidFill>
            <a:srgbClr val="FFFBEB"/>
          </a:solidFill>
        </p:spPr>
      </p:sp>
      <p:sp>
        <p:nvSpPr>
          <p:cNvPr id="1048796" name="Shape 29"/>
          <p:cNvSpPr/>
          <p:nvPr/>
        </p:nvSpPr>
        <p:spPr>
          <a:xfrm>
            <a:off x="5234107" y="2642833"/>
            <a:ext cx="29341" cy="1811217"/>
          </a:xfrm>
          <a:custGeom>
            <a:avLst/>
            <a:gdLst/>
            <a:ahLst/>
            <a:cxnLst/>
            <a:rect l="l" t="t" r="r" b="b"/>
            <a:pathLst>
              <a:path w="29341" h="2097895">
                <a:moveTo>
                  <a:pt x="29341" y="0"/>
                </a:moveTo>
                <a:lnTo>
                  <a:pt x="29341" y="0"/>
                </a:lnTo>
                <a:lnTo>
                  <a:pt x="29341" y="2097895"/>
                </a:lnTo>
                <a:lnTo>
                  <a:pt x="29341" y="2097895"/>
                </a:lnTo>
                <a:cubicBezTo>
                  <a:pt x="13136" y="2097895"/>
                  <a:pt x="0" y="2084759"/>
                  <a:pt x="0" y="2068554"/>
                </a:cubicBezTo>
                <a:lnTo>
                  <a:pt x="0" y="29341"/>
                </a:lnTo>
                <a:cubicBezTo>
                  <a:pt x="0" y="13136"/>
                  <a:pt x="13136" y="0"/>
                  <a:pt x="29341" y="0"/>
                </a:cubicBezTo>
                <a:close/>
              </a:path>
            </a:pathLst>
          </a:custGeom>
          <a:solidFill>
            <a:srgbClr val="FE9A00"/>
          </a:solidFill>
        </p:spPr>
      </p:sp>
      <p:sp>
        <p:nvSpPr>
          <p:cNvPr id="1048797" name="Text 30"/>
          <p:cNvSpPr/>
          <p:nvPr/>
        </p:nvSpPr>
        <p:spPr>
          <a:xfrm>
            <a:off x="5366227" y="2781250"/>
            <a:ext cx="5502941" cy="2786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highlight>
                  <a:srgbClr val="FE9A00">
                    <a:alpha val="10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</a:t>
            </a:r>
            <a:r>
              <a:rPr lang="zh-CN" altLang="en-US" sz="14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记忆（</a:t>
            </a:r>
            <a:r>
              <a:rPr lang="en-US" sz="14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Memory）</a:t>
            </a:r>
            <a:endParaRPr lang="en-US" dirty="0"/>
          </a:p>
        </p:txBody>
      </p:sp>
      <p:sp>
        <p:nvSpPr>
          <p:cNvPr id="1048798" name="Shape 31"/>
          <p:cNvSpPr/>
          <p:nvPr/>
        </p:nvSpPr>
        <p:spPr>
          <a:xfrm>
            <a:off x="5366227" y="3168554"/>
            <a:ext cx="5422253" cy="473703"/>
          </a:xfrm>
          <a:custGeom>
            <a:avLst/>
            <a:gdLst/>
            <a:ahLst/>
            <a:cxnLst/>
            <a:rect l="l" t="t" r="r" b="b"/>
            <a:pathLst>
              <a:path w="5422253" h="548680">
                <a:moveTo>
                  <a:pt x="64552" y="0"/>
                </a:moveTo>
                <a:lnTo>
                  <a:pt x="5357701" y="0"/>
                </a:lnTo>
                <a:cubicBezTo>
                  <a:pt x="5393352" y="0"/>
                  <a:pt x="5422253" y="28901"/>
                  <a:pt x="5422253" y="64552"/>
                </a:cubicBezTo>
                <a:lnTo>
                  <a:pt x="5422253" y="484128"/>
                </a:lnTo>
                <a:cubicBezTo>
                  <a:pt x="5422253" y="519779"/>
                  <a:pt x="5393352" y="548680"/>
                  <a:pt x="5357701" y="548680"/>
                </a:cubicBezTo>
                <a:lnTo>
                  <a:pt x="64552" y="548680"/>
                </a:lnTo>
                <a:cubicBezTo>
                  <a:pt x="28901" y="548680"/>
                  <a:pt x="0" y="519779"/>
                  <a:pt x="0" y="484128"/>
                </a:cubicBezTo>
                <a:lnTo>
                  <a:pt x="0" y="64552"/>
                </a:lnTo>
                <a:cubicBezTo>
                  <a:pt x="0" y="28901"/>
                  <a:pt x="28901" y="0"/>
                  <a:pt x="6455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48799" name="Text 32"/>
          <p:cNvSpPr/>
          <p:nvPr/>
        </p:nvSpPr>
        <p:spPr>
          <a:xfrm>
            <a:off x="5463053" y="3265380"/>
            <a:ext cx="5293152" cy="1671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1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</a:t>
            </a:r>
            <a:endParaRPr lang="en-US" sz="2000" dirty="0"/>
          </a:p>
        </p:txBody>
      </p:sp>
      <p:sp>
        <p:nvSpPr>
          <p:cNvPr id="1048800" name="Text 33"/>
          <p:cNvSpPr/>
          <p:nvPr/>
        </p:nvSpPr>
        <p:spPr>
          <a:xfrm>
            <a:off x="5463053" y="3459031"/>
            <a:ext cx="5285083" cy="139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0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短期对话缓存（</a:t>
            </a:r>
            <a:r>
              <a:rPr lang="en-US" altLang="zh-CN" sz="10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short-term memory STM</a:t>
            </a:r>
            <a:r>
              <a:rPr lang="zh-CN" altLang="en-US" sz="10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）、长期经验留存（</a:t>
            </a:r>
            <a:r>
              <a:rPr lang="en-US" altLang="zh-CN" sz="10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long-term memory LTM</a:t>
            </a:r>
            <a:r>
              <a:rPr lang="zh-CN" altLang="en-US" sz="10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</a:t>
            </a:r>
            <a:endParaRPr lang="en-US" sz="2000" dirty="0"/>
          </a:p>
        </p:txBody>
      </p:sp>
      <p:sp>
        <p:nvSpPr>
          <p:cNvPr id="1048801" name="Shape 34"/>
          <p:cNvSpPr/>
          <p:nvPr/>
        </p:nvSpPr>
        <p:spPr>
          <a:xfrm>
            <a:off x="5366227" y="3781785"/>
            <a:ext cx="5422253" cy="724487"/>
          </a:xfrm>
          <a:custGeom>
            <a:avLst/>
            <a:gdLst/>
            <a:ahLst/>
            <a:cxnLst/>
            <a:rect l="l" t="t" r="r" b="b"/>
            <a:pathLst>
              <a:path w="5422253" h="839158">
                <a:moveTo>
                  <a:pt x="64548" y="0"/>
                </a:moveTo>
                <a:lnTo>
                  <a:pt x="5357705" y="0"/>
                </a:lnTo>
                <a:cubicBezTo>
                  <a:pt x="5393354" y="0"/>
                  <a:pt x="5422253" y="28899"/>
                  <a:pt x="5422253" y="64548"/>
                </a:cubicBezTo>
                <a:lnTo>
                  <a:pt x="5422253" y="774610"/>
                </a:lnTo>
                <a:cubicBezTo>
                  <a:pt x="5422253" y="810259"/>
                  <a:pt x="5393354" y="839158"/>
                  <a:pt x="5357705" y="839158"/>
                </a:cubicBezTo>
                <a:lnTo>
                  <a:pt x="64548" y="839158"/>
                </a:lnTo>
                <a:cubicBezTo>
                  <a:pt x="28923" y="839158"/>
                  <a:pt x="0" y="810235"/>
                  <a:pt x="0" y="774610"/>
                </a:cubicBezTo>
                <a:lnTo>
                  <a:pt x="0" y="64548"/>
                </a:lnTo>
                <a:cubicBezTo>
                  <a:pt x="0" y="28923"/>
                  <a:pt x="28923" y="0"/>
                  <a:pt x="64548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48802" name="Text 35"/>
          <p:cNvSpPr/>
          <p:nvPr/>
        </p:nvSpPr>
        <p:spPr>
          <a:xfrm>
            <a:off x="5463053" y="3878611"/>
            <a:ext cx="5293152" cy="1671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1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代表技术</a:t>
            </a:r>
            <a:endParaRPr lang="en-US" sz="2000" dirty="0"/>
          </a:p>
        </p:txBody>
      </p:sp>
      <p:sp>
        <p:nvSpPr>
          <p:cNvPr id="1048803" name="Shape 36"/>
          <p:cNvSpPr/>
          <p:nvPr/>
        </p:nvSpPr>
        <p:spPr>
          <a:xfrm>
            <a:off x="5463053" y="4104538"/>
            <a:ext cx="2582025" cy="362243"/>
          </a:xfrm>
          <a:custGeom>
            <a:avLst/>
            <a:gdLst/>
            <a:ahLst/>
            <a:cxnLst/>
            <a:rect l="l" t="t" r="r" b="b"/>
            <a:pathLst>
              <a:path w="2582025" h="419579">
                <a:moveTo>
                  <a:pt x="32274" y="0"/>
                </a:moveTo>
                <a:lnTo>
                  <a:pt x="2549751" y="0"/>
                </a:lnTo>
                <a:cubicBezTo>
                  <a:pt x="2567576" y="0"/>
                  <a:pt x="2582025" y="14450"/>
                  <a:pt x="2582025" y="32274"/>
                </a:cubicBezTo>
                <a:lnTo>
                  <a:pt x="2582025" y="387305"/>
                </a:lnTo>
                <a:cubicBezTo>
                  <a:pt x="2582025" y="405130"/>
                  <a:pt x="2567576" y="419579"/>
                  <a:pt x="2549751" y="419579"/>
                </a:cubicBezTo>
                <a:lnTo>
                  <a:pt x="32274" y="419579"/>
                </a:lnTo>
                <a:cubicBezTo>
                  <a:pt x="14462" y="419579"/>
                  <a:pt x="0" y="405118"/>
                  <a:pt x="0" y="387305"/>
                </a:cubicBezTo>
                <a:lnTo>
                  <a:pt x="0" y="32274"/>
                </a:lnTo>
                <a:cubicBezTo>
                  <a:pt x="0" y="14462"/>
                  <a:pt x="14462" y="0"/>
                  <a:pt x="32274" y="0"/>
                </a:cubicBezTo>
                <a:close/>
              </a:path>
            </a:pathLst>
          </a:custGeom>
          <a:solidFill>
            <a:srgbClr val="FEF3C6"/>
          </a:solidFill>
        </p:spPr>
      </p:sp>
      <p:sp>
        <p:nvSpPr>
          <p:cNvPr id="1048804" name="Text 37"/>
          <p:cNvSpPr/>
          <p:nvPr/>
        </p:nvSpPr>
        <p:spPr>
          <a:xfrm>
            <a:off x="5499363" y="4169088"/>
            <a:ext cx="2509406" cy="139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000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存储介质</a:t>
            </a:r>
            <a:endParaRPr lang="en-US" sz="2000" dirty="0"/>
          </a:p>
        </p:txBody>
      </p:sp>
      <p:sp>
        <p:nvSpPr>
          <p:cNvPr id="1048805" name="Text 38"/>
          <p:cNvSpPr/>
          <p:nvPr/>
        </p:nvSpPr>
        <p:spPr>
          <a:xfrm>
            <a:off x="5503397" y="4330465"/>
            <a:ext cx="2501337" cy="1114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zh-CN" altLang="en-US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向量数据库（</a:t>
            </a:r>
            <a:r>
              <a:rPr lang="en-US" altLang="zh-CN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Milvus</a:t>
            </a:r>
            <a:r>
              <a:rPr lang="zh-CN" altLang="en-US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</a:t>
            </a:r>
            <a:r>
              <a:rPr lang="en-US" altLang="zh-CN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Chroma</a:t>
            </a:r>
            <a:r>
              <a:rPr lang="zh-CN" altLang="en-US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</a:t>
            </a:r>
            <a:r>
              <a:rPr lang="en-US" altLang="zh-CN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FAISS, …</a:t>
            </a:r>
            <a:r>
              <a:rPr lang="zh-CN" altLang="en-US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</a:t>
            </a:r>
            <a:endParaRPr lang="en-US" sz="2000" dirty="0"/>
          </a:p>
        </p:txBody>
      </p:sp>
      <p:sp>
        <p:nvSpPr>
          <p:cNvPr id="1048806" name="Shape 39"/>
          <p:cNvSpPr/>
          <p:nvPr/>
        </p:nvSpPr>
        <p:spPr>
          <a:xfrm>
            <a:off x="8109262" y="4104538"/>
            <a:ext cx="2582025" cy="362243"/>
          </a:xfrm>
          <a:custGeom>
            <a:avLst/>
            <a:gdLst/>
            <a:ahLst/>
            <a:cxnLst/>
            <a:rect l="l" t="t" r="r" b="b"/>
            <a:pathLst>
              <a:path w="2582025" h="419579">
                <a:moveTo>
                  <a:pt x="32274" y="0"/>
                </a:moveTo>
                <a:lnTo>
                  <a:pt x="2549751" y="0"/>
                </a:lnTo>
                <a:cubicBezTo>
                  <a:pt x="2567576" y="0"/>
                  <a:pt x="2582025" y="14450"/>
                  <a:pt x="2582025" y="32274"/>
                </a:cubicBezTo>
                <a:lnTo>
                  <a:pt x="2582025" y="387305"/>
                </a:lnTo>
                <a:cubicBezTo>
                  <a:pt x="2582025" y="405130"/>
                  <a:pt x="2567576" y="419579"/>
                  <a:pt x="2549751" y="419579"/>
                </a:cubicBezTo>
                <a:lnTo>
                  <a:pt x="32274" y="419579"/>
                </a:lnTo>
                <a:cubicBezTo>
                  <a:pt x="14462" y="419579"/>
                  <a:pt x="0" y="405118"/>
                  <a:pt x="0" y="387305"/>
                </a:cubicBezTo>
                <a:lnTo>
                  <a:pt x="0" y="32274"/>
                </a:lnTo>
                <a:cubicBezTo>
                  <a:pt x="0" y="14462"/>
                  <a:pt x="14462" y="0"/>
                  <a:pt x="32274" y="0"/>
                </a:cubicBezTo>
                <a:close/>
              </a:path>
            </a:pathLst>
          </a:custGeom>
          <a:solidFill>
            <a:srgbClr val="FEF3C6"/>
          </a:solidFill>
        </p:spPr>
      </p:sp>
      <p:sp>
        <p:nvSpPr>
          <p:cNvPr id="1048807" name="Text 40"/>
          <p:cNvSpPr/>
          <p:nvPr/>
        </p:nvSpPr>
        <p:spPr>
          <a:xfrm>
            <a:off x="8145571" y="4169088"/>
            <a:ext cx="2509406" cy="139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000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获取手段</a:t>
            </a:r>
            <a:endParaRPr lang="en-US" sz="2000" dirty="0"/>
          </a:p>
        </p:txBody>
      </p:sp>
      <p:sp>
        <p:nvSpPr>
          <p:cNvPr id="1048808" name="Text 41"/>
          <p:cNvSpPr/>
          <p:nvPr/>
        </p:nvSpPr>
        <p:spPr>
          <a:xfrm>
            <a:off x="8149606" y="4330465"/>
            <a:ext cx="2501337" cy="1114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zh-CN" altLang="en-US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检索增强生成（</a:t>
            </a:r>
            <a:r>
              <a:rPr lang="en-US" altLang="zh-CN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</a:t>
            </a:r>
            <a:r>
              <a:rPr lang="zh-CN" altLang="en-US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），</a:t>
            </a:r>
            <a:r>
              <a:rPr lang="en-US" altLang="zh-CN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context condense</a:t>
            </a:r>
            <a:r>
              <a:rPr lang="zh-CN" altLang="en-US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</a:t>
            </a:r>
            <a:r>
              <a:rPr lang="en-US" altLang="zh-CN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…</a:t>
            </a:r>
            <a:endParaRPr lang="en-US" sz="2000" dirty="0"/>
          </a:p>
        </p:txBody>
      </p:sp>
      <p:sp>
        <p:nvSpPr>
          <p:cNvPr id="1048809" name="Shape 42"/>
          <p:cNvSpPr/>
          <p:nvPr/>
        </p:nvSpPr>
        <p:spPr>
          <a:xfrm>
            <a:off x="5222455" y="4618588"/>
            <a:ext cx="5695126" cy="1774532"/>
          </a:xfrm>
          <a:custGeom>
            <a:avLst/>
            <a:gdLst/>
            <a:ahLst/>
            <a:cxnLst/>
            <a:rect l="l" t="t" r="r" b="b"/>
            <a:pathLst>
              <a:path w="5695126" h="2194721">
                <a:moveTo>
                  <a:pt x="29341" y="0"/>
                </a:moveTo>
                <a:lnTo>
                  <a:pt x="5598295" y="0"/>
                </a:lnTo>
                <a:cubicBezTo>
                  <a:pt x="5651773" y="0"/>
                  <a:pt x="5695126" y="43353"/>
                  <a:pt x="5695126" y="96831"/>
                </a:cubicBezTo>
                <a:lnTo>
                  <a:pt x="5695126" y="2097890"/>
                </a:lnTo>
                <a:cubicBezTo>
                  <a:pt x="5695126" y="2151369"/>
                  <a:pt x="5651773" y="2194721"/>
                  <a:pt x="5598295" y="2194721"/>
                </a:cubicBezTo>
                <a:lnTo>
                  <a:pt x="29341" y="2194721"/>
                </a:lnTo>
                <a:cubicBezTo>
                  <a:pt x="13136" y="2194721"/>
                  <a:pt x="0" y="2181585"/>
                  <a:pt x="0" y="2165380"/>
                </a:cubicBezTo>
                <a:lnTo>
                  <a:pt x="0" y="29341"/>
                </a:lnTo>
                <a:cubicBezTo>
                  <a:pt x="0" y="13147"/>
                  <a:pt x="13147" y="0"/>
                  <a:pt x="29341" y="0"/>
                </a:cubicBezTo>
                <a:close/>
              </a:path>
            </a:pathLst>
          </a:custGeom>
          <a:solidFill>
            <a:srgbClr val="F5F3FF"/>
          </a:solidFill>
        </p:spPr>
      </p:sp>
      <p:sp>
        <p:nvSpPr>
          <p:cNvPr id="1048810" name="Shape 43"/>
          <p:cNvSpPr/>
          <p:nvPr/>
        </p:nvSpPr>
        <p:spPr>
          <a:xfrm>
            <a:off x="5222455" y="4618588"/>
            <a:ext cx="29341" cy="1774532"/>
          </a:xfrm>
          <a:custGeom>
            <a:avLst/>
            <a:gdLst/>
            <a:ahLst/>
            <a:cxnLst/>
            <a:rect l="l" t="t" r="r" b="b"/>
            <a:pathLst>
              <a:path w="29341" h="2194721">
                <a:moveTo>
                  <a:pt x="29341" y="0"/>
                </a:moveTo>
                <a:lnTo>
                  <a:pt x="29341" y="0"/>
                </a:lnTo>
                <a:lnTo>
                  <a:pt x="29341" y="2194721"/>
                </a:lnTo>
                <a:lnTo>
                  <a:pt x="29341" y="2194721"/>
                </a:lnTo>
                <a:cubicBezTo>
                  <a:pt x="13136" y="2194721"/>
                  <a:pt x="0" y="2181585"/>
                  <a:pt x="0" y="2165380"/>
                </a:cubicBezTo>
                <a:lnTo>
                  <a:pt x="0" y="29341"/>
                </a:lnTo>
                <a:cubicBezTo>
                  <a:pt x="0" y="13136"/>
                  <a:pt x="13136" y="0"/>
                  <a:pt x="29341" y="0"/>
                </a:cubicBezTo>
                <a:close/>
              </a:path>
            </a:pathLst>
          </a:custGeom>
          <a:solidFill>
            <a:srgbClr val="8E51FF"/>
          </a:solidFill>
        </p:spPr>
      </p:sp>
      <p:sp>
        <p:nvSpPr>
          <p:cNvPr id="1048811" name="Text 44"/>
          <p:cNvSpPr/>
          <p:nvPr/>
        </p:nvSpPr>
        <p:spPr>
          <a:xfrm>
            <a:off x="5366227" y="4747688"/>
            <a:ext cx="5502941" cy="3227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highlight>
                  <a:srgbClr val="8E51FF">
                    <a:alpha val="10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</a:t>
            </a:r>
            <a:r>
              <a:rPr lang="zh-CN" altLang="en-US" sz="14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工具使用（</a:t>
            </a:r>
            <a:r>
              <a:rPr lang="en-US" sz="14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Tool Use）</a:t>
            </a:r>
            <a:endParaRPr lang="en-US" dirty="0"/>
          </a:p>
        </p:txBody>
      </p:sp>
      <p:sp>
        <p:nvSpPr>
          <p:cNvPr id="1048812" name="Shape 45"/>
          <p:cNvSpPr/>
          <p:nvPr/>
        </p:nvSpPr>
        <p:spPr>
          <a:xfrm>
            <a:off x="5366227" y="5134992"/>
            <a:ext cx="5422253" cy="548680"/>
          </a:xfrm>
          <a:custGeom>
            <a:avLst/>
            <a:gdLst/>
            <a:ahLst/>
            <a:cxnLst/>
            <a:rect l="l" t="t" r="r" b="b"/>
            <a:pathLst>
              <a:path w="5422253" h="548680">
                <a:moveTo>
                  <a:pt x="64552" y="0"/>
                </a:moveTo>
                <a:lnTo>
                  <a:pt x="5357701" y="0"/>
                </a:lnTo>
                <a:cubicBezTo>
                  <a:pt x="5393352" y="0"/>
                  <a:pt x="5422253" y="28901"/>
                  <a:pt x="5422253" y="64552"/>
                </a:cubicBezTo>
                <a:lnTo>
                  <a:pt x="5422253" y="484128"/>
                </a:lnTo>
                <a:cubicBezTo>
                  <a:pt x="5422253" y="519779"/>
                  <a:pt x="5393352" y="548680"/>
                  <a:pt x="5357701" y="548680"/>
                </a:cubicBezTo>
                <a:lnTo>
                  <a:pt x="64552" y="548680"/>
                </a:lnTo>
                <a:cubicBezTo>
                  <a:pt x="28901" y="548680"/>
                  <a:pt x="0" y="519779"/>
                  <a:pt x="0" y="484128"/>
                </a:cubicBezTo>
                <a:lnTo>
                  <a:pt x="0" y="64552"/>
                </a:lnTo>
                <a:cubicBezTo>
                  <a:pt x="0" y="28901"/>
                  <a:pt x="28901" y="0"/>
                  <a:pt x="6455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48813" name="Text 46"/>
          <p:cNvSpPr/>
          <p:nvPr/>
        </p:nvSpPr>
        <p:spPr>
          <a:xfrm>
            <a:off x="5463053" y="5231818"/>
            <a:ext cx="5293152" cy="193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05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</a:rPr>
              <a:t>核心</a:t>
            </a:r>
            <a:endParaRPr lang="en-US" dirty="0"/>
          </a:p>
        </p:txBody>
      </p:sp>
      <p:sp>
        <p:nvSpPr>
          <p:cNvPr id="1048814" name="Text 47"/>
          <p:cNvSpPr/>
          <p:nvPr/>
        </p:nvSpPr>
        <p:spPr>
          <a:xfrm>
            <a:off x="5463053" y="5425470"/>
            <a:ext cx="5285083" cy="1613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环境交互、</a:t>
            </a:r>
            <a:r>
              <a:rPr lang="en-US" altLang="zh-CN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API </a:t>
            </a:r>
            <a:r>
              <a:rPr lang="zh-CN" altLang="en-US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调用、物理操作</a:t>
            </a:r>
            <a:endParaRPr lang="en-US" dirty="0"/>
          </a:p>
        </p:txBody>
      </p:sp>
      <p:sp>
        <p:nvSpPr>
          <p:cNvPr id="1048815" name="Shape 48"/>
          <p:cNvSpPr/>
          <p:nvPr/>
        </p:nvSpPr>
        <p:spPr>
          <a:xfrm>
            <a:off x="5366227" y="5748223"/>
            <a:ext cx="5422253" cy="548069"/>
          </a:xfrm>
          <a:custGeom>
            <a:avLst/>
            <a:gdLst/>
            <a:ahLst/>
            <a:cxnLst/>
            <a:rect l="l" t="t" r="r" b="b"/>
            <a:pathLst>
              <a:path w="5422253" h="935984">
                <a:moveTo>
                  <a:pt x="64555" y="0"/>
                </a:moveTo>
                <a:lnTo>
                  <a:pt x="5357698" y="0"/>
                </a:lnTo>
                <a:cubicBezTo>
                  <a:pt x="5393351" y="0"/>
                  <a:pt x="5422253" y="28902"/>
                  <a:pt x="5422253" y="64555"/>
                </a:cubicBezTo>
                <a:lnTo>
                  <a:pt x="5422253" y="871429"/>
                </a:lnTo>
                <a:cubicBezTo>
                  <a:pt x="5422253" y="907082"/>
                  <a:pt x="5393351" y="935984"/>
                  <a:pt x="5357698" y="935984"/>
                </a:cubicBezTo>
                <a:lnTo>
                  <a:pt x="64555" y="935984"/>
                </a:lnTo>
                <a:cubicBezTo>
                  <a:pt x="28902" y="935984"/>
                  <a:pt x="0" y="907082"/>
                  <a:pt x="0" y="871429"/>
                </a:cubicBezTo>
                <a:lnTo>
                  <a:pt x="0" y="64555"/>
                </a:lnTo>
                <a:cubicBezTo>
                  <a:pt x="0" y="28926"/>
                  <a:pt x="28926" y="0"/>
                  <a:pt x="64555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48816" name="Text 49"/>
          <p:cNvSpPr/>
          <p:nvPr/>
        </p:nvSpPr>
        <p:spPr>
          <a:xfrm>
            <a:off x="5463053" y="5845049"/>
            <a:ext cx="5293152" cy="193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05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代表技术</a:t>
            </a:r>
            <a:endParaRPr lang="en-US" dirty="0"/>
          </a:p>
        </p:txBody>
      </p:sp>
      <p:sp>
        <p:nvSpPr>
          <p:cNvPr id="1048817" name="Text 50"/>
          <p:cNvSpPr/>
          <p:nvPr/>
        </p:nvSpPr>
        <p:spPr>
          <a:xfrm>
            <a:off x="5463053" y="6038701"/>
            <a:ext cx="5285083" cy="1613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外部 </a:t>
            </a:r>
            <a:r>
              <a:rPr lang="en-US" altLang="zh-CN" sz="900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API, </a:t>
            </a:r>
            <a:r>
              <a:rPr lang="zh-CN" altLang="en-US" sz="900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模型上下文协议</a:t>
            </a:r>
            <a:r>
              <a:rPr lang="en-US" altLang="zh-CN" sz="900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(model context protocol MCP), </a:t>
            </a:r>
            <a:r>
              <a:rPr lang="zh-CN" altLang="en-US" sz="900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沙盒环境（</a:t>
            </a:r>
            <a:r>
              <a:rPr lang="en-US" altLang="zh-CN" sz="900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sandbox</a:t>
            </a:r>
            <a:r>
              <a:rPr lang="zh-CN" altLang="en-US" sz="900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</a:t>
            </a:r>
            <a:r>
              <a:rPr lang="en-US" altLang="zh-CN" sz="900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,…</a:t>
            </a:r>
            <a:endParaRPr lang="en-US" dirty="0"/>
          </a:p>
        </p:txBody>
      </p:sp>
      <p:sp>
        <p:nvSpPr>
          <p:cNvPr id="1048818" name="Shape 40"/>
          <p:cNvSpPr/>
          <p:nvPr/>
        </p:nvSpPr>
        <p:spPr>
          <a:xfrm>
            <a:off x="1443730" y="899549"/>
            <a:ext cx="7231958" cy="1638300"/>
          </a:xfrm>
          <a:custGeom>
            <a:avLst/>
            <a:gdLst/>
            <a:ahLst/>
            <a:cxnLst/>
            <a:rect l="l" t="t" r="r" b="b"/>
            <a:pathLst>
              <a:path w="5619750" h="1638300">
                <a:moveTo>
                  <a:pt x="114304" y="0"/>
                </a:moveTo>
                <a:lnTo>
                  <a:pt x="5505446" y="0"/>
                </a:lnTo>
                <a:cubicBezTo>
                  <a:pt x="5568574" y="0"/>
                  <a:pt x="5619750" y="51176"/>
                  <a:pt x="5619750" y="114304"/>
                </a:cubicBezTo>
                <a:lnTo>
                  <a:pt x="5619750" y="1523996"/>
                </a:lnTo>
                <a:cubicBezTo>
                  <a:pt x="5619750" y="1587124"/>
                  <a:pt x="5568574" y="1638300"/>
                  <a:pt x="5505446" y="1638300"/>
                </a:cubicBezTo>
                <a:lnTo>
                  <a:pt x="114304" y="1638300"/>
                </a:lnTo>
                <a:cubicBezTo>
                  <a:pt x="51176" y="1638300"/>
                  <a:pt x="0" y="1587124"/>
                  <a:pt x="0" y="152399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F1F5F9"/>
          </a:solidFill>
        </p:spPr>
      </p:sp>
      <p:sp>
        <p:nvSpPr>
          <p:cNvPr id="1048819" name="Text 41"/>
          <p:cNvSpPr/>
          <p:nvPr/>
        </p:nvSpPr>
        <p:spPr>
          <a:xfrm>
            <a:off x="1716207" y="1090049"/>
            <a:ext cx="6864231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核心公式</a:t>
            </a:r>
            <a:endParaRPr lang="en-US" sz="1600" dirty="0"/>
          </a:p>
        </p:txBody>
      </p:sp>
      <p:sp>
        <p:nvSpPr>
          <p:cNvPr id="1048820" name="Shape 42"/>
          <p:cNvSpPr/>
          <p:nvPr/>
        </p:nvSpPr>
        <p:spPr>
          <a:xfrm>
            <a:off x="1743532" y="1471049"/>
            <a:ext cx="6741656" cy="876300"/>
          </a:xfrm>
          <a:custGeom>
            <a:avLst/>
            <a:gdLst/>
            <a:ahLst/>
            <a:cxnLst/>
            <a:rect l="l" t="t" r="r" b="b"/>
            <a:pathLst>
              <a:path w="5238750" h="876300">
                <a:moveTo>
                  <a:pt x="76203" y="0"/>
                </a:moveTo>
                <a:lnTo>
                  <a:pt x="5162547" y="0"/>
                </a:lnTo>
                <a:cubicBezTo>
                  <a:pt x="5204633" y="0"/>
                  <a:pt x="5238750" y="34117"/>
                  <a:pt x="5238750" y="76203"/>
                </a:cubicBezTo>
                <a:lnTo>
                  <a:pt x="5238750" y="800097"/>
                </a:lnTo>
                <a:cubicBezTo>
                  <a:pt x="5238750" y="842183"/>
                  <a:pt x="5204633" y="876300"/>
                  <a:pt x="516254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48821" name="Text 43"/>
          <p:cNvSpPr/>
          <p:nvPr/>
        </p:nvSpPr>
        <p:spPr>
          <a:xfrm>
            <a:off x="1893433" y="1623449"/>
            <a:ext cx="649650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Agent = LLM</a:t>
            </a:r>
            <a:r>
              <a:rPr lang="en-US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+ Planning + Memory + Tool Use</a:t>
            </a:r>
            <a:endParaRPr lang="en-US" sz="1600" dirty="0"/>
          </a:p>
        </p:txBody>
      </p:sp>
      <p:sp>
        <p:nvSpPr>
          <p:cNvPr id="1048822" name="Text 44"/>
          <p:cNvSpPr/>
          <p:nvPr/>
        </p:nvSpPr>
        <p:spPr>
          <a:xfrm>
            <a:off x="1930909" y="2004449"/>
            <a:ext cx="6435217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zh-CN" sz="105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Agent </a:t>
            </a:r>
            <a:r>
              <a:rPr lang="zh-CN" altLang="en-US" sz="105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不再被单纯视为一个聊天机器人，而是一个具备自主性、适应性和目标导向能力的个体</a:t>
            </a:r>
            <a:endParaRPr lang="en-US" sz="16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51AB482-EB05-1226-CACA-71E4D1215D7D}"/>
              </a:ext>
            </a:extLst>
          </p:cNvPr>
          <p:cNvSpPr txBox="1"/>
          <p:nvPr/>
        </p:nvSpPr>
        <p:spPr>
          <a:xfrm>
            <a:off x="322753" y="6521444"/>
            <a:ext cx="60933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/>
              <a:t>https://lilianweng.github.io/</a:t>
            </a:r>
            <a:endParaRPr lang="zh-CN" altLang="en-US" sz="10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6" name="Text 0"/>
          <p:cNvSpPr/>
          <p:nvPr/>
        </p:nvSpPr>
        <p:spPr>
          <a:xfrm>
            <a:off x="322753" y="322753"/>
            <a:ext cx="11691733" cy="3227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zh-CN" altLang="en-US" sz="2287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</a:rPr>
              <a:t>什么是</a:t>
            </a:r>
            <a:r>
              <a:rPr lang="en-US" altLang="zh-CN" sz="2287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</a:rPr>
              <a:t>Agentic System</a:t>
            </a:r>
            <a:r>
              <a:rPr lang="zh-CN" altLang="en-US" sz="2287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</a:rPr>
              <a:t>？</a:t>
            </a:r>
            <a:endParaRPr lang="en-US" sz="1600" dirty="0"/>
          </a:p>
        </p:txBody>
      </p:sp>
      <p:sp>
        <p:nvSpPr>
          <p:cNvPr id="1048827" name="Shape 1"/>
          <p:cNvSpPr/>
          <p:nvPr/>
        </p:nvSpPr>
        <p:spPr>
          <a:xfrm>
            <a:off x="322753" y="742332"/>
            <a:ext cx="774608" cy="32275"/>
          </a:xfrm>
          <a:custGeom>
            <a:avLst/>
            <a:gdLst/>
            <a:ahLst/>
            <a:cxnLst/>
            <a:rect l="l" t="t" r="r" b="b"/>
            <a:pathLst>
              <a:path w="774608" h="32275">
                <a:moveTo>
                  <a:pt x="0" y="0"/>
                </a:moveTo>
                <a:lnTo>
                  <a:pt x="774608" y="0"/>
                </a:lnTo>
                <a:lnTo>
                  <a:pt x="774608" y="32275"/>
                </a:lnTo>
                <a:lnTo>
                  <a:pt x="0" y="32275"/>
                </a:lnTo>
                <a:lnTo>
                  <a:pt x="0" y="0"/>
                </a:lnTo>
                <a:close/>
              </a:path>
            </a:pathLst>
          </a:custGeom>
          <a:solidFill>
            <a:srgbClr val="00B8DB"/>
          </a:solidFill>
        </p:spPr>
      </p:sp>
      <p:sp>
        <p:nvSpPr>
          <p:cNvPr id="1048828" name="Shape 3"/>
          <p:cNvSpPr/>
          <p:nvPr/>
        </p:nvSpPr>
        <p:spPr>
          <a:xfrm>
            <a:off x="6024847" y="1106848"/>
            <a:ext cx="5818984" cy="1102423"/>
          </a:xfrm>
          <a:custGeom>
            <a:avLst/>
            <a:gdLst/>
            <a:ahLst/>
            <a:cxnLst/>
            <a:rect l="l" t="t" r="r" b="b"/>
            <a:pathLst>
              <a:path w="5695126" h="2226997">
                <a:moveTo>
                  <a:pt x="29341" y="0"/>
                </a:moveTo>
                <a:lnTo>
                  <a:pt x="5598296" y="0"/>
                </a:lnTo>
                <a:cubicBezTo>
                  <a:pt x="5651774" y="0"/>
                  <a:pt x="5695126" y="43352"/>
                  <a:pt x="5695126" y="96830"/>
                </a:cubicBezTo>
                <a:lnTo>
                  <a:pt x="5695126" y="2130167"/>
                </a:lnTo>
                <a:cubicBezTo>
                  <a:pt x="5695126" y="2183645"/>
                  <a:pt x="5651774" y="2226997"/>
                  <a:pt x="5598296" y="2226997"/>
                </a:cubicBezTo>
                <a:lnTo>
                  <a:pt x="29341" y="2226997"/>
                </a:lnTo>
                <a:cubicBezTo>
                  <a:pt x="13136" y="2226997"/>
                  <a:pt x="0" y="2213860"/>
                  <a:pt x="0" y="2197656"/>
                </a:cubicBezTo>
                <a:lnTo>
                  <a:pt x="0" y="29341"/>
                </a:lnTo>
                <a:cubicBezTo>
                  <a:pt x="0" y="13136"/>
                  <a:pt x="13136" y="0"/>
                  <a:pt x="29341" y="0"/>
                </a:cubicBezTo>
                <a:close/>
              </a:path>
            </a:pathLst>
          </a:custGeom>
          <a:solidFill>
            <a:srgbClr val="ECFDF5"/>
          </a:solidFill>
        </p:spPr>
      </p:sp>
      <p:sp>
        <p:nvSpPr>
          <p:cNvPr id="1048829" name="Shape 4"/>
          <p:cNvSpPr/>
          <p:nvPr/>
        </p:nvSpPr>
        <p:spPr>
          <a:xfrm>
            <a:off x="6024847" y="1106848"/>
            <a:ext cx="29341" cy="1102423"/>
          </a:xfrm>
          <a:custGeom>
            <a:avLst/>
            <a:gdLst/>
            <a:ahLst/>
            <a:cxnLst/>
            <a:rect l="l" t="t" r="r" b="b"/>
            <a:pathLst>
              <a:path w="29341" h="2226997">
                <a:moveTo>
                  <a:pt x="29341" y="0"/>
                </a:moveTo>
                <a:lnTo>
                  <a:pt x="29341" y="0"/>
                </a:lnTo>
                <a:lnTo>
                  <a:pt x="29341" y="2226997"/>
                </a:lnTo>
                <a:lnTo>
                  <a:pt x="29341" y="2226997"/>
                </a:lnTo>
                <a:cubicBezTo>
                  <a:pt x="13136" y="2226997"/>
                  <a:pt x="0" y="2213860"/>
                  <a:pt x="0" y="2197656"/>
                </a:cubicBezTo>
                <a:lnTo>
                  <a:pt x="0" y="29341"/>
                </a:lnTo>
                <a:cubicBezTo>
                  <a:pt x="0" y="13136"/>
                  <a:pt x="13136" y="0"/>
                  <a:pt x="29341" y="0"/>
                </a:cubicBezTo>
                <a:close/>
              </a:path>
            </a:pathLst>
          </a:custGeom>
          <a:solidFill>
            <a:srgbClr val="00BC7D"/>
          </a:solidFill>
        </p:spPr>
      </p:sp>
      <p:sp>
        <p:nvSpPr>
          <p:cNvPr id="1048830" name="Text 5"/>
          <p:cNvSpPr/>
          <p:nvPr/>
        </p:nvSpPr>
        <p:spPr>
          <a:xfrm>
            <a:off x="6168619" y="1235949"/>
            <a:ext cx="5502941" cy="3227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highlight>
                  <a:srgbClr val="00BC7D">
                    <a:alpha val="10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</a:t>
            </a:r>
            <a:r>
              <a:rPr lang="zh-CN" altLang="en-US" sz="14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大语言模型（</a:t>
            </a:r>
            <a:r>
              <a:rPr lang="en-US" altLang="zh-CN" sz="14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LLM</a:t>
            </a:r>
            <a:r>
              <a:rPr lang="zh-CN" altLang="en-US" sz="14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</a:t>
            </a:r>
            <a:r>
              <a:rPr lang="en-US" altLang="zh-CN" sz="14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Wingdings" panose="05000000000000000000" pitchFamily="2" charset="2"/>
              </a:rPr>
              <a:t> </a:t>
            </a:r>
            <a:r>
              <a:rPr lang="zh-CN" altLang="en-US" sz="14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Wingdings" panose="05000000000000000000" pitchFamily="2" charset="2"/>
              </a:rPr>
              <a:t>智能体编排（</a:t>
            </a:r>
            <a:r>
              <a:rPr lang="en-US" altLang="zh-CN" sz="14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Wingdings" panose="05000000000000000000" pitchFamily="2" charset="2"/>
              </a:rPr>
              <a:t>Orchestration</a:t>
            </a:r>
            <a:r>
              <a:rPr lang="zh-CN" altLang="en-US" sz="14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Wingdings" panose="05000000000000000000" pitchFamily="2" charset="2"/>
              </a:rPr>
              <a:t>）</a:t>
            </a:r>
            <a:endParaRPr lang="en-US" dirty="0"/>
          </a:p>
        </p:txBody>
      </p:sp>
      <p:sp>
        <p:nvSpPr>
          <p:cNvPr id="1048831" name="Shape 6"/>
          <p:cNvSpPr/>
          <p:nvPr/>
        </p:nvSpPr>
        <p:spPr>
          <a:xfrm>
            <a:off x="6168620" y="1623253"/>
            <a:ext cx="5540176" cy="548680"/>
          </a:xfrm>
          <a:custGeom>
            <a:avLst/>
            <a:gdLst/>
            <a:ahLst/>
            <a:cxnLst/>
            <a:rect l="l" t="t" r="r" b="b"/>
            <a:pathLst>
              <a:path w="5422253" h="548680">
                <a:moveTo>
                  <a:pt x="64552" y="0"/>
                </a:moveTo>
                <a:lnTo>
                  <a:pt x="5357701" y="0"/>
                </a:lnTo>
                <a:cubicBezTo>
                  <a:pt x="5393352" y="0"/>
                  <a:pt x="5422253" y="28901"/>
                  <a:pt x="5422253" y="64552"/>
                </a:cubicBezTo>
                <a:lnTo>
                  <a:pt x="5422253" y="484128"/>
                </a:lnTo>
                <a:cubicBezTo>
                  <a:pt x="5422253" y="519779"/>
                  <a:pt x="5393352" y="548680"/>
                  <a:pt x="5357701" y="548680"/>
                </a:cubicBezTo>
                <a:lnTo>
                  <a:pt x="64552" y="548680"/>
                </a:lnTo>
                <a:cubicBezTo>
                  <a:pt x="28901" y="548680"/>
                  <a:pt x="0" y="519779"/>
                  <a:pt x="0" y="484128"/>
                </a:cubicBezTo>
                <a:lnTo>
                  <a:pt x="0" y="64552"/>
                </a:lnTo>
                <a:cubicBezTo>
                  <a:pt x="0" y="28901"/>
                  <a:pt x="28901" y="0"/>
                  <a:pt x="6455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48832" name="Text 7"/>
          <p:cNvSpPr/>
          <p:nvPr/>
        </p:nvSpPr>
        <p:spPr>
          <a:xfrm>
            <a:off x="6265445" y="1720079"/>
            <a:ext cx="5293152" cy="193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05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</a:t>
            </a:r>
            <a:endParaRPr lang="en-US" dirty="0"/>
          </a:p>
        </p:txBody>
      </p:sp>
      <p:sp>
        <p:nvSpPr>
          <p:cNvPr id="1048833" name="Text 8"/>
          <p:cNvSpPr/>
          <p:nvPr/>
        </p:nvSpPr>
        <p:spPr>
          <a:xfrm>
            <a:off x="6265445" y="1913730"/>
            <a:ext cx="5285083" cy="1613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逻辑推理、语义理解、意图识别 </a:t>
            </a:r>
            <a:r>
              <a:rPr lang="en-US" altLang="zh-CN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Wingdings" panose="05000000000000000000" pitchFamily="2" charset="2"/>
              </a:rPr>
              <a:t> </a:t>
            </a:r>
            <a:r>
              <a:rPr lang="zh-CN" altLang="en-US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Wingdings" panose="05000000000000000000" pitchFamily="2" charset="2"/>
              </a:rPr>
              <a:t>多智能体通讯、智能体幻觉、安全性</a:t>
            </a:r>
            <a:endParaRPr lang="en-US" dirty="0"/>
          </a:p>
        </p:txBody>
      </p:sp>
      <p:sp>
        <p:nvSpPr>
          <p:cNvPr id="1048834" name="Shape 16"/>
          <p:cNvSpPr/>
          <p:nvPr/>
        </p:nvSpPr>
        <p:spPr>
          <a:xfrm>
            <a:off x="6013107" y="2364975"/>
            <a:ext cx="5830724" cy="1288843"/>
          </a:xfrm>
          <a:custGeom>
            <a:avLst/>
            <a:gdLst/>
            <a:ahLst/>
            <a:cxnLst/>
            <a:rect l="l" t="t" r="r" b="b"/>
            <a:pathLst>
              <a:path w="5695126" h="2420649">
                <a:moveTo>
                  <a:pt x="29341" y="0"/>
                </a:moveTo>
                <a:lnTo>
                  <a:pt x="5598300" y="0"/>
                </a:lnTo>
                <a:cubicBezTo>
                  <a:pt x="5651775" y="0"/>
                  <a:pt x="5695126" y="43350"/>
                  <a:pt x="5695126" y="96826"/>
                </a:cubicBezTo>
                <a:lnTo>
                  <a:pt x="5695126" y="2323823"/>
                </a:lnTo>
                <a:cubicBezTo>
                  <a:pt x="5695126" y="2377298"/>
                  <a:pt x="5651775" y="2420649"/>
                  <a:pt x="5598300" y="2420649"/>
                </a:cubicBezTo>
                <a:lnTo>
                  <a:pt x="29341" y="2420649"/>
                </a:lnTo>
                <a:cubicBezTo>
                  <a:pt x="13136" y="2420649"/>
                  <a:pt x="0" y="2407512"/>
                  <a:pt x="0" y="2391307"/>
                </a:cubicBezTo>
                <a:lnTo>
                  <a:pt x="0" y="29341"/>
                </a:lnTo>
                <a:cubicBezTo>
                  <a:pt x="0" y="13147"/>
                  <a:pt x="13147" y="0"/>
                  <a:pt x="29341" y="0"/>
                </a:cubicBezTo>
                <a:close/>
              </a:path>
            </a:pathLst>
          </a:custGeom>
          <a:solidFill>
            <a:srgbClr val="EFF6FF"/>
          </a:solidFill>
        </p:spPr>
      </p:sp>
      <p:sp>
        <p:nvSpPr>
          <p:cNvPr id="1048835" name="Shape 17"/>
          <p:cNvSpPr/>
          <p:nvPr/>
        </p:nvSpPr>
        <p:spPr>
          <a:xfrm>
            <a:off x="6013107" y="2364975"/>
            <a:ext cx="45719" cy="1288843"/>
          </a:xfrm>
          <a:custGeom>
            <a:avLst/>
            <a:gdLst/>
            <a:ahLst/>
            <a:cxnLst/>
            <a:rect l="l" t="t" r="r" b="b"/>
            <a:pathLst>
              <a:path w="29341" h="2420649">
                <a:moveTo>
                  <a:pt x="29341" y="0"/>
                </a:moveTo>
                <a:lnTo>
                  <a:pt x="29341" y="0"/>
                </a:lnTo>
                <a:lnTo>
                  <a:pt x="29341" y="2420649"/>
                </a:lnTo>
                <a:lnTo>
                  <a:pt x="29341" y="2420649"/>
                </a:lnTo>
                <a:cubicBezTo>
                  <a:pt x="13136" y="2420649"/>
                  <a:pt x="0" y="2407512"/>
                  <a:pt x="0" y="2391307"/>
                </a:cubicBezTo>
                <a:lnTo>
                  <a:pt x="0" y="29341"/>
                </a:lnTo>
                <a:cubicBezTo>
                  <a:pt x="0" y="13136"/>
                  <a:pt x="13136" y="0"/>
                  <a:pt x="29341" y="0"/>
                </a:cubicBezTo>
                <a:close/>
              </a:path>
            </a:pathLst>
          </a:custGeom>
          <a:solidFill>
            <a:srgbClr val="2B7FFF"/>
          </a:solidFill>
        </p:spPr>
      </p:sp>
      <p:sp>
        <p:nvSpPr>
          <p:cNvPr id="1048836" name="Text 18"/>
          <p:cNvSpPr/>
          <p:nvPr/>
        </p:nvSpPr>
        <p:spPr>
          <a:xfrm>
            <a:off x="6156879" y="2494077"/>
            <a:ext cx="4754961" cy="3227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highlight>
                  <a:srgbClr val="2B7FFF">
                    <a:alpha val="10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</a:t>
            </a:r>
            <a:r>
              <a:rPr lang="zh-CN" altLang="en-US" sz="14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规划（</a:t>
            </a:r>
            <a:r>
              <a:rPr lang="en-US" sz="14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Planning）</a:t>
            </a:r>
            <a:r>
              <a:rPr lang="en-US" sz="14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Wingdings" panose="05000000000000000000" pitchFamily="2" charset="2"/>
              </a:rPr>
              <a:t> </a:t>
            </a:r>
            <a:r>
              <a:rPr lang="zh-CN" altLang="en-US" sz="14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Wingdings" panose="05000000000000000000" pitchFamily="2" charset="2"/>
              </a:rPr>
              <a:t>规划一致性（</a:t>
            </a:r>
            <a:r>
              <a:rPr lang="en-US" altLang="zh-CN" sz="14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Wingdings" panose="05000000000000000000" pitchFamily="2" charset="2"/>
              </a:rPr>
              <a:t>Consistency</a:t>
            </a:r>
            <a:r>
              <a:rPr lang="zh-CN" altLang="en-US" sz="14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Wingdings" panose="05000000000000000000" pitchFamily="2" charset="2"/>
              </a:rPr>
              <a:t>）</a:t>
            </a:r>
            <a:endParaRPr lang="en-US" dirty="0"/>
          </a:p>
        </p:txBody>
      </p:sp>
      <p:sp>
        <p:nvSpPr>
          <p:cNvPr id="1048837" name="Shape 19"/>
          <p:cNvSpPr/>
          <p:nvPr/>
        </p:nvSpPr>
        <p:spPr>
          <a:xfrm>
            <a:off x="6156879" y="2881380"/>
            <a:ext cx="5551353" cy="680674"/>
          </a:xfrm>
          <a:custGeom>
            <a:avLst/>
            <a:gdLst/>
            <a:ahLst/>
            <a:cxnLst/>
            <a:rect l="l" t="t" r="r" b="b"/>
            <a:pathLst>
              <a:path w="5422253" h="548680">
                <a:moveTo>
                  <a:pt x="64552" y="0"/>
                </a:moveTo>
                <a:lnTo>
                  <a:pt x="5357701" y="0"/>
                </a:lnTo>
                <a:cubicBezTo>
                  <a:pt x="5393352" y="0"/>
                  <a:pt x="5422253" y="28901"/>
                  <a:pt x="5422253" y="64552"/>
                </a:cubicBezTo>
                <a:lnTo>
                  <a:pt x="5422253" y="484128"/>
                </a:lnTo>
                <a:cubicBezTo>
                  <a:pt x="5422253" y="519779"/>
                  <a:pt x="5393352" y="548680"/>
                  <a:pt x="5357701" y="548680"/>
                </a:cubicBezTo>
                <a:lnTo>
                  <a:pt x="64552" y="548680"/>
                </a:lnTo>
                <a:cubicBezTo>
                  <a:pt x="28901" y="548680"/>
                  <a:pt x="0" y="519779"/>
                  <a:pt x="0" y="484128"/>
                </a:cubicBezTo>
                <a:lnTo>
                  <a:pt x="0" y="64552"/>
                </a:lnTo>
                <a:cubicBezTo>
                  <a:pt x="0" y="28901"/>
                  <a:pt x="28901" y="0"/>
                  <a:pt x="6455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48838" name="Text 20"/>
          <p:cNvSpPr/>
          <p:nvPr/>
        </p:nvSpPr>
        <p:spPr>
          <a:xfrm>
            <a:off x="6253705" y="2978206"/>
            <a:ext cx="5293152" cy="193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05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</a:t>
            </a:r>
            <a:endParaRPr lang="en-US" dirty="0"/>
          </a:p>
        </p:txBody>
      </p:sp>
      <p:sp>
        <p:nvSpPr>
          <p:cNvPr id="1048839" name="Text 21"/>
          <p:cNvSpPr/>
          <p:nvPr/>
        </p:nvSpPr>
        <p:spPr>
          <a:xfrm>
            <a:off x="6253705" y="3171858"/>
            <a:ext cx="4892527" cy="1777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任务分解、自我反思、思维链生成 </a:t>
            </a:r>
            <a:r>
              <a:rPr lang="en-US" altLang="zh-CN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Wingdings" panose="05000000000000000000" pitchFamily="2" charset="2"/>
              </a:rPr>
              <a:t> </a:t>
            </a:r>
            <a:r>
              <a:rPr lang="zh-CN" altLang="en-US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Wingdings" panose="05000000000000000000" pitchFamily="2" charset="2"/>
              </a:rPr>
              <a:t>多步推理（</a:t>
            </a:r>
            <a:r>
              <a:rPr lang="en-US" altLang="zh-CN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Wingdings" panose="05000000000000000000" pitchFamily="2" charset="2"/>
              </a:rPr>
              <a:t>reasoning</a:t>
            </a:r>
            <a:r>
              <a:rPr lang="zh-CN" altLang="en-US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Wingdings" panose="05000000000000000000" pitchFamily="2" charset="2"/>
              </a:rPr>
              <a:t>）、长程规划能力</a:t>
            </a:r>
            <a:r>
              <a:rPr lang="en-US" altLang="zh-CN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zh-CN" altLang="en-US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</a:t>
            </a:r>
            <a:r>
              <a:rPr lang="en-US" altLang="zh-CN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long-horizon</a:t>
            </a:r>
            <a:r>
              <a:rPr lang="zh-CN" altLang="en-US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</a:t>
            </a:r>
            <a:r>
              <a:rPr lang="en-US" altLang="zh-CN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endParaRPr lang="en-US" dirty="0"/>
          </a:p>
        </p:txBody>
      </p:sp>
      <p:sp>
        <p:nvSpPr>
          <p:cNvPr id="1048840" name="Shape 28"/>
          <p:cNvSpPr/>
          <p:nvPr/>
        </p:nvSpPr>
        <p:spPr>
          <a:xfrm>
            <a:off x="6013106" y="3760769"/>
            <a:ext cx="5830723" cy="1169200"/>
          </a:xfrm>
          <a:custGeom>
            <a:avLst/>
            <a:gdLst/>
            <a:ahLst/>
            <a:cxnLst/>
            <a:rect l="l" t="t" r="r" b="b"/>
            <a:pathLst>
              <a:path w="5695126" h="2097895">
                <a:moveTo>
                  <a:pt x="29341" y="0"/>
                </a:moveTo>
                <a:lnTo>
                  <a:pt x="5598308" y="0"/>
                </a:lnTo>
                <a:cubicBezTo>
                  <a:pt x="5651779" y="0"/>
                  <a:pt x="5695126" y="43347"/>
                  <a:pt x="5695126" y="96818"/>
                </a:cubicBezTo>
                <a:lnTo>
                  <a:pt x="5695126" y="2001078"/>
                </a:lnTo>
                <a:cubicBezTo>
                  <a:pt x="5695126" y="2054549"/>
                  <a:pt x="5651779" y="2097895"/>
                  <a:pt x="5598308" y="2097895"/>
                </a:cubicBezTo>
                <a:lnTo>
                  <a:pt x="29341" y="2097895"/>
                </a:lnTo>
                <a:cubicBezTo>
                  <a:pt x="13136" y="2097895"/>
                  <a:pt x="0" y="2084759"/>
                  <a:pt x="0" y="2068554"/>
                </a:cubicBezTo>
                <a:lnTo>
                  <a:pt x="0" y="29341"/>
                </a:lnTo>
                <a:cubicBezTo>
                  <a:pt x="0" y="13147"/>
                  <a:pt x="13147" y="0"/>
                  <a:pt x="29341" y="0"/>
                </a:cubicBezTo>
                <a:close/>
              </a:path>
            </a:pathLst>
          </a:custGeom>
          <a:solidFill>
            <a:srgbClr val="FFFBEB"/>
          </a:solidFill>
        </p:spPr>
      </p:sp>
      <p:sp>
        <p:nvSpPr>
          <p:cNvPr id="1048841" name="Text 30"/>
          <p:cNvSpPr/>
          <p:nvPr/>
        </p:nvSpPr>
        <p:spPr>
          <a:xfrm>
            <a:off x="6156879" y="3889869"/>
            <a:ext cx="5502941" cy="2786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highlight>
                  <a:srgbClr val="FE9A00">
                    <a:alpha val="10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</a:t>
            </a:r>
            <a:r>
              <a:rPr lang="zh-CN" altLang="en-US" sz="14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记忆（</a:t>
            </a:r>
            <a:r>
              <a:rPr lang="en-US" sz="14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Memory）</a:t>
            </a:r>
            <a:r>
              <a:rPr lang="en-US" sz="14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Wingdings" panose="05000000000000000000" pitchFamily="2" charset="2"/>
              </a:rPr>
              <a:t> </a:t>
            </a:r>
            <a:r>
              <a:rPr lang="zh-CN" altLang="en-US" sz="14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Wingdings" panose="05000000000000000000" pitchFamily="2" charset="2"/>
              </a:rPr>
              <a:t>个性化服务（</a:t>
            </a:r>
            <a:r>
              <a:rPr lang="en-US" altLang="zh-CN" sz="14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Wingdings" panose="05000000000000000000" pitchFamily="2" charset="2"/>
              </a:rPr>
              <a:t>Personalization</a:t>
            </a:r>
            <a:r>
              <a:rPr lang="zh-CN" altLang="en-US" sz="14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Wingdings" panose="05000000000000000000" pitchFamily="2" charset="2"/>
              </a:rPr>
              <a:t>）</a:t>
            </a:r>
            <a:endParaRPr lang="en-US" dirty="0"/>
          </a:p>
        </p:txBody>
      </p:sp>
      <p:sp>
        <p:nvSpPr>
          <p:cNvPr id="1048842" name="Shape 31"/>
          <p:cNvSpPr/>
          <p:nvPr/>
        </p:nvSpPr>
        <p:spPr>
          <a:xfrm>
            <a:off x="6156879" y="4277173"/>
            <a:ext cx="5551353" cy="473703"/>
          </a:xfrm>
          <a:custGeom>
            <a:avLst/>
            <a:gdLst/>
            <a:ahLst/>
            <a:cxnLst/>
            <a:rect l="l" t="t" r="r" b="b"/>
            <a:pathLst>
              <a:path w="5422253" h="548680">
                <a:moveTo>
                  <a:pt x="64552" y="0"/>
                </a:moveTo>
                <a:lnTo>
                  <a:pt x="5357701" y="0"/>
                </a:lnTo>
                <a:cubicBezTo>
                  <a:pt x="5393352" y="0"/>
                  <a:pt x="5422253" y="28901"/>
                  <a:pt x="5422253" y="64552"/>
                </a:cubicBezTo>
                <a:lnTo>
                  <a:pt x="5422253" y="484128"/>
                </a:lnTo>
                <a:cubicBezTo>
                  <a:pt x="5422253" y="519779"/>
                  <a:pt x="5393352" y="548680"/>
                  <a:pt x="5357701" y="548680"/>
                </a:cubicBezTo>
                <a:lnTo>
                  <a:pt x="64552" y="548680"/>
                </a:lnTo>
                <a:cubicBezTo>
                  <a:pt x="28901" y="548680"/>
                  <a:pt x="0" y="519779"/>
                  <a:pt x="0" y="484128"/>
                </a:cubicBezTo>
                <a:lnTo>
                  <a:pt x="0" y="64552"/>
                </a:lnTo>
                <a:cubicBezTo>
                  <a:pt x="0" y="28901"/>
                  <a:pt x="28901" y="0"/>
                  <a:pt x="6455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48843" name="Text 32"/>
          <p:cNvSpPr/>
          <p:nvPr/>
        </p:nvSpPr>
        <p:spPr>
          <a:xfrm>
            <a:off x="6253705" y="4373999"/>
            <a:ext cx="5293152" cy="1671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05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</a:t>
            </a:r>
            <a:endParaRPr lang="en-US" dirty="0"/>
          </a:p>
        </p:txBody>
      </p:sp>
      <p:sp>
        <p:nvSpPr>
          <p:cNvPr id="1048844" name="Text 33"/>
          <p:cNvSpPr/>
          <p:nvPr/>
        </p:nvSpPr>
        <p:spPr>
          <a:xfrm>
            <a:off x="6253705" y="4567650"/>
            <a:ext cx="5285083" cy="139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短期对话缓存、长期经验留存 </a:t>
            </a:r>
            <a:r>
              <a:rPr lang="en-US" altLang="zh-CN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Wingdings" panose="05000000000000000000" pitchFamily="2" charset="2"/>
              </a:rPr>
              <a:t> </a:t>
            </a:r>
            <a:r>
              <a:rPr lang="zh-CN" altLang="en-US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Wingdings" panose="05000000000000000000" pitchFamily="2" charset="2"/>
              </a:rPr>
              <a:t>个性化记忆（</a:t>
            </a:r>
            <a:r>
              <a:rPr lang="en-US" altLang="zh-CN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Wingdings" panose="05000000000000000000" pitchFamily="2" charset="2"/>
              </a:rPr>
              <a:t>personalized</a:t>
            </a:r>
            <a:r>
              <a:rPr lang="zh-CN" altLang="en-US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Wingdings" panose="05000000000000000000" pitchFamily="2" charset="2"/>
              </a:rPr>
              <a:t>）、可复用经验（</a:t>
            </a:r>
            <a:r>
              <a:rPr lang="en-US" altLang="zh-CN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Wingdings" panose="05000000000000000000" pitchFamily="2" charset="2"/>
              </a:rPr>
              <a:t>skill</a:t>
            </a:r>
            <a:r>
              <a:rPr lang="zh-CN" altLang="en-US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Wingdings" panose="05000000000000000000" pitchFamily="2" charset="2"/>
              </a:rPr>
              <a:t>）</a:t>
            </a:r>
            <a:r>
              <a:rPr lang="en-US" altLang="zh-CN" sz="9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Wingdings" panose="05000000000000000000" pitchFamily="2" charset="2"/>
              </a:rPr>
              <a:t> </a:t>
            </a:r>
            <a:endParaRPr lang="en-US" dirty="0"/>
          </a:p>
        </p:txBody>
      </p:sp>
      <p:sp>
        <p:nvSpPr>
          <p:cNvPr id="1048845" name="Shape 42"/>
          <p:cNvSpPr/>
          <p:nvPr/>
        </p:nvSpPr>
        <p:spPr>
          <a:xfrm>
            <a:off x="6024759" y="5059336"/>
            <a:ext cx="5819070" cy="1188710"/>
          </a:xfrm>
          <a:custGeom>
            <a:avLst/>
            <a:gdLst/>
            <a:ahLst/>
            <a:cxnLst/>
            <a:rect l="l" t="t" r="r" b="b"/>
            <a:pathLst>
              <a:path w="5695126" h="2194721">
                <a:moveTo>
                  <a:pt x="29341" y="0"/>
                </a:moveTo>
                <a:lnTo>
                  <a:pt x="5598295" y="0"/>
                </a:lnTo>
                <a:cubicBezTo>
                  <a:pt x="5651773" y="0"/>
                  <a:pt x="5695126" y="43353"/>
                  <a:pt x="5695126" y="96831"/>
                </a:cubicBezTo>
                <a:lnTo>
                  <a:pt x="5695126" y="2097890"/>
                </a:lnTo>
                <a:cubicBezTo>
                  <a:pt x="5695126" y="2151369"/>
                  <a:pt x="5651773" y="2194721"/>
                  <a:pt x="5598295" y="2194721"/>
                </a:cubicBezTo>
                <a:lnTo>
                  <a:pt x="29341" y="2194721"/>
                </a:lnTo>
                <a:cubicBezTo>
                  <a:pt x="13136" y="2194721"/>
                  <a:pt x="0" y="2181585"/>
                  <a:pt x="0" y="2165380"/>
                </a:cubicBezTo>
                <a:lnTo>
                  <a:pt x="0" y="29341"/>
                </a:lnTo>
                <a:cubicBezTo>
                  <a:pt x="0" y="13147"/>
                  <a:pt x="13147" y="0"/>
                  <a:pt x="29341" y="0"/>
                </a:cubicBezTo>
                <a:close/>
              </a:path>
            </a:pathLst>
          </a:custGeom>
          <a:solidFill>
            <a:srgbClr val="F5F3FF"/>
          </a:solidFill>
        </p:spPr>
      </p:sp>
      <p:sp>
        <p:nvSpPr>
          <p:cNvPr id="1048846" name="Shape 43"/>
          <p:cNvSpPr/>
          <p:nvPr/>
        </p:nvSpPr>
        <p:spPr>
          <a:xfrm>
            <a:off x="6024759" y="5059336"/>
            <a:ext cx="29341" cy="1188710"/>
          </a:xfrm>
          <a:custGeom>
            <a:avLst/>
            <a:gdLst/>
            <a:ahLst/>
            <a:cxnLst/>
            <a:rect l="l" t="t" r="r" b="b"/>
            <a:pathLst>
              <a:path w="29341" h="2194721">
                <a:moveTo>
                  <a:pt x="29341" y="0"/>
                </a:moveTo>
                <a:lnTo>
                  <a:pt x="29341" y="0"/>
                </a:lnTo>
                <a:lnTo>
                  <a:pt x="29341" y="2194721"/>
                </a:lnTo>
                <a:lnTo>
                  <a:pt x="29341" y="2194721"/>
                </a:lnTo>
                <a:cubicBezTo>
                  <a:pt x="13136" y="2194721"/>
                  <a:pt x="0" y="2181585"/>
                  <a:pt x="0" y="2165380"/>
                </a:cubicBezTo>
                <a:lnTo>
                  <a:pt x="0" y="29341"/>
                </a:lnTo>
                <a:cubicBezTo>
                  <a:pt x="0" y="13136"/>
                  <a:pt x="13136" y="0"/>
                  <a:pt x="29341" y="0"/>
                </a:cubicBezTo>
                <a:close/>
              </a:path>
            </a:pathLst>
          </a:custGeom>
          <a:solidFill>
            <a:srgbClr val="8E51FF"/>
          </a:solidFill>
        </p:spPr>
      </p:sp>
      <p:sp>
        <p:nvSpPr>
          <p:cNvPr id="1048847" name="Text 44"/>
          <p:cNvSpPr/>
          <p:nvPr/>
        </p:nvSpPr>
        <p:spPr>
          <a:xfrm>
            <a:off x="6168531" y="5188436"/>
            <a:ext cx="5502941" cy="3227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highlight>
                  <a:srgbClr val="8E51FF">
                    <a:alpha val="100000"/>
                  </a:srgbClr>
                </a:highlight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</a:t>
            </a:r>
            <a:r>
              <a:rPr lang="zh-CN" altLang="en-US" sz="14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工具使用（</a:t>
            </a:r>
            <a:r>
              <a:rPr lang="en-US" sz="14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Tool Use）</a:t>
            </a:r>
            <a:r>
              <a:rPr lang="en-US" sz="14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Wingdings" panose="05000000000000000000" pitchFamily="2" charset="2"/>
              </a:rPr>
              <a:t> </a:t>
            </a:r>
            <a:r>
              <a:rPr lang="zh-CN" altLang="en-US" sz="14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Wingdings" panose="05000000000000000000" pitchFamily="2" charset="2"/>
              </a:rPr>
              <a:t>环境集成（</a:t>
            </a:r>
            <a:r>
              <a:rPr lang="en-US" altLang="zh-CN" sz="14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Wingdings" panose="05000000000000000000" pitchFamily="2" charset="2"/>
              </a:rPr>
              <a:t>Ensemble</a:t>
            </a:r>
            <a:r>
              <a:rPr lang="zh-CN" altLang="en-US" sz="14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Wingdings" panose="05000000000000000000" pitchFamily="2" charset="2"/>
              </a:rPr>
              <a:t>）</a:t>
            </a:r>
            <a:endParaRPr lang="en-US" dirty="0"/>
          </a:p>
        </p:txBody>
      </p:sp>
      <p:sp>
        <p:nvSpPr>
          <p:cNvPr id="1048848" name="Shape 45"/>
          <p:cNvSpPr/>
          <p:nvPr/>
        </p:nvSpPr>
        <p:spPr>
          <a:xfrm>
            <a:off x="6168531" y="5575740"/>
            <a:ext cx="5540258" cy="548680"/>
          </a:xfrm>
          <a:custGeom>
            <a:avLst/>
            <a:gdLst/>
            <a:ahLst/>
            <a:cxnLst/>
            <a:rect l="l" t="t" r="r" b="b"/>
            <a:pathLst>
              <a:path w="5422253" h="548680">
                <a:moveTo>
                  <a:pt x="64552" y="0"/>
                </a:moveTo>
                <a:lnTo>
                  <a:pt x="5357701" y="0"/>
                </a:lnTo>
                <a:cubicBezTo>
                  <a:pt x="5393352" y="0"/>
                  <a:pt x="5422253" y="28901"/>
                  <a:pt x="5422253" y="64552"/>
                </a:cubicBezTo>
                <a:lnTo>
                  <a:pt x="5422253" y="484128"/>
                </a:lnTo>
                <a:cubicBezTo>
                  <a:pt x="5422253" y="519779"/>
                  <a:pt x="5393352" y="548680"/>
                  <a:pt x="5357701" y="548680"/>
                </a:cubicBezTo>
                <a:lnTo>
                  <a:pt x="64552" y="548680"/>
                </a:lnTo>
                <a:cubicBezTo>
                  <a:pt x="28901" y="548680"/>
                  <a:pt x="0" y="519779"/>
                  <a:pt x="0" y="484128"/>
                </a:cubicBezTo>
                <a:lnTo>
                  <a:pt x="0" y="64552"/>
                </a:lnTo>
                <a:cubicBezTo>
                  <a:pt x="0" y="28901"/>
                  <a:pt x="28901" y="0"/>
                  <a:pt x="6455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48849" name="Text 46"/>
          <p:cNvSpPr/>
          <p:nvPr/>
        </p:nvSpPr>
        <p:spPr>
          <a:xfrm>
            <a:off x="6265357" y="5672566"/>
            <a:ext cx="5293152" cy="193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1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</a:rPr>
              <a:t>核心</a:t>
            </a:r>
            <a:endParaRPr lang="en-US" sz="2000" dirty="0"/>
          </a:p>
        </p:txBody>
      </p:sp>
      <p:sp>
        <p:nvSpPr>
          <p:cNvPr id="1048850" name="Text 47"/>
          <p:cNvSpPr/>
          <p:nvPr/>
        </p:nvSpPr>
        <p:spPr>
          <a:xfrm>
            <a:off x="6265357" y="5866218"/>
            <a:ext cx="5285083" cy="1613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0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环境交互、</a:t>
            </a:r>
            <a:r>
              <a:rPr lang="en-US" altLang="zh-CN" sz="10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API </a:t>
            </a:r>
            <a:r>
              <a:rPr lang="zh-CN" altLang="en-US" sz="10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调用、物理操作 </a:t>
            </a:r>
            <a:r>
              <a:rPr lang="en-US" altLang="zh-CN" sz="10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Wingdings" panose="05000000000000000000" pitchFamily="2" charset="2"/>
              </a:rPr>
              <a:t> </a:t>
            </a:r>
            <a:r>
              <a:rPr lang="zh-CN" altLang="en-US" sz="100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Wingdings" panose="05000000000000000000" pitchFamily="2" charset="2"/>
              </a:rPr>
              <a:t>操作沙盒、系统隔离</a:t>
            </a:r>
            <a:endParaRPr lang="en-US" sz="2000" dirty="0"/>
          </a:p>
        </p:txBody>
      </p:sp>
      <p:pic>
        <p:nvPicPr>
          <p:cNvPr id="2097157" name="Picture 2" descr="The Rise of AI Agents—Collaborative Intelligenc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446" y="1368626"/>
            <a:ext cx="5784899" cy="4364436"/>
          </a:xfrm>
          <a:prstGeom prst="rect">
            <a:avLst/>
          </a:prstGeom>
          <a:noFill/>
        </p:spPr>
      </p:pic>
      <p:sp>
        <p:nvSpPr>
          <p:cNvPr id="1048851" name="文本框 3"/>
          <p:cNvSpPr txBox="1"/>
          <p:nvPr/>
        </p:nvSpPr>
        <p:spPr>
          <a:xfrm>
            <a:off x="75446" y="6484882"/>
            <a:ext cx="5783580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hlinkClick r:id="rId4"/>
              </a:rPr>
              <a:t>Understanding Agentic AI Architecture - Swapan </a:t>
            </a:r>
            <a:r>
              <a:rPr lang="en-US" altLang="zh-CN" dirty="0" err="1">
                <a:hlinkClick r:id="rId4"/>
              </a:rPr>
              <a:t>Rajdev</a:t>
            </a:r>
            <a:endParaRPr lang="zh-CN" altLang="en-US" dirty="0"/>
          </a:p>
        </p:txBody>
      </p:sp>
      <p:sp>
        <p:nvSpPr>
          <p:cNvPr id="1048852" name="Shape 29"/>
          <p:cNvSpPr/>
          <p:nvPr/>
        </p:nvSpPr>
        <p:spPr>
          <a:xfrm>
            <a:off x="6024759" y="3751453"/>
            <a:ext cx="29341" cy="1169200"/>
          </a:xfrm>
          <a:custGeom>
            <a:avLst/>
            <a:gdLst/>
            <a:ahLst/>
            <a:cxnLst/>
            <a:rect l="l" t="t" r="r" b="b"/>
            <a:pathLst>
              <a:path w="29341" h="2097895">
                <a:moveTo>
                  <a:pt x="29341" y="0"/>
                </a:moveTo>
                <a:lnTo>
                  <a:pt x="29341" y="0"/>
                </a:lnTo>
                <a:lnTo>
                  <a:pt x="29341" y="2097895"/>
                </a:lnTo>
                <a:lnTo>
                  <a:pt x="29341" y="2097895"/>
                </a:lnTo>
                <a:cubicBezTo>
                  <a:pt x="13136" y="2097895"/>
                  <a:pt x="0" y="2084759"/>
                  <a:pt x="0" y="2068554"/>
                </a:cubicBezTo>
                <a:lnTo>
                  <a:pt x="0" y="29341"/>
                </a:lnTo>
                <a:cubicBezTo>
                  <a:pt x="0" y="13136"/>
                  <a:pt x="13136" y="0"/>
                  <a:pt x="29341" y="0"/>
                </a:cubicBezTo>
                <a:close/>
              </a:path>
            </a:pathLst>
          </a:custGeom>
          <a:solidFill>
            <a:srgbClr val="FE9A00"/>
          </a:solidFill>
        </p:spPr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6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r>
              <a:rPr lang="en-US" altLang="zh-CN" sz="27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gentic System</a:t>
            </a:r>
            <a:r>
              <a:rPr lang="zh-CN" altLang="en-US" sz="27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</a:t>
            </a:r>
            <a:r>
              <a:rPr lang="en-US" sz="2700" b="1" dirty="0" err="1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三次范式跃迁</a:t>
            </a:r>
            <a:endParaRPr lang="en-US" sz="1600" dirty="0"/>
          </a:p>
        </p:txBody>
      </p:sp>
      <p:sp>
        <p:nvSpPr>
          <p:cNvPr id="1048857" name="Shape 1"/>
          <p:cNvSpPr/>
          <p:nvPr/>
        </p:nvSpPr>
        <p:spPr>
          <a:xfrm>
            <a:off x="381000" y="876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15FFF"/>
          </a:solidFill>
        </p:spPr>
      </p:sp>
      <p:sp>
        <p:nvSpPr>
          <p:cNvPr id="1048858" name="Text 2"/>
          <p:cNvSpPr/>
          <p:nvPr/>
        </p:nvSpPr>
        <p:spPr>
          <a:xfrm>
            <a:off x="381000" y="1028700"/>
            <a:ext cx="11515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Agent</a:t>
            </a:r>
            <a:r>
              <a:rPr lang="en-US" altLang="zh-CN" sz="135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ic </a:t>
            </a:r>
            <a:r>
              <a:rPr lang="en-US" altLang="zh-CN" sz="1350" dirty="0" err="1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System</a:t>
            </a:r>
            <a:r>
              <a:rPr lang="en-US" sz="1350" dirty="0" err="1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工程实践经历了清晰的</a:t>
            </a:r>
            <a:r>
              <a:rPr lang="en-US" sz="1350" b="1" dirty="0" err="1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三次范式跃迁</a:t>
            </a:r>
            <a:endParaRPr lang="en-US" sz="1600" dirty="0"/>
          </a:p>
        </p:txBody>
      </p:sp>
      <p:sp>
        <p:nvSpPr>
          <p:cNvPr id="1048859" name="Shape 3"/>
          <p:cNvSpPr/>
          <p:nvPr/>
        </p:nvSpPr>
        <p:spPr>
          <a:xfrm>
            <a:off x="454082" y="1502410"/>
            <a:ext cx="3686175" cy="3403600"/>
          </a:xfrm>
          <a:custGeom>
            <a:avLst/>
            <a:gdLst/>
            <a:ahLst/>
            <a:cxnLst/>
            <a:rect l="l" t="t" r="r" b="b"/>
            <a:pathLst>
              <a:path w="3686175" h="4953000">
                <a:moveTo>
                  <a:pt x="114308" y="0"/>
                </a:moveTo>
                <a:lnTo>
                  <a:pt x="3571867" y="0"/>
                </a:lnTo>
                <a:cubicBezTo>
                  <a:pt x="3634997" y="0"/>
                  <a:pt x="3686175" y="51178"/>
                  <a:pt x="3686175" y="114308"/>
                </a:cubicBezTo>
                <a:lnTo>
                  <a:pt x="3686175" y="4838692"/>
                </a:lnTo>
                <a:cubicBezTo>
                  <a:pt x="3686175" y="4901822"/>
                  <a:pt x="3634997" y="4953000"/>
                  <a:pt x="3571867" y="4953000"/>
                </a:cubicBezTo>
                <a:lnTo>
                  <a:pt x="114308" y="4953000"/>
                </a:lnTo>
                <a:cubicBezTo>
                  <a:pt x="51178" y="4953000"/>
                  <a:pt x="0" y="4901822"/>
                  <a:pt x="0" y="483869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flip="none" rotWithShape="1">
            <a:gsLst>
              <a:gs pos="0">
                <a:srgbClr val="2B7FFF"/>
              </a:gs>
              <a:gs pos="100000">
                <a:srgbClr val="1447E6"/>
              </a:gs>
            </a:gsLst>
            <a:lin ang="2700000" scaled="1"/>
          </a:gradFill>
        </p:spPr>
      </p:sp>
      <p:sp>
        <p:nvSpPr>
          <p:cNvPr id="1048860" name="Shape 4"/>
          <p:cNvSpPr/>
          <p:nvPr/>
        </p:nvSpPr>
        <p:spPr>
          <a:xfrm>
            <a:off x="644582" y="169291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1048861" name="Text 5"/>
          <p:cNvSpPr/>
          <p:nvPr/>
        </p:nvSpPr>
        <p:spPr>
          <a:xfrm>
            <a:off x="587432" y="1692910"/>
            <a:ext cx="6477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1048862" name="Text 6"/>
          <p:cNvSpPr/>
          <p:nvPr/>
        </p:nvSpPr>
        <p:spPr>
          <a:xfrm>
            <a:off x="1292282" y="1711960"/>
            <a:ext cx="23812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Prompt Engineering</a:t>
            </a:r>
            <a:endParaRPr lang="en-US" sz="1600" dirty="0"/>
          </a:p>
        </p:txBody>
      </p:sp>
      <p:sp>
        <p:nvSpPr>
          <p:cNvPr id="1048863" name="Text 7"/>
          <p:cNvSpPr/>
          <p:nvPr/>
        </p:nvSpPr>
        <p:spPr>
          <a:xfrm>
            <a:off x="1292282" y="2016760"/>
            <a:ext cx="2333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BED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2022-</a:t>
            </a:r>
            <a:endParaRPr lang="en-US" sz="2000" dirty="0"/>
          </a:p>
        </p:txBody>
      </p:sp>
      <p:sp>
        <p:nvSpPr>
          <p:cNvPr id="1048864" name="Shape 8"/>
          <p:cNvSpPr/>
          <p:nvPr/>
        </p:nvSpPr>
        <p:spPr>
          <a:xfrm>
            <a:off x="644582" y="2378710"/>
            <a:ext cx="3305175" cy="685800"/>
          </a:xfrm>
          <a:custGeom>
            <a:avLst/>
            <a:gdLst/>
            <a:ahLst/>
            <a:cxnLst/>
            <a:rect l="l" t="t" r="r" b="b"/>
            <a:pathLst>
              <a:path w="3305175" h="685800">
                <a:moveTo>
                  <a:pt x="76199" y="0"/>
                </a:moveTo>
                <a:lnTo>
                  <a:pt x="3228976" y="0"/>
                </a:lnTo>
                <a:cubicBezTo>
                  <a:pt x="3271059" y="0"/>
                  <a:pt x="3305175" y="34116"/>
                  <a:pt x="3305175" y="76199"/>
                </a:cubicBezTo>
                <a:lnTo>
                  <a:pt x="3305175" y="609601"/>
                </a:lnTo>
                <a:cubicBezTo>
                  <a:pt x="3305175" y="651684"/>
                  <a:pt x="3271059" y="685800"/>
                  <a:pt x="32289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1048865" name="Text 9"/>
          <p:cNvSpPr/>
          <p:nvPr/>
        </p:nvSpPr>
        <p:spPr>
          <a:xfrm>
            <a:off x="758882" y="2493010"/>
            <a:ext cx="31527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核心思想</a:t>
            </a:r>
            <a:endParaRPr lang="en-US" sz="2000" dirty="0"/>
          </a:p>
        </p:txBody>
      </p:sp>
      <p:sp>
        <p:nvSpPr>
          <p:cNvPr id="1048866" name="Text 10"/>
          <p:cNvSpPr/>
          <p:nvPr/>
        </p:nvSpPr>
        <p:spPr>
          <a:xfrm>
            <a:off x="758882" y="2759710"/>
            <a:ext cx="3143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DBEAF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如何与模型"说话"</a:t>
            </a:r>
            <a:endParaRPr lang="en-US" sz="2000" dirty="0"/>
          </a:p>
        </p:txBody>
      </p:sp>
      <p:sp>
        <p:nvSpPr>
          <p:cNvPr id="1048867" name="Shape 11"/>
          <p:cNvSpPr/>
          <p:nvPr/>
        </p:nvSpPr>
        <p:spPr>
          <a:xfrm>
            <a:off x="644582" y="3140710"/>
            <a:ext cx="3305175" cy="685800"/>
          </a:xfrm>
          <a:custGeom>
            <a:avLst/>
            <a:gdLst/>
            <a:ahLst/>
            <a:cxnLst/>
            <a:rect l="l" t="t" r="r" b="b"/>
            <a:pathLst>
              <a:path w="3305175" h="685800">
                <a:moveTo>
                  <a:pt x="76199" y="0"/>
                </a:moveTo>
                <a:lnTo>
                  <a:pt x="3228976" y="0"/>
                </a:lnTo>
                <a:cubicBezTo>
                  <a:pt x="3271059" y="0"/>
                  <a:pt x="3305175" y="34116"/>
                  <a:pt x="3305175" y="76199"/>
                </a:cubicBezTo>
                <a:lnTo>
                  <a:pt x="3305175" y="609601"/>
                </a:lnTo>
                <a:cubicBezTo>
                  <a:pt x="3305175" y="651684"/>
                  <a:pt x="3271059" y="685800"/>
                  <a:pt x="32289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1048868" name="Text 12"/>
          <p:cNvSpPr/>
          <p:nvPr/>
        </p:nvSpPr>
        <p:spPr>
          <a:xfrm>
            <a:off x="758882" y="3255010"/>
            <a:ext cx="31527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技术特征</a:t>
            </a:r>
            <a:endParaRPr lang="en-US" sz="2000" dirty="0"/>
          </a:p>
        </p:txBody>
      </p:sp>
      <p:sp>
        <p:nvSpPr>
          <p:cNvPr id="1048869" name="Text 13"/>
          <p:cNvSpPr/>
          <p:nvPr/>
        </p:nvSpPr>
        <p:spPr>
          <a:xfrm>
            <a:off x="758882" y="3521710"/>
            <a:ext cx="3143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 err="1">
                <a:solidFill>
                  <a:srgbClr val="DBEAF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Few-shot、CoT、Role</a:t>
            </a:r>
            <a:r>
              <a:rPr lang="en-US" sz="1200" dirty="0">
                <a:solidFill>
                  <a:srgbClr val="DBEAF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Prompting…</a:t>
            </a:r>
            <a:endParaRPr lang="en-US" sz="2000" dirty="0"/>
          </a:p>
        </p:txBody>
      </p:sp>
      <p:sp>
        <p:nvSpPr>
          <p:cNvPr id="1048870" name="Shape 14"/>
          <p:cNvSpPr/>
          <p:nvPr/>
        </p:nvSpPr>
        <p:spPr>
          <a:xfrm>
            <a:off x="644582" y="3902710"/>
            <a:ext cx="3305175" cy="685800"/>
          </a:xfrm>
          <a:custGeom>
            <a:avLst/>
            <a:gdLst/>
            <a:ahLst/>
            <a:cxnLst/>
            <a:rect l="l" t="t" r="r" b="b"/>
            <a:pathLst>
              <a:path w="3305175" h="685800">
                <a:moveTo>
                  <a:pt x="76199" y="0"/>
                </a:moveTo>
                <a:lnTo>
                  <a:pt x="3228976" y="0"/>
                </a:lnTo>
                <a:cubicBezTo>
                  <a:pt x="3271059" y="0"/>
                  <a:pt x="3305175" y="34116"/>
                  <a:pt x="3305175" y="76199"/>
                </a:cubicBezTo>
                <a:lnTo>
                  <a:pt x="3305175" y="609601"/>
                </a:lnTo>
                <a:cubicBezTo>
                  <a:pt x="3305175" y="651684"/>
                  <a:pt x="3271059" y="685800"/>
                  <a:pt x="32289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1048871" name="Text 15"/>
          <p:cNvSpPr/>
          <p:nvPr/>
        </p:nvSpPr>
        <p:spPr>
          <a:xfrm>
            <a:off x="758882" y="4017010"/>
            <a:ext cx="31527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Human角色</a:t>
            </a:r>
            <a:endParaRPr lang="en-US" sz="2000" dirty="0"/>
          </a:p>
        </p:txBody>
      </p:sp>
      <p:sp>
        <p:nvSpPr>
          <p:cNvPr id="1048872" name="Text 16"/>
          <p:cNvSpPr/>
          <p:nvPr/>
        </p:nvSpPr>
        <p:spPr>
          <a:xfrm>
            <a:off x="758882" y="4283710"/>
            <a:ext cx="3143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 err="1">
                <a:solidFill>
                  <a:srgbClr val="DBEAF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Human-</a:t>
            </a:r>
            <a:r>
              <a:rPr lang="en-US" altLang="zh-CN" sz="1200" dirty="0" err="1">
                <a:solidFill>
                  <a:srgbClr val="DBEAF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govern</a:t>
            </a:r>
            <a:r>
              <a:rPr lang="en-US" sz="1200" dirty="0" err="1">
                <a:solidFill>
                  <a:srgbClr val="DBEAF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，主导者</a:t>
            </a:r>
            <a:endParaRPr lang="en-US" sz="2000" dirty="0"/>
          </a:p>
        </p:txBody>
      </p:sp>
      <p:sp>
        <p:nvSpPr>
          <p:cNvPr id="1048873" name="Shape 17"/>
          <p:cNvSpPr/>
          <p:nvPr/>
        </p:nvSpPr>
        <p:spPr>
          <a:xfrm>
            <a:off x="4327510" y="1502410"/>
            <a:ext cx="3686175" cy="3403600"/>
          </a:xfrm>
          <a:custGeom>
            <a:avLst/>
            <a:gdLst/>
            <a:ahLst/>
            <a:cxnLst/>
            <a:rect l="l" t="t" r="r" b="b"/>
            <a:pathLst>
              <a:path w="3686175" h="4953000">
                <a:moveTo>
                  <a:pt x="114308" y="0"/>
                </a:moveTo>
                <a:lnTo>
                  <a:pt x="3571867" y="0"/>
                </a:lnTo>
                <a:cubicBezTo>
                  <a:pt x="3634997" y="0"/>
                  <a:pt x="3686175" y="51178"/>
                  <a:pt x="3686175" y="114308"/>
                </a:cubicBezTo>
                <a:lnTo>
                  <a:pt x="3686175" y="4838692"/>
                </a:lnTo>
                <a:cubicBezTo>
                  <a:pt x="3686175" y="4901822"/>
                  <a:pt x="3634997" y="4953000"/>
                  <a:pt x="3571867" y="4953000"/>
                </a:cubicBezTo>
                <a:lnTo>
                  <a:pt x="114308" y="4953000"/>
                </a:lnTo>
                <a:cubicBezTo>
                  <a:pt x="51178" y="4953000"/>
                  <a:pt x="0" y="4901822"/>
                  <a:pt x="0" y="483869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flip="none" rotWithShape="1">
            <a:gsLst>
              <a:gs pos="0">
                <a:srgbClr val="FE9A00"/>
              </a:gs>
              <a:gs pos="100000">
                <a:srgbClr val="BB4D00"/>
              </a:gs>
            </a:gsLst>
            <a:lin ang="2700000" scaled="1"/>
          </a:gradFill>
        </p:spPr>
      </p:sp>
      <p:sp>
        <p:nvSpPr>
          <p:cNvPr id="1048874" name="Shape 18"/>
          <p:cNvSpPr/>
          <p:nvPr/>
        </p:nvSpPr>
        <p:spPr>
          <a:xfrm>
            <a:off x="4518010" y="169291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1048875" name="Text 19"/>
          <p:cNvSpPr/>
          <p:nvPr/>
        </p:nvSpPr>
        <p:spPr>
          <a:xfrm>
            <a:off x="4460860" y="1692910"/>
            <a:ext cx="6477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1048876" name="Text 20"/>
          <p:cNvSpPr/>
          <p:nvPr/>
        </p:nvSpPr>
        <p:spPr>
          <a:xfrm>
            <a:off x="5165710" y="1711960"/>
            <a:ext cx="24193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Context Engineering</a:t>
            </a:r>
            <a:endParaRPr lang="en-US" sz="1600" dirty="0"/>
          </a:p>
        </p:txBody>
      </p:sp>
      <p:sp>
        <p:nvSpPr>
          <p:cNvPr id="1048877" name="Text 21"/>
          <p:cNvSpPr/>
          <p:nvPr/>
        </p:nvSpPr>
        <p:spPr>
          <a:xfrm>
            <a:off x="5165710" y="2016760"/>
            <a:ext cx="2371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EE68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2024-</a:t>
            </a:r>
            <a:endParaRPr lang="en-US" sz="2000" dirty="0"/>
          </a:p>
        </p:txBody>
      </p:sp>
      <p:sp>
        <p:nvSpPr>
          <p:cNvPr id="1048878" name="Shape 22"/>
          <p:cNvSpPr/>
          <p:nvPr/>
        </p:nvSpPr>
        <p:spPr>
          <a:xfrm>
            <a:off x="4518010" y="2378710"/>
            <a:ext cx="3305175" cy="685800"/>
          </a:xfrm>
          <a:custGeom>
            <a:avLst/>
            <a:gdLst/>
            <a:ahLst/>
            <a:cxnLst/>
            <a:rect l="l" t="t" r="r" b="b"/>
            <a:pathLst>
              <a:path w="3305175" h="685800">
                <a:moveTo>
                  <a:pt x="76199" y="0"/>
                </a:moveTo>
                <a:lnTo>
                  <a:pt x="3228976" y="0"/>
                </a:lnTo>
                <a:cubicBezTo>
                  <a:pt x="3271059" y="0"/>
                  <a:pt x="3305175" y="34116"/>
                  <a:pt x="3305175" y="76199"/>
                </a:cubicBezTo>
                <a:lnTo>
                  <a:pt x="3305175" y="609601"/>
                </a:lnTo>
                <a:cubicBezTo>
                  <a:pt x="3305175" y="651684"/>
                  <a:pt x="3271059" y="685800"/>
                  <a:pt x="32289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1048879" name="Text 23"/>
          <p:cNvSpPr/>
          <p:nvPr/>
        </p:nvSpPr>
        <p:spPr>
          <a:xfrm>
            <a:off x="4632310" y="2493010"/>
            <a:ext cx="31527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核心思想</a:t>
            </a:r>
            <a:endParaRPr lang="en-US" sz="2000" dirty="0"/>
          </a:p>
        </p:txBody>
      </p:sp>
      <p:sp>
        <p:nvSpPr>
          <p:cNvPr id="1048880" name="Text 24"/>
          <p:cNvSpPr/>
          <p:nvPr/>
        </p:nvSpPr>
        <p:spPr>
          <a:xfrm>
            <a:off x="4632310" y="2759710"/>
            <a:ext cx="3143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EF3C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从"写好提示词"到"管理上下文"</a:t>
            </a:r>
            <a:endParaRPr lang="en-US" sz="2000" dirty="0"/>
          </a:p>
        </p:txBody>
      </p:sp>
      <p:sp>
        <p:nvSpPr>
          <p:cNvPr id="1048881" name="Shape 25"/>
          <p:cNvSpPr/>
          <p:nvPr/>
        </p:nvSpPr>
        <p:spPr>
          <a:xfrm>
            <a:off x="4518010" y="3140710"/>
            <a:ext cx="3305175" cy="685800"/>
          </a:xfrm>
          <a:custGeom>
            <a:avLst/>
            <a:gdLst/>
            <a:ahLst/>
            <a:cxnLst/>
            <a:rect l="l" t="t" r="r" b="b"/>
            <a:pathLst>
              <a:path w="3305175" h="685800">
                <a:moveTo>
                  <a:pt x="76199" y="0"/>
                </a:moveTo>
                <a:lnTo>
                  <a:pt x="3228976" y="0"/>
                </a:lnTo>
                <a:cubicBezTo>
                  <a:pt x="3271059" y="0"/>
                  <a:pt x="3305175" y="34116"/>
                  <a:pt x="3305175" y="76199"/>
                </a:cubicBezTo>
                <a:lnTo>
                  <a:pt x="3305175" y="609601"/>
                </a:lnTo>
                <a:cubicBezTo>
                  <a:pt x="3305175" y="651684"/>
                  <a:pt x="3271059" y="685800"/>
                  <a:pt x="32289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1048882" name="Text 26"/>
          <p:cNvSpPr/>
          <p:nvPr/>
        </p:nvSpPr>
        <p:spPr>
          <a:xfrm>
            <a:off x="4632310" y="3255010"/>
            <a:ext cx="31527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技术特征</a:t>
            </a:r>
            <a:endParaRPr lang="en-US" sz="2000" dirty="0"/>
          </a:p>
        </p:txBody>
      </p:sp>
      <p:sp>
        <p:nvSpPr>
          <p:cNvPr id="1048883" name="Text 27"/>
          <p:cNvSpPr/>
          <p:nvPr/>
        </p:nvSpPr>
        <p:spPr>
          <a:xfrm>
            <a:off x="4632310" y="3521710"/>
            <a:ext cx="3143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 err="1">
                <a:solidFill>
                  <a:srgbClr val="FEF3C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RAG、动态</a:t>
            </a:r>
            <a:r>
              <a:rPr lang="zh-CN" altLang="en-US" sz="1200" dirty="0">
                <a:solidFill>
                  <a:srgbClr val="FEF3C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上下文</a:t>
            </a:r>
            <a:r>
              <a:rPr lang="en-US" sz="1200" dirty="0">
                <a:solidFill>
                  <a:srgbClr val="FEF3C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、MCP</a:t>
            </a:r>
            <a:r>
              <a:rPr lang="zh-CN" altLang="en-US" sz="1200" dirty="0">
                <a:solidFill>
                  <a:srgbClr val="FEF3C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接入</a:t>
            </a:r>
            <a:r>
              <a:rPr lang="en-US" altLang="zh-CN" sz="1200" dirty="0">
                <a:solidFill>
                  <a:srgbClr val="FEF3C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…</a:t>
            </a:r>
            <a:endParaRPr lang="en-US" sz="2000" dirty="0"/>
          </a:p>
        </p:txBody>
      </p:sp>
      <p:sp>
        <p:nvSpPr>
          <p:cNvPr id="1048884" name="Shape 28"/>
          <p:cNvSpPr/>
          <p:nvPr/>
        </p:nvSpPr>
        <p:spPr>
          <a:xfrm>
            <a:off x="4518010" y="3902710"/>
            <a:ext cx="3305175" cy="685800"/>
          </a:xfrm>
          <a:custGeom>
            <a:avLst/>
            <a:gdLst/>
            <a:ahLst/>
            <a:cxnLst/>
            <a:rect l="l" t="t" r="r" b="b"/>
            <a:pathLst>
              <a:path w="3305175" h="685800">
                <a:moveTo>
                  <a:pt x="76199" y="0"/>
                </a:moveTo>
                <a:lnTo>
                  <a:pt x="3228976" y="0"/>
                </a:lnTo>
                <a:cubicBezTo>
                  <a:pt x="3271059" y="0"/>
                  <a:pt x="3305175" y="34116"/>
                  <a:pt x="3305175" y="76199"/>
                </a:cubicBezTo>
                <a:lnTo>
                  <a:pt x="3305175" y="609601"/>
                </a:lnTo>
                <a:cubicBezTo>
                  <a:pt x="3305175" y="651684"/>
                  <a:pt x="3271059" y="685800"/>
                  <a:pt x="32289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1048885" name="Text 29"/>
          <p:cNvSpPr/>
          <p:nvPr/>
        </p:nvSpPr>
        <p:spPr>
          <a:xfrm>
            <a:off x="4632310" y="4017010"/>
            <a:ext cx="31527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Human角色</a:t>
            </a:r>
            <a:endParaRPr lang="en-US" sz="2000" dirty="0"/>
          </a:p>
        </p:txBody>
      </p:sp>
      <p:sp>
        <p:nvSpPr>
          <p:cNvPr id="1048886" name="Text 30"/>
          <p:cNvSpPr/>
          <p:nvPr/>
        </p:nvSpPr>
        <p:spPr>
          <a:xfrm>
            <a:off x="4632310" y="4283710"/>
            <a:ext cx="3143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 err="1">
                <a:solidFill>
                  <a:srgbClr val="FEF3C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Human-in-the-Loop，信息提供者</a:t>
            </a:r>
            <a:endParaRPr lang="en-US" sz="2000" dirty="0"/>
          </a:p>
        </p:txBody>
      </p:sp>
      <p:sp>
        <p:nvSpPr>
          <p:cNvPr id="1048887" name="Shape 31"/>
          <p:cNvSpPr/>
          <p:nvPr/>
        </p:nvSpPr>
        <p:spPr>
          <a:xfrm>
            <a:off x="8201046" y="1502410"/>
            <a:ext cx="3686175" cy="3403600"/>
          </a:xfrm>
          <a:custGeom>
            <a:avLst/>
            <a:gdLst/>
            <a:ahLst/>
            <a:cxnLst/>
            <a:rect l="l" t="t" r="r" b="b"/>
            <a:pathLst>
              <a:path w="3686175" h="4953000">
                <a:moveTo>
                  <a:pt x="114308" y="0"/>
                </a:moveTo>
                <a:lnTo>
                  <a:pt x="3571867" y="0"/>
                </a:lnTo>
                <a:cubicBezTo>
                  <a:pt x="3634997" y="0"/>
                  <a:pt x="3686175" y="51178"/>
                  <a:pt x="3686175" y="114308"/>
                </a:cubicBezTo>
                <a:lnTo>
                  <a:pt x="3686175" y="4838692"/>
                </a:lnTo>
                <a:cubicBezTo>
                  <a:pt x="3686175" y="4901822"/>
                  <a:pt x="3634997" y="4953000"/>
                  <a:pt x="3571867" y="4953000"/>
                </a:cubicBezTo>
                <a:lnTo>
                  <a:pt x="114308" y="4953000"/>
                </a:lnTo>
                <a:cubicBezTo>
                  <a:pt x="51178" y="4953000"/>
                  <a:pt x="0" y="4901822"/>
                  <a:pt x="0" y="483869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flip="none" rotWithShape="1">
            <a:gsLst>
              <a:gs pos="0">
                <a:srgbClr val="FF2056"/>
              </a:gs>
              <a:gs pos="100000">
                <a:srgbClr val="C70036"/>
              </a:gs>
            </a:gsLst>
            <a:lin ang="2700000" scaled="1"/>
          </a:gradFill>
        </p:spPr>
      </p:sp>
      <p:sp>
        <p:nvSpPr>
          <p:cNvPr id="1048888" name="Shape 32"/>
          <p:cNvSpPr/>
          <p:nvPr/>
        </p:nvSpPr>
        <p:spPr>
          <a:xfrm>
            <a:off x="8391546" y="169291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1048889" name="Text 33"/>
          <p:cNvSpPr/>
          <p:nvPr/>
        </p:nvSpPr>
        <p:spPr>
          <a:xfrm>
            <a:off x="8334396" y="1692910"/>
            <a:ext cx="6477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1048890" name="Text 34"/>
          <p:cNvSpPr/>
          <p:nvPr/>
        </p:nvSpPr>
        <p:spPr>
          <a:xfrm>
            <a:off x="9039246" y="1711960"/>
            <a:ext cx="2438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Harness Engineering</a:t>
            </a:r>
            <a:endParaRPr lang="en-US" sz="1600" dirty="0"/>
          </a:p>
        </p:txBody>
      </p:sp>
      <p:sp>
        <p:nvSpPr>
          <p:cNvPr id="1048891" name="Text 35"/>
          <p:cNvSpPr/>
          <p:nvPr/>
        </p:nvSpPr>
        <p:spPr>
          <a:xfrm>
            <a:off x="9039246" y="2016760"/>
            <a:ext cx="2390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FCCD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2026-</a:t>
            </a:r>
            <a:endParaRPr lang="en-US" sz="2000" dirty="0"/>
          </a:p>
        </p:txBody>
      </p:sp>
      <p:sp>
        <p:nvSpPr>
          <p:cNvPr id="1048892" name="Shape 36"/>
          <p:cNvSpPr/>
          <p:nvPr/>
        </p:nvSpPr>
        <p:spPr>
          <a:xfrm>
            <a:off x="8391546" y="2378710"/>
            <a:ext cx="3305175" cy="685800"/>
          </a:xfrm>
          <a:custGeom>
            <a:avLst/>
            <a:gdLst/>
            <a:ahLst/>
            <a:cxnLst/>
            <a:rect l="l" t="t" r="r" b="b"/>
            <a:pathLst>
              <a:path w="3305175" h="685800">
                <a:moveTo>
                  <a:pt x="76199" y="0"/>
                </a:moveTo>
                <a:lnTo>
                  <a:pt x="3228976" y="0"/>
                </a:lnTo>
                <a:cubicBezTo>
                  <a:pt x="3271059" y="0"/>
                  <a:pt x="3305175" y="34116"/>
                  <a:pt x="3305175" y="76199"/>
                </a:cubicBezTo>
                <a:lnTo>
                  <a:pt x="3305175" y="609601"/>
                </a:lnTo>
                <a:cubicBezTo>
                  <a:pt x="3305175" y="651684"/>
                  <a:pt x="3271059" y="685800"/>
                  <a:pt x="32289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1048893" name="Text 37"/>
          <p:cNvSpPr/>
          <p:nvPr/>
        </p:nvSpPr>
        <p:spPr>
          <a:xfrm>
            <a:off x="8505846" y="2493010"/>
            <a:ext cx="31527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核心思想</a:t>
            </a:r>
            <a:endParaRPr lang="en-US" sz="2000" dirty="0"/>
          </a:p>
        </p:txBody>
      </p:sp>
      <p:sp>
        <p:nvSpPr>
          <p:cNvPr id="1048894" name="Text 38"/>
          <p:cNvSpPr/>
          <p:nvPr/>
        </p:nvSpPr>
        <p:spPr>
          <a:xfrm>
            <a:off x="8505846" y="2759710"/>
            <a:ext cx="3143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FE4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构建Agent运行的"环境"</a:t>
            </a:r>
            <a:endParaRPr lang="en-US" sz="2000" dirty="0"/>
          </a:p>
        </p:txBody>
      </p:sp>
      <p:sp>
        <p:nvSpPr>
          <p:cNvPr id="1048895" name="Shape 39"/>
          <p:cNvSpPr/>
          <p:nvPr/>
        </p:nvSpPr>
        <p:spPr>
          <a:xfrm>
            <a:off x="8391546" y="3140710"/>
            <a:ext cx="3305175" cy="685800"/>
          </a:xfrm>
          <a:custGeom>
            <a:avLst/>
            <a:gdLst/>
            <a:ahLst/>
            <a:cxnLst/>
            <a:rect l="l" t="t" r="r" b="b"/>
            <a:pathLst>
              <a:path w="3305175" h="685800">
                <a:moveTo>
                  <a:pt x="76199" y="0"/>
                </a:moveTo>
                <a:lnTo>
                  <a:pt x="3228976" y="0"/>
                </a:lnTo>
                <a:cubicBezTo>
                  <a:pt x="3271059" y="0"/>
                  <a:pt x="3305175" y="34116"/>
                  <a:pt x="3305175" y="76199"/>
                </a:cubicBezTo>
                <a:lnTo>
                  <a:pt x="3305175" y="609601"/>
                </a:lnTo>
                <a:cubicBezTo>
                  <a:pt x="3305175" y="651684"/>
                  <a:pt x="3271059" y="685800"/>
                  <a:pt x="32289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1048896" name="Text 40"/>
          <p:cNvSpPr/>
          <p:nvPr/>
        </p:nvSpPr>
        <p:spPr>
          <a:xfrm>
            <a:off x="8505846" y="3255010"/>
            <a:ext cx="31527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技术特征</a:t>
            </a:r>
            <a:endParaRPr lang="en-US" sz="2000" dirty="0"/>
          </a:p>
        </p:txBody>
      </p:sp>
      <p:sp>
        <p:nvSpPr>
          <p:cNvPr id="1048897" name="Text 41"/>
          <p:cNvSpPr/>
          <p:nvPr/>
        </p:nvSpPr>
        <p:spPr>
          <a:xfrm>
            <a:off x="8505846" y="3521710"/>
            <a:ext cx="3143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rgbClr val="FFE4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架构</a:t>
            </a:r>
            <a:r>
              <a:rPr lang="en-US" sz="1200" dirty="0" err="1">
                <a:solidFill>
                  <a:srgbClr val="FFE4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约束、反馈、长期运行</a:t>
            </a:r>
            <a:endParaRPr lang="en-US" sz="2000" dirty="0"/>
          </a:p>
        </p:txBody>
      </p:sp>
      <p:sp>
        <p:nvSpPr>
          <p:cNvPr id="1048898" name="Shape 42"/>
          <p:cNvSpPr/>
          <p:nvPr/>
        </p:nvSpPr>
        <p:spPr>
          <a:xfrm>
            <a:off x="8391546" y="3902710"/>
            <a:ext cx="3305175" cy="685800"/>
          </a:xfrm>
          <a:custGeom>
            <a:avLst/>
            <a:gdLst/>
            <a:ahLst/>
            <a:cxnLst/>
            <a:rect l="l" t="t" r="r" b="b"/>
            <a:pathLst>
              <a:path w="3305175" h="685800">
                <a:moveTo>
                  <a:pt x="76199" y="0"/>
                </a:moveTo>
                <a:lnTo>
                  <a:pt x="3228976" y="0"/>
                </a:lnTo>
                <a:cubicBezTo>
                  <a:pt x="3271059" y="0"/>
                  <a:pt x="3305175" y="34116"/>
                  <a:pt x="3305175" y="76199"/>
                </a:cubicBezTo>
                <a:lnTo>
                  <a:pt x="3305175" y="609601"/>
                </a:lnTo>
                <a:cubicBezTo>
                  <a:pt x="3305175" y="651684"/>
                  <a:pt x="3271059" y="685800"/>
                  <a:pt x="32289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1048899" name="Text 43"/>
          <p:cNvSpPr/>
          <p:nvPr/>
        </p:nvSpPr>
        <p:spPr>
          <a:xfrm>
            <a:off x="8505846" y="4017010"/>
            <a:ext cx="31527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Human角色</a:t>
            </a:r>
            <a:endParaRPr lang="en-US" sz="2000" dirty="0"/>
          </a:p>
        </p:txBody>
      </p:sp>
      <p:sp>
        <p:nvSpPr>
          <p:cNvPr id="1048900" name="Text 44"/>
          <p:cNvSpPr/>
          <p:nvPr/>
        </p:nvSpPr>
        <p:spPr>
          <a:xfrm>
            <a:off x="8505846" y="4283710"/>
            <a:ext cx="3143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FE4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Human-on-the-loop，</a:t>
            </a:r>
            <a:r>
              <a:rPr lang="zh-CN" altLang="en-US" sz="1200" dirty="0">
                <a:solidFill>
                  <a:srgbClr val="FFE4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自主执行</a:t>
            </a:r>
            <a:endParaRPr lang="en-US" sz="2000" dirty="0"/>
          </a:p>
        </p:txBody>
      </p:sp>
      <p:sp>
        <p:nvSpPr>
          <p:cNvPr id="1048901" name="Shape 40"/>
          <p:cNvSpPr/>
          <p:nvPr/>
        </p:nvSpPr>
        <p:spPr>
          <a:xfrm>
            <a:off x="2297170" y="5134610"/>
            <a:ext cx="7231958" cy="1638300"/>
          </a:xfrm>
          <a:custGeom>
            <a:avLst/>
            <a:gdLst/>
            <a:ahLst/>
            <a:cxnLst/>
            <a:rect l="l" t="t" r="r" b="b"/>
            <a:pathLst>
              <a:path w="5619750" h="1638300">
                <a:moveTo>
                  <a:pt x="114304" y="0"/>
                </a:moveTo>
                <a:lnTo>
                  <a:pt x="5505446" y="0"/>
                </a:lnTo>
                <a:cubicBezTo>
                  <a:pt x="5568574" y="0"/>
                  <a:pt x="5619750" y="51176"/>
                  <a:pt x="5619750" y="114304"/>
                </a:cubicBezTo>
                <a:lnTo>
                  <a:pt x="5619750" y="1523996"/>
                </a:lnTo>
                <a:cubicBezTo>
                  <a:pt x="5619750" y="1587124"/>
                  <a:pt x="5568574" y="1638300"/>
                  <a:pt x="5505446" y="1638300"/>
                </a:cubicBezTo>
                <a:lnTo>
                  <a:pt x="114304" y="1638300"/>
                </a:lnTo>
                <a:cubicBezTo>
                  <a:pt x="51176" y="1638300"/>
                  <a:pt x="0" y="1587124"/>
                  <a:pt x="0" y="152399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F1F5F9"/>
          </a:solidFill>
        </p:spPr>
      </p:sp>
      <p:sp>
        <p:nvSpPr>
          <p:cNvPr id="1048902" name="Text 41"/>
          <p:cNvSpPr/>
          <p:nvPr/>
        </p:nvSpPr>
        <p:spPr>
          <a:xfrm>
            <a:off x="2569647" y="5325110"/>
            <a:ext cx="6864231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r>
              <a:rPr lang="en-US" altLang="zh-CN" sz="15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gentic Engineering</a:t>
            </a:r>
            <a:r>
              <a:rPr lang="zh-CN" altLang="en-US" sz="15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</a:t>
            </a:r>
            <a:r>
              <a:rPr lang="en-US" sz="1500" b="1" dirty="0" err="1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</a:t>
            </a:r>
            <a:r>
              <a:rPr lang="zh-CN" altLang="en-US" sz="15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变化</a:t>
            </a:r>
            <a:endParaRPr lang="en-US" sz="1600" dirty="0"/>
          </a:p>
        </p:txBody>
      </p:sp>
      <p:sp>
        <p:nvSpPr>
          <p:cNvPr id="1048903" name="Shape 42"/>
          <p:cNvSpPr/>
          <p:nvPr/>
        </p:nvSpPr>
        <p:spPr>
          <a:xfrm>
            <a:off x="2596972" y="5706110"/>
            <a:ext cx="6741656" cy="876300"/>
          </a:xfrm>
          <a:custGeom>
            <a:avLst/>
            <a:gdLst/>
            <a:ahLst/>
            <a:cxnLst/>
            <a:rect l="l" t="t" r="r" b="b"/>
            <a:pathLst>
              <a:path w="5238750" h="876300">
                <a:moveTo>
                  <a:pt x="76203" y="0"/>
                </a:moveTo>
                <a:lnTo>
                  <a:pt x="5162547" y="0"/>
                </a:lnTo>
                <a:cubicBezTo>
                  <a:pt x="5204633" y="0"/>
                  <a:pt x="5238750" y="34117"/>
                  <a:pt x="5238750" y="76203"/>
                </a:cubicBezTo>
                <a:lnTo>
                  <a:pt x="5238750" y="800097"/>
                </a:lnTo>
                <a:cubicBezTo>
                  <a:pt x="5238750" y="842183"/>
                  <a:pt x="5204633" y="876300"/>
                  <a:pt x="516254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48904" name="Text 43"/>
          <p:cNvSpPr/>
          <p:nvPr/>
        </p:nvSpPr>
        <p:spPr>
          <a:xfrm>
            <a:off x="2746873" y="5858510"/>
            <a:ext cx="649650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zh-CN" altLang="en-US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“怎么想”</a:t>
            </a:r>
            <a:r>
              <a:rPr lang="en-US" altLang="zh-CN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Wingdings" panose="05000000000000000000" pitchFamily="2" charset="2"/>
              </a:rPr>
              <a:t> </a:t>
            </a:r>
            <a:r>
              <a:rPr lang="zh-CN" altLang="en-US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Wingdings" panose="05000000000000000000" pitchFamily="2" charset="2"/>
              </a:rPr>
              <a:t>“怎么看” </a:t>
            </a:r>
            <a:r>
              <a:rPr lang="en-US" altLang="zh-CN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Wingdings" panose="05000000000000000000" pitchFamily="2" charset="2"/>
              </a:rPr>
              <a:t> </a:t>
            </a:r>
            <a:r>
              <a:rPr lang="zh-CN" altLang="en-US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Wingdings" panose="05000000000000000000" pitchFamily="2" charset="2"/>
              </a:rPr>
              <a:t>“怎么做”</a:t>
            </a:r>
            <a:endParaRPr lang="en-US" sz="1600" dirty="0"/>
          </a:p>
        </p:txBody>
      </p:sp>
      <p:sp>
        <p:nvSpPr>
          <p:cNvPr id="1048905" name="Text 44"/>
          <p:cNvSpPr/>
          <p:nvPr/>
        </p:nvSpPr>
        <p:spPr>
          <a:xfrm>
            <a:off x="2784349" y="6239510"/>
            <a:ext cx="6435217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zh-CN" sz="105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Agentic Engineering </a:t>
            </a:r>
            <a:r>
              <a:rPr lang="zh-CN" altLang="en-US" sz="105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的演变并非线性的，而是一个逻辑层不断向下沉降的过程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9" name="Shape 0"/>
          <p:cNvSpPr/>
          <p:nvPr/>
        </p:nvSpPr>
        <p:spPr>
          <a:xfrm>
            <a:off x="381000" y="38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2B7FFF"/>
          </a:solidFill>
        </p:spPr>
      </p:sp>
      <p:sp>
        <p:nvSpPr>
          <p:cNvPr id="1048910" name="Text 1"/>
          <p:cNvSpPr/>
          <p:nvPr/>
        </p:nvSpPr>
        <p:spPr>
          <a:xfrm>
            <a:off x="333375" y="381000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600" dirty="0"/>
          </a:p>
        </p:txBody>
      </p:sp>
      <p:sp>
        <p:nvSpPr>
          <p:cNvPr id="1048911" name="Text 2"/>
          <p:cNvSpPr/>
          <p:nvPr/>
        </p:nvSpPr>
        <p:spPr>
          <a:xfrm>
            <a:off x="952500" y="419100"/>
            <a:ext cx="56292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第一次跃迁：Prompt Engineering</a:t>
            </a:r>
            <a:endParaRPr lang="en-US" sz="1600" dirty="0"/>
          </a:p>
        </p:txBody>
      </p:sp>
      <p:sp>
        <p:nvSpPr>
          <p:cNvPr id="1048912" name="Shape 3"/>
          <p:cNvSpPr/>
          <p:nvPr/>
        </p:nvSpPr>
        <p:spPr>
          <a:xfrm>
            <a:off x="381000" y="9144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2B7FFF"/>
          </a:solidFill>
        </p:spPr>
      </p:sp>
      <p:sp>
        <p:nvSpPr>
          <p:cNvPr id="1048913" name="Text 4"/>
          <p:cNvSpPr/>
          <p:nvPr/>
        </p:nvSpPr>
        <p:spPr>
          <a:xfrm>
            <a:off x="381000" y="1028700"/>
            <a:ext cx="11515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2022-：如何与模型"说话"</a:t>
            </a:r>
            <a:endParaRPr lang="en-US" sz="1600" dirty="0"/>
          </a:p>
        </p:txBody>
      </p:sp>
      <p:sp>
        <p:nvSpPr>
          <p:cNvPr id="1048914" name="Shape 5"/>
          <p:cNvSpPr/>
          <p:nvPr/>
        </p:nvSpPr>
        <p:spPr>
          <a:xfrm>
            <a:off x="398317" y="1447800"/>
            <a:ext cx="5713267" cy="1600200"/>
          </a:xfrm>
          <a:custGeom>
            <a:avLst/>
            <a:gdLst/>
            <a:ahLst/>
            <a:cxnLst/>
            <a:rect l="l" t="t" r="r" b="b"/>
            <a:pathLst>
              <a:path w="5598968" h="1600200">
                <a:moveTo>
                  <a:pt x="34636" y="0"/>
                </a:moveTo>
                <a:lnTo>
                  <a:pt x="5484666" y="0"/>
                </a:lnTo>
                <a:cubicBezTo>
                  <a:pt x="5547751" y="0"/>
                  <a:pt x="5598968" y="51217"/>
                  <a:pt x="5598968" y="114302"/>
                </a:cubicBezTo>
                <a:lnTo>
                  <a:pt x="5598968" y="1485898"/>
                </a:lnTo>
                <a:cubicBezTo>
                  <a:pt x="5598968" y="1548983"/>
                  <a:pt x="5547751" y="1600200"/>
                  <a:pt x="5484666" y="1600200"/>
                </a:cubicBezTo>
                <a:lnTo>
                  <a:pt x="34636" y="1600200"/>
                </a:lnTo>
                <a:cubicBezTo>
                  <a:pt x="15507" y="1600200"/>
                  <a:pt x="0" y="1584693"/>
                  <a:pt x="0" y="1565564"/>
                </a:cubicBezTo>
                <a:lnTo>
                  <a:pt x="0" y="34636"/>
                </a:lnTo>
                <a:cubicBezTo>
                  <a:pt x="0" y="15507"/>
                  <a:pt x="15507" y="0"/>
                  <a:pt x="34636" y="0"/>
                </a:cubicBezTo>
                <a:close/>
              </a:path>
            </a:pathLst>
          </a:custGeom>
          <a:solidFill>
            <a:srgbClr val="EFF6FF"/>
          </a:solidFill>
        </p:spPr>
        <p:txBody>
          <a:bodyPr/>
          <a:lstStyle/>
          <a:p>
            <a:r>
              <a:rPr lang="zh-CN" altLang="en-US"/>
              <a:t>
</a:t>
            </a:r>
          </a:p>
        </p:txBody>
      </p:sp>
      <p:sp>
        <p:nvSpPr>
          <p:cNvPr id="1048915" name="Shape 6"/>
          <p:cNvSpPr/>
          <p:nvPr/>
        </p:nvSpPr>
        <p:spPr>
          <a:xfrm>
            <a:off x="398318" y="1447800"/>
            <a:ext cx="34636" cy="1600200"/>
          </a:xfrm>
          <a:custGeom>
            <a:avLst/>
            <a:gdLst/>
            <a:ahLst/>
            <a:cxnLst/>
            <a:rect l="l" t="t" r="r" b="b"/>
            <a:pathLst>
              <a:path w="34636" h="1600200">
                <a:moveTo>
                  <a:pt x="34636" y="0"/>
                </a:moveTo>
                <a:lnTo>
                  <a:pt x="34636" y="0"/>
                </a:lnTo>
                <a:lnTo>
                  <a:pt x="34636" y="1600200"/>
                </a:lnTo>
                <a:lnTo>
                  <a:pt x="34636" y="1600200"/>
                </a:lnTo>
                <a:cubicBezTo>
                  <a:pt x="15507" y="1600200"/>
                  <a:pt x="0" y="1584693"/>
                  <a:pt x="0" y="1565564"/>
                </a:cubicBezTo>
                <a:lnTo>
                  <a:pt x="0" y="34636"/>
                </a:lnTo>
                <a:cubicBezTo>
                  <a:pt x="0" y="15507"/>
                  <a:pt x="15507" y="0"/>
                  <a:pt x="34636" y="0"/>
                </a:cubicBezTo>
                <a:close/>
              </a:path>
            </a:pathLst>
          </a:custGeom>
          <a:solidFill>
            <a:srgbClr val="2B7FFF"/>
          </a:solidFill>
        </p:spPr>
      </p:sp>
      <p:sp>
        <p:nvSpPr>
          <p:cNvPr id="1048916" name="Shape 7"/>
          <p:cNvSpPr/>
          <p:nvPr/>
        </p:nvSpPr>
        <p:spPr>
          <a:xfrm>
            <a:off x="618043" y="16764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23812"/>
                </a:moveTo>
                <a:cubicBezTo>
                  <a:pt x="146596" y="23812"/>
                  <a:pt x="178594" y="55811"/>
                  <a:pt x="178594" y="95250"/>
                </a:cubicBezTo>
                <a:cubicBezTo>
                  <a:pt x="178594" y="134689"/>
                  <a:pt x="146596" y="166688"/>
                  <a:pt x="107156" y="166688"/>
                </a:cubicBezTo>
                <a:cubicBezTo>
                  <a:pt x="82897" y="166688"/>
                  <a:pt x="61429" y="154595"/>
                  <a:pt x="48518" y="136066"/>
                </a:cubicBezTo>
                <a:cubicBezTo>
                  <a:pt x="44760" y="130671"/>
                  <a:pt x="37319" y="129369"/>
                  <a:pt x="31924" y="133127"/>
                </a:cubicBezTo>
                <a:cubicBezTo>
                  <a:pt x="26529" y="136885"/>
                  <a:pt x="25226" y="144326"/>
                  <a:pt x="28984" y="149721"/>
                </a:cubicBezTo>
                <a:cubicBezTo>
                  <a:pt x="46174" y="174352"/>
                  <a:pt x="74786" y="190500"/>
                  <a:pt x="107156" y="190500"/>
                </a:cubicBezTo>
                <a:cubicBezTo>
                  <a:pt x="159767" y="190500"/>
                  <a:pt x="202406" y="147861"/>
                  <a:pt x="202406" y="95250"/>
                </a:cubicBezTo>
                <a:cubicBezTo>
                  <a:pt x="202406" y="42639"/>
                  <a:pt x="159767" y="0"/>
                  <a:pt x="107156" y="0"/>
                </a:cubicBezTo>
                <a:cubicBezTo>
                  <a:pt x="75270" y="0"/>
                  <a:pt x="47067" y="15664"/>
                  <a:pt x="29766" y="39700"/>
                </a:cubicBezTo>
                <a:lnTo>
                  <a:pt x="29766" y="29766"/>
                </a:lnTo>
                <a:cubicBezTo>
                  <a:pt x="29766" y="23180"/>
                  <a:pt x="24445" y="17859"/>
                  <a:pt x="17859" y="17859"/>
                </a:cubicBezTo>
                <a:cubicBezTo>
                  <a:pt x="11274" y="17859"/>
                  <a:pt x="5953" y="23180"/>
                  <a:pt x="5953" y="29766"/>
                </a:cubicBezTo>
                <a:lnTo>
                  <a:pt x="5953" y="71438"/>
                </a:lnTo>
                <a:cubicBezTo>
                  <a:pt x="5953" y="78023"/>
                  <a:pt x="11274" y="83344"/>
                  <a:pt x="17859" y="83344"/>
                </a:cubicBezTo>
                <a:lnTo>
                  <a:pt x="27012" y="83344"/>
                </a:lnTo>
                <a:cubicBezTo>
                  <a:pt x="27198" y="83344"/>
                  <a:pt x="27384" y="83344"/>
                  <a:pt x="27570" y="83344"/>
                </a:cubicBezTo>
                <a:lnTo>
                  <a:pt x="59568" y="83344"/>
                </a:lnTo>
                <a:cubicBezTo>
                  <a:pt x="66154" y="83344"/>
                  <a:pt x="71475" y="78023"/>
                  <a:pt x="71475" y="71438"/>
                </a:cubicBezTo>
                <a:cubicBezTo>
                  <a:pt x="71475" y="64852"/>
                  <a:pt x="66154" y="59531"/>
                  <a:pt x="59568" y="59531"/>
                </a:cubicBezTo>
                <a:lnTo>
                  <a:pt x="45318" y="59531"/>
                </a:lnTo>
                <a:cubicBezTo>
                  <a:pt x="57634" y="38174"/>
                  <a:pt x="80739" y="23812"/>
                  <a:pt x="107156" y="23812"/>
                </a:cubicBezTo>
                <a:close/>
                <a:moveTo>
                  <a:pt x="116086" y="56555"/>
                </a:moveTo>
                <a:cubicBezTo>
                  <a:pt x="116086" y="51606"/>
                  <a:pt x="112105" y="47625"/>
                  <a:pt x="107156" y="47625"/>
                </a:cubicBezTo>
                <a:cubicBezTo>
                  <a:pt x="102208" y="47625"/>
                  <a:pt x="98227" y="51606"/>
                  <a:pt x="98227" y="56555"/>
                </a:cubicBezTo>
                <a:lnTo>
                  <a:pt x="98227" y="95250"/>
                </a:lnTo>
                <a:cubicBezTo>
                  <a:pt x="98227" y="97631"/>
                  <a:pt x="99157" y="99901"/>
                  <a:pt x="100831" y="101575"/>
                </a:cubicBezTo>
                <a:lnTo>
                  <a:pt x="127620" y="128364"/>
                </a:lnTo>
                <a:cubicBezTo>
                  <a:pt x="131118" y="131862"/>
                  <a:pt x="136773" y="131862"/>
                  <a:pt x="140233" y="128364"/>
                </a:cubicBezTo>
                <a:cubicBezTo>
                  <a:pt x="143694" y="124867"/>
                  <a:pt x="143731" y="119211"/>
                  <a:pt x="140233" y="115751"/>
                </a:cubicBezTo>
                <a:lnTo>
                  <a:pt x="116049" y="91567"/>
                </a:lnTo>
                <a:lnTo>
                  <a:pt x="116049" y="56555"/>
                </a:lnTo>
                <a:close/>
              </a:path>
            </a:pathLst>
          </a:custGeom>
          <a:solidFill>
            <a:srgbClr val="2B7FFF"/>
          </a:solidFill>
        </p:spPr>
      </p:sp>
      <p:sp>
        <p:nvSpPr>
          <p:cNvPr id="1048917" name="Text 8"/>
          <p:cNvSpPr/>
          <p:nvPr/>
        </p:nvSpPr>
        <p:spPr>
          <a:xfrm>
            <a:off x="844261" y="1638300"/>
            <a:ext cx="5057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时代背景</a:t>
            </a:r>
            <a:endParaRPr lang="en-US" sz="1600" dirty="0"/>
          </a:p>
        </p:txBody>
      </p:sp>
      <p:sp>
        <p:nvSpPr>
          <p:cNvPr id="1048918" name="Shape 9"/>
          <p:cNvSpPr/>
          <p:nvPr/>
        </p:nvSpPr>
        <p:spPr>
          <a:xfrm>
            <a:off x="625186" y="205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B7FFF"/>
          </a:solidFill>
        </p:spPr>
      </p:sp>
      <p:sp>
        <p:nvSpPr>
          <p:cNvPr id="1048919" name="Text 10"/>
          <p:cNvSpPr/>
          <p:nvPr/>
        </p:nvSpPr>
        <p:spPr>
          <a:xfrm>
            <a:off x="872836" y="2019300"/>
            <a:ext cx="40481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GPT-3/GPT-4爆发，大语言模型首次展现强大文本生成能力</a:t>
            </a:r>
            <a:endParaRPr lang="en-US" sz="1600" dirty="0"/>
          </a:p>
        </p:txBody>
      </p:sp>
      <p:sp>
        <p:nvSpPr>
          <p:cNvPr id="1048920" name="Shape 11"/>
          <p:cNvSpPr/>
          <p:nvPr/>
        </p:nvSpPr>
        <p:spPr>
          <a:xfrm>
            <a:off x="625186" y="2362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B7FFF"/>
          </a:solidFill>
        </p:spPr>
      </p:sp>
      <p:sp>
        <p:nvSpPr>
          <p:cNvPr id="1048921" name="Text 12"/>
          <p:cNvSpPr/>
          <p:nvPr/>
        </p:nvSpPr>
        <p:spPr>
          <a:xfrm>
            <a:off x="872835" y="2324100"/>
            <a:ext cx="5465619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 err="1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设计prompt可显著提升表现</a:t>
            </a:r>
            <a:r>
              <a:rPr lang="zh-CN" altLang="en-US" sz="1200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，即实现对大语言模型内部概率空间的探索与激发</a:t>
            </a:r>
            <a:endParaRPr lang="en-US" sz="1600" dirty="0"/>
          </a:p>
        </p:txBody>
      </p:sp>
      <p:sp>
        <p:nvSpPr>
          <p:cNvPr id="1048922" name="Shape 13"/>
          <p:cNvSpPr/>
          <p:nvPr/>
        </p:nvSpPr>
        <p:spPr>
          <a:xfrm>
            <a:off x="625186" y="2667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B7FFF"/>
          </a:solidFill>
        </p:spPr>
      </p:sp>
      <p:sp>
        <p:nvSpPr>
          <p:cNvPr id="1048923" name="Text 14"/>
          <p:cNvSpPr/>
          <p:nvPr/>
        </p:nvSpPr>
        <p:spPr>
          <a:xfrm>
            <a:off x="872836" y="2628900"/>
            <a:ext cx="28098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早期应用主要围绕如何与模型"说话"展开</a:t>
            </a:r>
            <a:endParaRPr lang="en-US" sz="1600" dirty="0"/>
          </a:p>
        </p:txBody>
      </p:sp>
      <p:sp>
        <p:nvSpPr>
          <p:cNvPr id="1048924" name="Shape 15"/>
          <p:cNvSpPr/>
          <p:nvPr/>
        </p:nvSpPr>
        <p:spPr>
          <a:xfrm>
            <a:off x="398318" y="3200400"/>
            <a:ext cx="5598968" cy="2857500"/>
          </a:xfrm>
          <a:custGeom>
            <a:avLst/>
            <a:gdLst/>
            <a:ahLst/>
            <a:cxnLst/>
            <a:rect l="l" t="t" r="r" b="b"/>
            <a:pathLst>
              <a:path w="5598968" h="2857500">
                <a:moveTo>
                  <a:pt x="34636" y="0"/>
                </a:moveTo>
                <a:lnTo>
                  <a:pt x="5484668" y="0"/>
                </a:lnTo>
                <a:cubicBezTo>
                  <a:pt x="5547752" y="0"/>
                  <a:pt x="5598968" y="51216"/>
                  <a:pt x="5598968" y="114300"/>
                </a:cubicBezTo>
                <a:lnTo>
                  <a:pt x="5598968" y="2743200"/>
                </a:lnTo>
                <a:cubicBezTo>
                  <a:pt x="5598968" y="2806284"/>
                  <a:pt x="5547752" y="2857500"/>
                  <a:pt x="5484668" y="2857500"/>
                </a:cubicBezTo>
                <a:lnTo>
                  <a:pt x="34636" y="2857500"/>
                </a:lnTo>
                <a:cubicBezTo>
                  <a:pt x="15507" y="2857500"/>
                  <a:pt x="0" y="2841993"/>
                  <a:pt x="0" y="2822864"/>
                </a:cubicBezTo>
                <a:lnTo>
                  <a:pt x="0" y="34636"/>
                </a:lnTo>
                <a:cubicBezTo>
                  <a:pt x="0" y="15507"/>
                  <a:pt x="15507" y="0"/>
                  <a:pt x="34636" y="0"/>
                </a:cubicBezTo>
                <a:close/>
              </a:path>
            </a:pathLst>
          </a:custGeom>
          <a:solidFill>
            <a:srgbClr val="ECFDF5"/>
          </a:solidFill>
        </p:spPr>
      </p:sp>
      <p:sp>
        <p:nvSpPr>
          <p:cNvPr id="1048925" name="Shape 16"/>
          <p:cNvSpPr/>
          <p:nvPr/>
        </p:nvSpPr>
        <p:spPr>
          <a:xfrm>
            <a:off x="398318" y="3200400"/>
            <a:ext cx="34636" cy="2857500"/>
          </a:xfrm>
          <a:custGeom>
            <a:avLst/>
            <a:gdLst/>
            <a:ahLst/>
            <a:cxnLst/>
            <a:rect l="l" t="t" r="r" b="b"/>
            <a:pathLst>
              <a:path w="34636" h="2857500">
                <a:moveTo>
                  <a:pt x="34636" y="0"/>
                </a:moveTo>
                <a:lnTo>
                  <a:pt x="34636" y="0"/>
                </a:lnTo>
                <a:lnTo>
                  <a:pt x="34636" y="2857500"/>
                </a:lnTo>
                <a:lnTo>
                  <a:pt x="34636" y="2857500"/>
                </a:lnTo>
                <a:cubicBezTo>
                  <a:pt x="15507" y="2857500"/>
                  <a:pt x="0" y="2841993"/>
                  <a:pt x="0" y="2822864"/>
                </a:cubicBezTo>
                <a:lnTo>
                  <a:pt x="0" y="34636"/>
                </a:lnTo>
                <a:cubicBezTo>
                  <a:pt x="0" y="15507"/>
                  <a:pt x="15507" y="0"/>
                  <a:pt x="34636" y="0"/>
                </a:cubicBezTo>
                <a:close/>
              </a:path>
            </a:pathLst>
          </a:custGeom>
          <a:solidFill>
            <a:srgbClr val="00BC7D"/>
          </a:solidFill>
        </p:spPr>
      </p:sp>
      <p:sp>
        <p:nvSpPr>
          <p:cNvPr id="1048926" name="Shape 17"/>
          <p:cNvSpPr/>
          <p:nvPr/>
        </p:nvSpPr>
        <p:spPr>
          <a:xfrm>
            <a:off x="606136" y="34290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00BC7D"/>
          </a:solidFill>
        </p:spPr>
      </p:sp>
      <p:sp>
        <p:nvSpPr>
          <p:cNvPr id="1048927" name="Text 18"/>
          <p:cNvSpPr/>
          <p:nvPr/>
        </p:nvSpPr>
        <p:spPr>
          <a:xfrm>
            <a:off x="844261" y="3390900"/>
            <a:ext cx="5057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核心技术特征</a:t>
            </a:r>
            <a:endParaRPr lang="en-US" sz="1600" dirty="0"/>
          </a:p>
        </p:txBody>
      </p:sp>
      <p:sp>
        <p:nvSpPr>
          <p:cNvPr id="1048928" name="Shape 19"/>
          <p:cNvSpPr/>
          <p:nvPr/>
        </p:nvSpPr>
        <p:spPr>
          <a:xfrm>
            <a:off x="606136" y="3771900"/>
            <a:ext cx="5200650" cy="647700"/>
          </a:xfrm>
          <a:custGeom>
            <a:avLst/>
            <a:gdLst/>
            <a:ahLst/>
            <a:cxnLst/>
            <a:rect l="l" t="t" r="r" b="b"/>
            <a:pathLst>
              <a:path w="5200650" h="64770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571498"/>
                </a:lnTo>
                <a:cubicBezTo>
                  <a:pt x="5200650" y="613583"/>
                  <a:pt x="5166533" y="647700"/>
                  <a:pt x="512444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48929" name="Text 20"/>
          <p:cNvSpPr/>
          <p:nvPr/>
        </p:nvSpPr>
        <p:spPr>
          <a:xfrm>
            <a:off x="720436" y="3886200"/>
            <a:ext cx="5048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Few-shot Learning</a:t>
            </a:r>
            <a:endParaRPr lang="en-US" sz="1600" dirty="0"/>
          </a:p>
        </p:txBody>
      </p:sp>
      <p:sp>
        <p:nvSpPr>
          <p:cNvPr id="1048930" name="Text 21"/>
          <p:cNvSpPr/>
          <p:nvPr/>
        </p:nvSpPr>
        <p:spPr>
          <a:xfrm>
            <a:off x="720436" y="4114800"/>
            <a:ext cx="5038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05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通过在输入中包含 </a:t>
            </a:r>
            <a:r>
              <a:rPr lang="en-US" altLang="zh-CN" sz="105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2-8 </a:t>
            </a:r>
            <a:r>
              <a:rPr lang="zh-CN" altLang="en-US" sz="105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个任务示例，引导模型识别模式并生成符合预期的输出格式</a:t>
            </a:r>
            <a:endParaRPr lang="en-US" sz="1600" dirty="0"/>
          </a:p>
        </p:txBody>
      </p:sp>
      <p:sp>
        <p:nvSpPr>
          <p:cNvPr id="1048931" name="Shape 22"/>
          <p:cNvSpPr/>
          <p:nvPr/>
        </p:nvSpPr>
        <p:spPr>
          <a:xfrm>
            <a:off x="606136" y="4495800"/>
            <a:ext cx="5200650" cy="647700"/>
          </a:xfrm>
          <a:custGeom>
            <a:avLst/>
            <a:gdLst/>
            <a:ahLst/>
            <a:cxnLst/>
            <a:rect l="l" t="t" r="r" b="b"/>
            <a:pathLst>
              <a:path w="5200650" h="64770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571498"/>
                </a:lnTo>
                <a:cubicBezTo>
                  <a:pt x="5200650" y="613583"/>
                  <a:pt x="5166533" y="647700"/>
                  <a:pt x="512444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48932" name="Text 23"/>
          <p:cNvSpPr/>
          <p:nvPr/>
        </p:nvSpPr>
        <p:spPr>
          <a:xfrm>
            <a:off x="720436" y="4610100"/>
            <a:ext cx="5048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Chain-of-Thought (CoT)</a:t>
            </a:r>
            <a:endParaRPr lang="en-US" sz="1600" dirty="0"/>
          </a:p>
        </p:txBody>
      </p:sp>
      <p:sp>
        <p:nvSpPr>
          <p:cNvPr id="1048933" name="Text 24"/>
          <p:cNvSpPr/>
          <p:nvPr/>
        </p:nvSpPr>
        <p:spPr>
          <a:xfrm>
            <a:off x="720436" y="4838700"/>
            <a:ext cx="5038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引导模型逐步推理而非直接给出答案</a:t>
            </a:r>
            <a:endParaRPr lang="en-US" sz="1600" dirty="0"/>
          </a:p>
        </p:txBody>
      </p:sp>
      <p:sp>
        <p:nvSpPr>
          <p:cNvPr id="1048934" name="Shape 25"/>
          <p:cNvSpPr/>
          <p:nvPr/>
        </p:nvSpPr>
        <p:spPr>
          <a:xfrm>
            <a:off x="606136" y="5219700"/>
            <a:ext cx="5200650" cy="647700"/>
          </a:xfrm>
          <a:custGeom>
            <a:avLst/>
            <a:gdLst/>
            <a:ahLst/>
            <a:cxnLst/>
            <a:rect l="l" t="t" r="r" b="b"/>
            <a:pathLst>
              <a:path w="5200650" h="64770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571498"/>
                </a:lnTo>
                <a:cubicBezTo>
                  <a:pt x="5200650" y="613583"/>
                  <a:pt x="5166533" y="647700"/>
                  <a:pt x="512444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48935" name="Text 26"/>
          <p:cNvSpPr/>
          <p:nvPr/>
        </p:nvSpPr>
        <p:spPr>
          <a:xfrm>
            <a:off x="720436" y="5334000"/>
            <a:ext cx="5048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 err="1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ReAct（Reasoning</a:t>
            </a:r>
            <a:r>
              <a:rPr lang="en-US" sz="12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Acting）</a:t>
            </a:r>
            <a:endParaRPr lang="en-US" sz="1600" dirty="0"/>
          </a:p>
        </p:txBody>
      </p:sp>
      <p:sp>
        <p:nvSpPr>
          <p:cNvPr id="1048936" name="Text 27"/>
          <p:cNvSpPr/>
          <p:nvPr/>
        </p:nvSpPr>
        <p:spPr>
          <a:xfrm>
            <a:off x="720436" y="5562600"/>
            <a:ext cx="5038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05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通过在提示中交织“思考过程”和“动作指令”</a:t>
            </a:r>
            <a:endParaRPr lang="en-US" sz="1600" dirty="0"/>
          </a:p>
        </p:txBody>
      </p:sp>
      <p:sp>
        <p:nvSpPr>
          <p:cNvPr id="1048937" name="Shape 28"/>
          <p:cNvSpPr/>
          <p:nvPr/>
        </p:nvSpPr>
        <p:spPr>
          <a:xfrm>
            <a:off x="6254981" y="1143000"/>
            <a:ext cx="5598968" cy="1905000"/>
          </a:xfrm>
          <a:custGeom>
            <a:avLst/>
            <a:gdLst/>
            <a:ahLst/>
            <a:cxnLst/>
            <a:rect l="l" t="t" r="r" b="b"/>
            <a:pathLst>
              <a:path w="5598968" h="1905000">
                <a:moveTo>
                  <a:pt x="34636" y="0"/>
                </a:moveTo>
                <a:lnTo>
                  <a:pt x="5484668" y="0"/>
                </a:lnTo>
                <a:cubicBezTo>
                  <a:pt x="5547752" y="0"/>
                  <a:pt x="5598968" y="51216"/>
                  <a:pt x="5598968" y="114300"/>
                </a:cubicBezTo>
                <a:lnTo>
                  <a:pt x="5598968" y="1790700"/>
                </a:lnTo>
                <a:cubicBezTo>
                  <a:pt x="5598968" y="1853784"/>
                  <a:pt x="5547752" y="1905000"/>
                  <a:pt x="5484668" y="1905000"/>
                </a:cubicBezTo>
                <a:lnTo>
                  <a:pt x="34636" y="1905000"/>
                </a:lnTo>
                <a:cubicBezTo>
                  <a:pt x="15507" y="1905000"/>
                  <a:pt x="0" y="1889493"/>
                  <a:pt x="0" y="1870364"/>
                </a:cubicBezTo>
                <a:lnTo>
                  <a:pt x="0" y="34636"/>
                </a:lnTo>
                <a:cubicBezTo>
                  <a:pt x="0" y="15507"/>
                  <a:pt x="15507" y="0"/>
                  <a:pt x="34636" y="0"/>
                </a:cubicBezTo>
                <a:close/>
              </a:path>
            </a:pathLst>
          </a:custGeom>
          <a:solidFill>
            <a:srgbClr val="FFFBEB"/>
          </a:solidFill>
        </p:spPr>
      </p:sp>
      <p:sp>
        <p:nvSpPr>
          <p:cNvPr id="1048938" name="Shape 29"/>
          <p:cNvSpPr/>
          <p:nvPr/>
        </p:nvSpPr>
        <p:spPr>
          <a:xfrm>
            <a:off x="6254981" y="1143000"/>
            <a:ext cx="34636" cy="1905000"/>
          </a:xfrm>
          <a:custGeom>
            <a:avLst/>
            <a:gdLst/>
            <a:ahLst/>
            <a:cxnLst/>
            <a:rect l="l" t="t" r="r" b="b"/>
            <a:pathLst>
              <a:path w="34636" h="1905000">
                <a:moveTo>
                  <a:pt x="34636" y="0"/>
                </a:moveTo>
                <a:lnTo>
                  <a:pt x="34636" y="0"/>
                </a:lnTo>
                <a:lnTo>
                  <a:pt x="34636" y="1905000"/>
                </a:lnTo>
                <a:lnTo>
                  <a:pt x="34636" y="1905000"/>
                </a:lnTo>
                <a:cubicBezTo>
                  <a:pt x="15507" y="1905000"/>
                  <a:pt x="0" y="1889493"/>
                  <a:pt x="0" y="1870364"/>
                </a:cubicBezTo>
                <a:lnTo>
                  <a:pt x="0" y="34636"/>
                </a:lnTo>
                <a:cubicBezTo>
                  <a:pt x="0" y="15507"/>
                  <a:pt x="15507" y="0"/>
                  <a:pt x="34636" y="0"/>
                </a:cubicBezTo>
                <a:close/>
              </a:path>
            </a:pathLst>
          </a:custGeom>
          <a:solidFill>
            <a:srgbClr val="FE9A00"/>
          </a:solidFill>
        </p:spPr>
      </p:sp>
      <p:sp>
        <p:nvSpPr>
          <p:cNvPr id="1048939" name="Shape 30"/>
          <p:cNvSpPr/>
          <p:nvPr/>
        </p:nvSpPr>
        <p:spPr>
          <a:xfrm>
            <a:off x="6486612" y="1371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E9A00"/>
          </a:solidFill>
        </p:spPr>
      </p:sp>
      <p:sp>
        <p:nvSpPr>
          <p:cNvPr id="1048940" name="Text 31"/>
          <p:cNvSpPr/>
          <p:nvPr/>
        </p:nvSpPr>
        <p:spPr>
          <a:xfrm>
            <a:off x="6700925" y="1333500"/>
            <a:ext cx="5057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关键局限</a:t>
            </a:r>
            <a:endParaRPr lang="en-US" sz="1600" dirty="0"/>
          </a:p>
        </p:txBody>
      </p:sp>
      <p:sp>
        <p:nvSpPr>
          <p:cNvPr id="1048941" name="Shape 32"/>
          <p:cNvSpPr/>
          <p:nvPr/>
        </p:nvSpPr>
        <p:spPr>
          <a:xfrm>
            <a:off x="6481850" y="1752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E9A00"/>
          </a:solidFill>
        </p:spPr>
      </p:sp>
      <p:sp>
        <p:nvSpPr>
          <p:cNvPr id="1048942" name="Text 33"/>
          <p:cNvSpPr/>
          <p:nvPr/>
        </p:nvSpPr>
        <p:spPr>
          <a:xfrm>
            <a:off x="6729500" y="1714500"/>
            <a:ext cx="2667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单次交互</a:t>
            </a:r>
            <a:r>
              <a:rPr lang="en-US" sz="1200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：每次对话独立，无状态管理</a:t>
            </a:r>
            <a:endParaRPr lang="en-US" sz="1600" dirty="0"/>
          </a:p>
        </p:txBody>
      </p:sp>
      <p:sp>
        <p:nvSpPr>
          <p:cNvPr id="1048943" name="Shape 34"/>
          <p:cNvSpPr/>
          <p:nvPr/>
        </p:nvSpPr>
        <p:spPr>
          <a:xfrm>
            <a:off x="6481850" y="205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E9A00"/>
          </a:solidFill>
        </p:spPr>
      </p:sp>
      <p:sp>
        <p:nvSpPr>
          <p:cNvPr id="1048944" name="Text 35"/>
          <p:cNvSpPr/>
          <p:nvPr/>
        </p:nvSpPr>
        <p:spPr>
          <a:xfrm>
            <a:off x="6729500" y="2019300"/>
            <a:ext cx="3124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依赖一次性生成</a:t>
            </a:r>
            <a:r>
              <a:rPr lang="en-US" sz="1200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：模型必须一次给出正确答案</a:t>
            </a:r>
            <a:endParaRPr lang="en-US" sz="1600" dirty="0"/>
          </a:p>
        </p:txBody>
      </p:sp>
      <p:sp>
        <p:nvSpPr>
          <p:cNvPr id="1048945" name="Shape 36"/>
          <p:cNvSpPr/>
          <p:nvPr/>
        </p:nvSpPr>
        <p:spPr>
          <a:xfrm>
            <a:off x="6481850" y="2362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E9A00"/>
          </a:solidFill>
        </p:spPr>
      </p:sp>
      <p:sp>
        <p:nvSpPr>
          <p:cNvPr id="1048946" name="Text 37"/>
          <p:cNvSpPr/>
          <p:nvPr/>
        </p:nvSpPr>
        <p:spPr>
          <a:xfrm>
            <a:off x="6729500" y="2324100"/>
            <a:ext cx="2990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Human工作量大</a:t>
            </a:r>
            <a:r>
              <a:rPr lang="en-US" sz="1200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：需精心设计每个prompt</a:t>
            </a:r>
            <a:endParaRPr lang="en-US" sz="1600" dirty="0"/>
          </a:p>
        </p:txBody>
      </p:sp>
      <p:sp>
        <p:nvSpPr>
          <p:cNvPr id="1048947" name="Shape 38"/>
          <p:cNvSpPr/>
          <p:nvPr/>
        </p:nvSpPr>
        <p:spPr>
          <a:xfrm>
            <a:off x="6481850" y="2667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E9A00"/>
          </a:solidFill>
        </p:spPr>
      </p:sp>
      <p:sp>
        <p:nvSpPr>
          <p:cNvPr id="1048948" name="Text 39"/>
          <p:cNvSpPr/>
          <p:nvPr/>
        </p:nvSpPr>
        <p:spPr>
          <a:xfrm>
            <a:off x="6729500" y="2628900"/>
            <a:ext cx="27717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上下文有限</a:t>
            </a:r>
            <a:r>
              <a:rPr lang="en-US" sz="1200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：早期模型只有4K-8K token</a:t>
            </a:r>
            <a:endParaRPr lang="en-US" sz="1600" dirty="0"/>
          </a:p>
        </p:txBody>
      </p:sp>
      <p:sp>
        <p:nvSpPr>
          <p:cNvPr id="1048949" name="Shape 45"/>
          <p:cNvSpPr/>
          <p:nvPr/>
        </p:nvSpPr>
        <p:spPr>
          <a:xfrm>
            <a:off x="6191250" y="5295900"/>
            <a:ext cx="5619750" cy="762000"/>
          </a:xfrm>
          <a:custGeom>
            <a:avLst/>
            <a:gdLst/>
            <a:ahLst/>
            <a:cxnLst/>
            <a:rect l="l" t="t" r="r" b="b"/>
            <a:pathLst>
              <a:path w="5619750" h="762000">
                <a:moveTo>
                  <a:pt x="114300" y="0"/>
                </a:moveTo>
                <a:lnTo>
                  <a:pt x="5505450" y="0"/>
                </a:lnTo>
                <a:cubicBezTo>
                  <a:pt x="5568534" y="0"/>
                  <a:pt x="5619750" y="51216"/>
                  <a:pt x="5619750" y="114300"/>
                </a:cubicBezTo>
                <a:lnTo>
                  <a:pt x="5619750" y="647700"/>
                </a:lnTo>
                <a:cubicBezTo>
                  <a:pt x="5619750" y="710784"/>
                  <a:pt x="5568534" y="762000"/>
                  <a:pt x="550545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B7FFF"/>
              </a:gs>
              <a:gs pos="100000">
                <a:srgbClr val="155DFC"/>
              </a:gs>
            </a:gsLst>
            <a:lin ang="0" scaled="1"/>
          </a:gradFill>
        </p:spPr>
      </p:sp>
      <p:sp>
        <p:nvSpPr>
          <p:cNvPr id="1048950" name="Shape 46"/>
          <p:cNvSpPr/>
          <p:nvPr/>
        </p:nvSpPr>
        <p:spPr>
          <a:xfrm>
            <a:off x="6381750" y="5482937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48951" name="Text 47"/>
          <p:cNvSpPr/>
          <p:nvPr/>
        </p:nvSpPr>
        <p:spPr>
          <a:xfrm>
            <a:off x="6591300" y="5448300"/>
            <a:ext cx="5143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核心洞察：</a:t>
            </a:r>
            <a:r>
              <a:rPr 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更好的prompt能带来更好的结果，但无法解决状态管理和长期任务问题</a:t>
            </a:r>
            <a:endParaRPr lang="en-US" sz="1600" dirty="0"/>
          </a:p>
        </p:txBody>
      </p:sp>
      <p:sp>
        <p:nvSpPr>
          <p:cNvPr id="1048952" name="文本框 49"/>
          <p:cNvSpPr txBox="1"/>
          <p:nvPr/>
        </p:nvSpPr>
        <p:spPr>
          <a:xfrm>
            <a:off x="2314582" y="6273153"/>
            <a:ext cx="10711180" cy="510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/>
              <a:t>Wei J, Wang X, Schuurmans D, et al. Chain-of-thought prompting elicits reasoning in large language models[J]. Advances in neural information processing systems, 2022, 35: 24824-24837.c</a:t>
            </a:r>
          </a:p>
          <a:p>
            <a:r>
              <a:rPr lang="en-US" altLang="zh-CN" sz="1000" dirty="0"/>
              <a:t>Yao S, Zhao J, Yu D, et al. </a:t>
            </a:r>
            <a:r>
              <a:rPr lang="en-US" altLang="zh-CN" sz="1000" dirty="0" err="1"/>
              <a:t>ReAct</a:t>
            </a:r>
            <a:r>
              <a:rPr lang="en-US" altLang="zh-CN" sz="1000" dirty="0"/>
              <a:t>: Synergizing Reasoning and Acting in Language Models[C]//</a:t>
            </a:r>
            <a:r>
              <a:rPr lang="en-US" altLang="zh-CN" sz="1000" dirty="0" err="1"/>
              <a:t>NeurIPS</a:t>
            </a:r>
            <a:r>
              <a:rPr lang="en-US" altLang="zh-CN" sz="1000" dirty="0"/>
              <a:t> 2022 Foundation Models for Decision Making Workshop.</a:t>
            </a:r>
          </a:p>
          <a:p>
            <a:r>
              <a:rPr lang="en-US" altLang="zh-CN" sz="1000" dirty="0"/>
              <a:t>https://github.com/promptslab/Awesome-Prompt-Engineering</a:t>
            </a:r>
            <a:endParaRPr lang="zh-CN" altLang="en-US" sz="1000" dirty="0"/>
          </a:p>
        </p:txBody>
      </p:sp>
      <p:pic>
        <p:nvPicPr>
          <p:cNvPr id="2097158" name="图片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459" y="3390900"/>
            <a:ext cx="4641340" cy="168776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9" name="图片 8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978" y="1362334"/>
            <a:ext cx="6199487" cy="3431858"/>
          </a:xfrm>
          <a:prstGeom prst="rect">
            <a:avLst/>
          </a:prstGeom>
        </p:spPr>
      </p:pic>
      <p:sp>
        <p:nvSpPr>
          <p:cNvPr id="1048956" name="Shape 0"/>
          <p:cNvSpPr/>
          <p:nvPr/>
        </p:nvSpPr>
        <p:spPr>
          <a:xfrm>
            <a:off x="329736" y="329736"/>
            <a:ext cx="395684" cy="395684"/>
          </a:xfrm>
          <a:custGeom>
            <a:avLst/>
            <a:gdLst/>
            <a:ahLst/>
            <a:cxnLst/>
            <a:rect l="l" t="t" r="r" b="b"/>
            <a:pathLst>
              <a:path w="395684" h="395684">
                <a:moveTo>
                  <a:pt x="197842" y="0"/>
                </a:moveTo>
                <a:lnTo>
                  <a:pt x="197842" y="0"/>
                </a:lnTo>
                <a:cubicBezTo>
                  <a:pt x="307034" y="0"/>
                  <a:pt x="395684" y="88650"/>
                  <a:pt x="395684" y="197842"/>
                </a:cubicBezTo>
                <a:lnTo>
                  <a:pt x="395684" y="197842"/>
                </a:lnTo>
                <a:cubicBezTo>
                  <a:pt x="395684" y="307034"/>
                  <a:pt x="307034" y="395684"/>
                  <a:pt x="197842" y="395684"/>
                </a:cubicBezTo>
                <a:lnTo>
                  <a:pt x="197842" y="395684"/>
                </a:lnTo>
                <a:cubicBezTo>
                  <a:pt x="88650" y="395684"/>
                  <a:pt x="0" y="307034"/>
                  <a:pt x="0" y="197842"/>
                </a:cubicBezTo>
                <a:lnTo>
                  <a:pt x="0" y="197842"/>
                </a:lnTo>
                <a:cubicBezTo>
                  <a:pt x="0" y="88650"/>
                  <a:pt x="88650" y="0"/>
                  <a:pt x="197842" y="0"/>
                </a:cubicBezTo>
                <a:close/>
              </a:path>
            </a:pathLst>
          </a:custGeom>
          <a:solidFill>
            <a:srgbClr val="FE9A00"/>
          </a:solidFill>
        </p:spPr>
      </p:sp>
      <p:sp>
        <p:nvSpPr>
          <p:cNvPr id="1048957" name="Text 1"/>
          <p:cNvSpPr/>
          <p:nvPr/>
        </p:nvSpPr>
        <p:spPr>
          <a:xfrm>
            <a:off x="288519" y="329736"/>
            <a:ext cx="478118" cy="3956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98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600" dirty="0"/>
          </a:p>
        </p:txBody>
      </p:sp>
      <p:sp>
        <p:nvSpPr>
          <p:cNvPr id="1048958" name="Text 2"/>
          <p:cNvSpPr/>
          <p:nvPr/>
        </p:nvSpPr>
        <p:spPr>
          <a:xfrm>
            <a:off x="824341" y="362710"/>
            <a:ext cx="4921314" cy="329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37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第二次跃迁：Context Engineering</a:t>
            </a:r>
            <a:endParaRPr lang="en-US" sz="1600" dirty="0"/>
          </a:p>
        </p:txBody>
      </p:sp>
      <p:sp>
        <p:nvSpPr>
          <p:cNvPr id="1048959" name="Shape 3"/>
          <p:cNvSpPr/>
          <p:nvPr/>
        </p:nvSpPr>
        <p:spPr>
          <a:xfrm>
            <a:off x="329736" y="791367"/>
            <a:ext cx="1055156" cy="32974"/>
          </a:xfrm>
          <a:custGeom>
            <a:avLst/>
            <a:gdLst/>
            <a:ahLst/>
            <a:cxnLst/>
            <a:rect l="l" t="t" r="r" b="b"/>
            <a:pathLst>
              <a:path w="1055156" h="32974">
                <a:moveTo>
                  <a:pt x="0" y="0"/>
                </a:moveTo>
                <a:lnTo>
                  <a:pt x="1055156" y="0"/>
                </a:lnTo>
                <a:lnTo>
                  <a:pt x="1055156" y="32974"/>
                </a:lnTo>
                <a:lnTo>
                  <a:pt x="0" y="32974"/>
                </a:lnTo>
                <a:lnTo>
                  <a:pt x="0" y="0"/>
                </a:lnTo>
                <a:close/>
              </a:path>
            </a:pathLst>
          </a:custGeom>
          <a:solidFill>
            <a:srgbClr val="FE9A00"/>
          </a:solidFill>
        </p:spPr>
      </p:sp>
      <p:sp>
        <p:nvSpPr>
          <p:cNvPr id="1048960" name="Text 4"/>
          <p:cNvSpPr/>
          <p:nvPr/>
        </p:nvSpPr>
        <p:spPr>
          <a:xfrm>
            <a:off x="329736" y="890288"/>
            <a:ext cx="11606718" cy="230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8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2024-：从"写好提示词"到"管理上下文"</a:t>
            </a:r>
            <a:endParaRPr lang="en-US" sz="1600" dirty="0"/>
          </a:p>
        </p:txBody>
      </p:sp>
      <p:sp>
        <p:nvSpPr>
          <p:cNvPr id="1048961" name="Text 12"/>
          <p:cNvSpPr/>
          <p:nvPr/>
        </p:nvSpPr>
        <p:spPr>
          <a:xfrm>
            <a:off x="298297" y="6622059"/>
            <a:ext cx="6429858" cy="1648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155D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hlinkClick r:id="rId4"/>
              </a:rPr>
              <a:t>https://www.anthropic.com/engineering/effective-context-engineering-for-ai-agents</a:t>
            </a:r>
            <a:endParaRPr lang="en-US" sz="900" dirty="0">
              <a:solidFill>
                <a:srgbClr val="155DFC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altLang="zh-CN" sz="900" dirty="0">
                <a:hlinkClick r:id="rId5"/>
              </a:rPr>
              <a:t>Tencent HY Research</a:t>
            </a:r>
            <a:endParaRPr lang="en-US" sz="900" dirty="0"/>
          </a:p>
        </p:txBody>
      </p:sp>
      <p:sp>
        <p:nvSpPr>
          <p:cNvPr id="1048962" name="Shape 42"/>
          <p:cNvSpPr/>
          <p:nvPr/>
        </p:nvSpPr>
        <p:spPr>
          <a:xfrm>
            <a:off x="7343846" y="1252998"/>
            <a:ext cx="4515889" cy="2242207"/>
          </a:xfrm>
          <a:custGeom>
            <a:avLst/>
            <a:gdLst/>
            <a:ahLst/>
            <a:cxnLst/>
            <a:rect l="l" t="t" r="r" b="b"/>
            <a:pathLst>
              <a:path w="4515889" h="2242207">
                <a:moveTo>
                  <a:pt x="29976" y="0"/>
                </a:moveTo>
                <a:lnTo>
                  <a:pt x="4416962" y="0"/>
                </a:lnTo>
                <a:cubicBezTo>
                  <a:pt x="4471598" y="0"/>
                  <a:pt x="4515889" y="44291"/>
                  <a:pt x="4515889" y="98926"/>
                </a:cubicBezTo>
                <a:lnTo>
                  <a:pt x="4515889" y="2143281"/>
                </a:lnTo>
                <a:cubicBezTo>
                  <a:pt x="4515889" y="2197916"/>
                  <a:pt x="4471598" y="2242207"/>
                  <a:pt x="4416962" y="2242207"/>
                </a:cubicBezTo>
                <a:lnTo>
                  <a:pt x="29976" y="2242207"/>
                </a:lnTo>
                <a:cubicBezTo>
                  <a:pt x="13421" y="2242207"/>
                  <a:pt x="0" y="2228786"/>
                  <a:pt x="0" y="2212231"/>
                </a:cubicBezTo>
                <a:lnTo>
                  <a:pt x="0" y="29976"/>
                </a:lnTo>
                <a:cubicBezTo>
                  <a:pt x="0" y="13421"/>
                  <a:pt x="13421" y="0"/>
                  <a:pt x="29976" y="0"/>
                </a:cubicBezTo>
                <a:close/>
              </a:path>
            </a:pathLst>
          </a:custGeom>
          <a:solidFill>
            <a:srgbClr val="FFFBEB"/>
          </a:solidFill>
        </p:spPr>
      </p:sp>
      <p:sp>
        <p:nvSpPr>
          <p:cNvPr id="1048963" name="Shape 43"/>
          <p:cNvSpPr/>
          <p:nvPr/>
        </p:nvSpPr>
        <p:spPr>
          <a:xfrm>
            <a:off x="7343846" y="1252998"/>
            <a:ext cx="29976" cy="2242207"/>
          </a:xfrm>
          <a:custGeom>
            <a:avLst/>
            <a:gdLst/>
            <a:ahLst/>
            <a:cxnLst/>
            <a:rect l="l" t="t" r="r" b="b"/>
            <a:pathLst>
              <a:path w="29976" h="2242207">
                <a:moveTo>
                  <a:pt x="29976" y="0"/>
                </a:moveTo>
                <a:lnTo>
                  <a:pt x="29976" y="0"/>
                </a:lnTo>
                <a:lnTo>
                  <a:pt x="29976" y="2242207"/>
                </a:lnTo>
                <a:lnTo>
                  <a:pt x="29976" y="2242207"/>
                </a:lnTo>
                <a:cubicBezTo>
                  <a:pt x="13421" y="2242207"/>
                  <a:pt x="0" y="2228786"/>
                  <a:pt x="0" y="2212231"/>
                </a:cubicBezTo>
                <a:lnTo>
                  <a:pt x="0" y="29976"/>
                </a:lnTo>
                <a:cubicBezTo>
                  <a:pt x="0" y="13421"/>
                  <a:pt x="13421" y="0"/>
                  <a:pt x="29976" y="0"/>
                </a:cubicBezTo>
                <a:close/>
              </a:path>
            </a:pathLst>
          </a:custGeom>
          <a:solidFill>
            <a:srgbClr val="FE9A00"/>
          </a:solidFill>
        </p:spPr>
      </p:sp>
      <p:sp>
        <p:nvSpPr>
          <p:cNvPr id="1048964" name="Shape 44"/>
          <p:cNvSpPr/>
          <p:nvPr/>
        </p:nvSpPr>
        <p:spPr>
          <a:xfrm>
            <a:off x="7511337" y="1417866"/>
            <a:ext cx="164868" cy="164868"/>
          </a:xfrm>
          <a:custGeom>
            <a:avLst/>
            <a:gdLst/>
            <a:ahLst/>
            <a:cxnLst/>
            <a:rect l="l" t="t" r="r" b="b"/>
            <a:pathLst>
              <a:path w="164868" h="164868">
                <a:moveTo>
                  <a:pt x="82434" y="164868"/>
                </a:moveTo>
                <a:cubicBezTo>
                  <a:pt x="127931" y="164868"/>
                  <a:pt x="164868" y="127931"/>
                  <a:pt x="164868" y="82434"/>
                </a:cubicBezTo>
                <a:cubicBezTo>
                  <a:pt x="164868" y="36937"/>
                  <a:pt x="127931" y="0"/>
                  <a:pt x="82434" y="0"/>
                </a:cubicBezTo>
                <a:cubicBezTo>
                  <a:pt x="36937" y="0"/>
                  <a:pt x="0" y="36937"/>
                  <a:pt x="0" y="82434"/>
                </a:cubicBezTo>
                <a:cubicBezTo>
                  <a:pt x="0" y="127931"/>
                  <a:pt x="36937" y="164868"/>
                  <a:pt x="82434" y="164868"/>
                </a:cubicBezTo>
                <a:close/>
                <a:moveTo>
                  <a:pt x="82434" y="43793"/>
                </a:moveTo>
                <a:cubicBezTo>
                  <a:pt x="86717" y="43793"/>
                  <a:pt x="90162" y="47239"/>
                  <a:pt x="90162" y="51521"/>
                </a:cubicBezTo>
                <a:lnTo>
                  <a:pt x="90162" y="87586"/>
                </a:lnTo>
                <a:cubicBezTo>
                  <a:pt x="90162" y="91869"/>
                  <a:pt x="86717" y="95314"/>
                  <a:pt x="82434" y="95314"/>
                </a:cubicBezTo>
                <a:cubicBezTo>
                  <a:pt x="78151" y="95314"/>
                  <a:pt x="74706" y="91869"/>
                  <a:pt x="74706" y="87586"/>
                </a:cubicBezTo>
                <a:lnTo>
                  <a:pt x="74706" y="51521"/>
                </a:lnTo>
                <a:cubicBezTo>
                  <a:pt x="74706" y="47239"/>
                  <a:pt x="78151" y="43793"/>
                  <a:pt x="82434" y="43793"/>
                </a:cubicBezTo>
                <a:close/>
                <a:moveTo>
                  <a:pt x="73836" y="113347"/>
                </a:moveTo>
                <a:cubicBezTo>
                  <a:pt x="73641" y="110156"/>
                  <a:pt x="75232" y="107119"/>
                  <a:pt x="77968" y="105464"/>
                </a:cubicBezTo>
                <a:cubicBezTo>
                  <a:pt x="80704" y="103810"/>
                  <a:pt x="84132" y="103810"/>
                  <a:pt x="86868" y="105464"/>
                </a:cubicBezTo>
                <a:cubicBezTo>
                  <a:pt x="89604" y="107119"/>
                  <a:pt x="91195" y="110156"/>
                  <a:pt x="90999" y="113347"/>
                </a:cubicBezTo>
                <a:cubicBezTo>
                  <a:pt x="91195" y="116538"/>
                  <a:pt x="89604" y="119574"/>
                  <a:pt x="86868" y="121229"/>
                </a:cubicBezTo>
                <a:cubicBezTo>
                  <a:pt x="84132" y="122884"/>
                  <a:pt x="80704" y="122884"/>
                  <a:pt x="77968" y="121229"/>
                </a:cubicBezTo>
                <a:cubicBezTo>
                  <a:pt x="75232" y="119574"/>
                  <a:pt x="73641" y="116538"/>
                  <a:pt x="73836" y="113347"/>
                </a:cubicBezTo>
                <a:close/>
              </a:path>
            </a:pathLst>
          </a:custGeom>
          <a:solidFill>
            <a:srgbClr val="FE9A00"/>
          </a:solidFill>
        </p:spPr>
      </p:sp>
      <p:sp>
        <p:nvSpPr>
          <p:cNvPr id="1048965" name="Text 45"/>
          <p:cNvSpPr/>
          <p:nvPr/>
        </p:nvSpPr>
        <p:spPr>
          <a:xfrm>
            <a:off x="7696814" y="1384892"/>
            <a:ext cx="4113460" cy="230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Context Rot挑战</a:t>
            </a:r>
            <a:endParaRPr lang="en-US" sz="1600" dirty="0"/>
          </a:p>
        </p:txBody>
      </p:sp>
      <p:sp>
        <p:nvSpPr>
          <p:cNvPr id="1048966" name="Shape 46"/>
          <p:cNvSpPr/>
          <p:nvPr/>
        </p:nvSpPr>
        <p:spPr>
          <a:xfrm>
            <a:off x="7490729" y="1714629"/>
            <a:ext cx="4237112" cy="593525"/>
          </a:xfrm>
          <a:custGeom>
            <a:avLst/>
            <a:gdLst/>
            <a:ahLst/>
            <a:cxnLst/>
            <a:rect l="l" t="t" r="r" b="b"/>
            <a:pathLst>
              <a:path w="4237112" h="593525">
                <a:moveTo>
                  <a:pt x="65947" y="0"/>
                </a:moveTo>
                <a:lnTo>
                  <a:pt x="4171165" y="0"/>
                </a:lnTo>
                <a:cubicBezTo>
                  <a:pt x="4207586" y="0"/>
                  <a:pt x="4237112" y="29525"/>
                  <a:pt x="4237112" y="65947"/>
                </a:cubicBezTo>
                <a:lnTo>
                  <a:pt x="4237112" y="527579"/>
                </a:lnTo>
                <a:cubicBezTo>
                  <a:pt x="4237112" y="564000"/>
                  <a:pt x="4207586" y="593525"/>
                  <a:pt x="4171165" y="593525"/>
                </a:cubicBezTo>
                <a:lnTo>
                  <a:pt x="65947" y="593525"/>
                </a:lnTo>
                <a:cubicBezTo>
                  <a:pt x="29525" y="593525"/>
                  <a:pt x="0" y="564000"/>
                  <a:pt x="0" y="527579"/>
                </a:cubicBezTo>
                <a:lnTo>
                  <a:pt x="0" y="65947"/>
                </a:lnTo>
                <a:cubicBezTo>
                  <a:pt x="0" y="29550"/>
                  <a:pt x="29550" y="0"/>
                  <a:pt x="65947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48967" name="Text 47"/>
          <p:cNvSpPr/>
          <p:nvPr/>
        </p:nvSpPr>
        <p:spPr>
          <a:xfrm>
            <a:off x="7589650" y="1813550"/>
            <a:ext cx="4105217" cy="1978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定义</a:t>
            </a:r>
            <a:endParaRPr lang="en-US" sz="1600" dirty="0"/>
          </a:p>
        </p:txBody>
      </p:sp>
      <p:sp>
        <p:nvSpPr>
          <p:cNvPr id="1048968" name="Text 48"/>
          <p:cNvSpPr/>
          <p:nvPr/>
        </p:nvSpPr>
        <p:spPr>
          <a:xfrm>
            <a:off x="7589650" y="2044365"/>
            <a:ext cx="4096974" cy="1648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随着上下文窗口token增加，模型准确回忆信息的能力下降</a:t>
            </a:r>
            <a:endParaRPr lang="en-US" sz="1600" dirty="0"/>
          </a:p>
        </p:txBody>
      </p:sp>
      <p:sp>
        <p:nvSpPr>
          <p:cNvPr id="1048969" name="Text 49"/>
          <p:cNvSpPr/>
          <p:nvPr/>
        </p:nvSpPr>
        <p:spPr>
          <a:xfrm>
            <a:off x="7490729" y="2374101"/>
            <a:ext cx="4294815" cy="1648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b="1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原因1：</a:t>
            </a:r>
            <a:r>
              <a:rPr lang="en-US" sz="909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Transformer的n²复杂度</a:t>
            </a:r>
            <a:endParaRPr lang="en-US" sz="1600" dirty="0"/>
          </a:p>
        </p:txBody>
      </p:sp>
      <p:sp>
        <p:nvSpPr>
          <p:cNvPr id="1048970" name="Text 50"/>
          <p:cNvSpPr/>
          <p:nvPr/>
        </p:nvSpPr>
        <p:spPr>
          <a:xfrm>
            <a:off x="7490729" y="2571943"/>
            <a:ext cx="4294815" cy="1648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b="1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原因2：</a:t>
            </a:r>
            <a:r>
              <a:rPr lang="en-US" sz="909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训练数据中超长序列较少</a:t>
            </a:r>
            <a:endParaRPr lang="en-US" sz="1600" dirty="0"/>
          </a:p>
        </p:txBody>
      </p:sp>
      <p:sp>
        <p:nvSpPr>
          <p:cNvPr id="1048971" name="Text 51"/>
          <p:cNvSpPr/>
          <p:nvPr/>
        </p:nvSpPr>
        <p:spPr>
          <a:xfrm>
            <a:off x="7490729" y="2769785"/>
            <a:ext cx="4294815" cy="1648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b="1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原因3：</a:t>
            </a:r>
            <a:r>
              <a:rPr lang="en-US" sz="909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位置编码在长序列退化</a:t>
            </a:r>
            <a:endParaRPr lang="en-US" sz="1600" dirty="0"/>
          </a:p>
        </p:txBody>
      </p:sp>
      <p:sp>
        <p:nvSpPr>
          <p:cNvPr id="1048972" name="Shape 52"/>
          <p:cNvSpPr/>
          <p:nvPr/>
        </p:nvSpPr>
        <p:spPr>
          <a:xfrm>
            <a:off x="7505717" y="3000600"/>
            <a:ext cx="4227369" cy="362710"/>
          </a:xfrm>
          <a:custGeom>
            <a:avLst/>
            <a:gdLst/>
            <a:ahLst/>
            <a:cxnLst/>
            <a:rect l="l" t="t" r="r" b="b"/>
            <a:pathLst>
              <a:path w="4227369" h="362710">
                <a:moveTo>
                  <a:pt x="29976" y="0"/>
                </a:moveTo>
                <a:lnTo>
                  <a:pt x="4161421" y="0"/>
                </a:lnTo>
                <a:cubicBezTo>
                  <a:pt x="4197843" y="0"/>
                  <a:pt x="4227369" y="29526"/>
                  <a:pt x="4227369" y="65948"/>
                </a:cubicBezTo>
                <a:lnTo>
                  <a:pt x="4227369" y="296762"/>
                </a:lnTo>
                <a:cubicBezTo>
                  <a:pt x="4227369" y="333184"/>
                  <a:pt x="4197843" y="362710"/>
                  <a:pt x="4161421" y="362710"/>
                </a:cubicBezTo>
                <a:lnTo>
                  <a:pt x="29976" y="362710"/>
                </a:lnTo>
                <a:cubicBezTo>
                  <a:pt x="13421" y="362710"/>
                  <a:pt x="0" y="349289"/>
                  <a:pt x="0" y="332734"/>
                </a:cubicBezTo>
                <a:lnTo>
                  <a:pt x="0" y="29976"/>
                </a:lnTo>
                <a:cubicBezTo>
                  <a:pt x="0" y="13421"/>
                  <a:pt x="13421" y="0"/>
                  <a:pt x="29976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</p:spPr>
      </p:sp>
      <p:sp>
        <p:nvSpPr>
          <p:cNvPr id="1048973" name="Shape 53"/>
          <p:cNvSpPr/>
          <p:nvPr/>
        </p:nvSpPr>
        <p:spPr>
          <a:xfrm>
            <a:off x="7505717" y="3000600"/>
            <a:ext cx="29976" cy="362710"/>
          </a:xfrm>
          <a:custGeom>
            <a:avLst/>
            <a:gdLst/>
            <a:ahLst/>
            <a:cxnLst/>
            <a:rect l="l" t="t" r="r" b="b"/>
            <a:pathLst>
              <a:path w="29976" h="362710">
                <a:moveTo>
                  <a:pt x="29976" y="0"/>
                </a:moveTo>
                <a:lnTo>
                  <a:pt x="29976" y="0"/>
                </a:lnTo>
                <a:lnTo>
                  <a:pt x="29976" y="362710"/>
                </a:lnTo>
                <a:lnTo>
                  <a:pt x="29976" y="362710"/>
                </a:lnTo>
                <a:cubicBezTo>
                  <a:pt x="13421" y="362710"/>
                  <a:pt x="0" y="349289"/>
                  <a:pt x="0" y="332734"/>
                </a:cubicBezTo>
                <a:lnTo>
                  <a:pt x="0" y="29976"/>
                </a:lnTo>
                <a:cubicBezTo>
                  <a:pt x="0" y="13421"/>
                  <a:pt x="13421" y="0"/>
                  <a:pt x="29976" y="0"/>
                </a:cubicBezTo>
                <a:close/>
              </a:path>
            </a:pathLst>
          </a:custGeom>
          <a:solidFill>
            <a:srgbClr val="FE9A00"/>
          </a:solidFill>
        </p:spPr>
      </p:sp>
      <p:sp>
        <p:nvSpPr>
          <p:cNvPr id="1048974" name="Shape 54"/>
          <p:cNvSpPr/>
          <p:nvPr/>
        </p:nvSpPr>
        <p:spPr>
          <a:xfrm>
            <a:off x="7643325" y="3123503"/>
            <a:ext cx="100982" cy="115408"/>
          </a:xfrm>
          <a:custGeom>
            <a:avLst/>
            <a:gdLst/>
            <a:ahLst/>
            <a:cxnLst/>
            <a:rect l="l" t="t" r="r" b="b"/>
            <a:pathLst>
              <a:path w="100982" h="115408">
                <a:moveTo>
                  <a:pt x="0" y="48688"/>
                </a:moveTo>
                <a:cubicBezTo>
                  <a:pt x="0" y="33743"/>
                  <a:pt x="12104" y="21639"/>
                  <a:pt x="27049" y="21639"/>
                </a:cubicBezTo>
                <a:lnTo>
                  <a:pt x="28852" y="21639"/>
                </a:lnTo>
                <a:cubicBezTo>
                  <a:pt x="32842" y="21639"/>
                  <a:pt x="36065" y="24862"/>
                  <a:pt x="36065" y="28852"/>
                </a:cubicBezTo>
                <a:cubicBezTo>
                  <a:pt x="36065" y="32842"/>
                  <a:pt x="32842" y="36065"/>
                  <a:pt x="28852" y="36065"/>
                </a:cubicBezTo>
                <a:lnTo>
                  <a:pt x="27049" y="36065"/>
                </a:lnTo>
                <a:cubicBezTo>
                  <a:pt x="20084" y="36065"/>
                  <a:pt x="14426" y="41723"/>
                  <a:pt x="14426" y="48688"/>
                </a:cubicBezTo>
                <a:lnTo>
                  <a:pt x="14426" y="50491"/>
                </a:lnTo>
                <a:lnTo>
                  <a:pt x="28852" y="50491"/>
                </a:lnTo>
                <a:cubicBezTo>
                  <a:pt x="36809" y="50491"/>
                  <a:pt x="43278" y="56960"/>
                  <a:pt x="43278" y="64917"/>
                </a:cubicBezTo>
                <a:lnTo>
                  <a:pt x="43278" y="79343"/>
                </a:lnTo>
                <a:cubicBezTo>
                  <a:pt x="43278" y="87300"/>
                  <a:pt x="36809" y="93769"/>
                  <a:pt x="28852" y="93769"/>
                </a:cubicBezTo>
                <a:lnTo>
                  <a:pt x="14426" y="93769"/>
                </a:lnTo>
                <a:cubicBezTo>
                  <a:pt x="6469" y="93769"/>
                  <a:pt x="0" y="87300"/>
                  <a:pt x="0" y="79343"/>
                </a:cubicBezTo>
                <a:lnTo>
                  <a:pt x="0" y="48688"/>
                </a:lnTo>
                <a:close/>
                <a:moveTo>
                  <a:pt x="57704" y="48688"/>
                </a:moveTo>
                <a:cubicBezTo>
                  <a:pt x="57704" y="33743"/>
                  <a:pt x="69808" y="21639"/>
                  <a:pt x="84753" y="21639"/>
                </a:cubicBezTo>
                <a:lnTo>
                  <a:pt x="86556" y="21639"/>
                </a:lnTo>
                <a:cubicBezTo>
                  <a:pt x="90545" y="21639"/>
                  <a:pt x="93769" y="24862"/>
                  <a:pt x="93769" y="28852"/>
                </a:cubicBezTo>
                <a:cubicBezTo>
                  <a:pt x="93769" y="32842"/>
                  <a:pt x="90545" y="36065"/>
                  <a:pt x="86556" y="36065"/>
                </a:cubicBezTo>
                <a:lnTo>
                  <a:pt x="84753" y="36065"/>
                </a:lnTo>
                <a:cubicBezTo>
                  <a:pt x="77788" y="36065"/>
                  <a:pt x="72130" y="41723"/>
                  <a:pt x="72130" y="48688"/>
                </a:cubicBezTo>
                <a:lnTo>
                  <a:pt x="72130" y="50491"/>
                </a:lnTo>
                <a:lnTo>
                  <a:pt x="86556" y="50491"/>
                </a:lnTo>
                <a:cubicBezTo>
                  <a:pt x="94513" y="50491"/>
                  <a:pt x="100982" y="56960"/>
                  <a:pt x="100982" y="64917"/>
                </a:cubicBezTo>
                <a:lnTo>
                  <a:pt x="100982" y="79343"/>
                </a:lnTo>
                <a:cubicBezTo>
                  <a:pt x="100982" y="87300"/>
                  <a:pt x="94513" y="93769"/>
                  <a:pt x="86556" y="93769"/>
                </a:cubicBezTo>
                <a:lnTo>
                  <a:pt x="72130" y="93769"/>
                </a:lnTo>
                <a:cubicBezTo>
                  <a:pt x="64173" y="93769"/>
                  <a:pt x="57704" y="87300"/>
                  <a:pt x="57704" y="79343"/>
                </a:cubicBezTo>
                <a:lnTo>
                  <a:pt x="57704" y="48688"/>
                </a:lnTo>
                <a:close/>
              </a:path>
            </a:pathLst>
          </a:custGeom>
          <a:solidFill>
            <a:srgbClr val="FE9A00"/>
          </a:solidFill>
        </p:spPr>
      </p:sp>
      <p:sp>
        <p:nvSpPr>
          <p:cNvPr id="1048975" name="Text 55"/>
          <p:cNvSpPr/>
          <p:nvPr/>
        </p:nvSpPr>
        <p:spPr>
          <a:xfrm>
            <a:off x="7789410" y="3099521"/>
            <a:ext cx="3902459" cy="1648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9" b="1" dirty="0">
                <a:solidFill>
                  <a:srgbClr val="FE9A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"Context必须被视为有限资源，具有递减的边际回报"</a:t>
            </a:r>
            <a:endParaRPr lang="en-US" sz="1600" dirty="0">
              <a:solidFill>
                <a:srgbClr val="FE9A00"/>
              </a:solidFill>
            </a:endParaRPr>
          </a:p>
        </p:txBody>
      </p:sp>
      <p:sp>
        <p:nvSpPr>
          <p:cNvPr id="1048976" name="Shape 5"/>
          <p:cNvSpPr/>
          <p:nvPr/>
        </p:nvSpPr>
        <p:spPr>
          <a:xfrm>
            <a:off x="280978" y="4893378"/>
            <a:ext cx="5713267" cy="1600200"/>
          </a:xfrm>
          <a:custGeom>
            <a:avLst/>
            <a:gdLst/>
            <a:ahLst/>
            <a:cxnLst/>
            <a:rect l="l" t="t" r="r" b="b"/>
            <a:pathLst>
              <a:path w="5598968" h="1600200">
                <a:moveTo>
                  <a:pt x="34636" y="0"/>
                </a:moveTo>
                <a:lnTo>
                  <a:pt x="5484666" y="0"/>
                </a:lnTo>
                <a:cubicBezTo>
                  <a:pt x="5547751" y="0"/>
                  <a:pt x="5598968" y="51217"/>
                  <a:pt x="5598968" y="114302"/>
                </a:cubicBezTo>
                <a:lnTo>
                  <a:pt x="5598968" y="1485898"/>
                </a:lnTo>
                <a:cubicBezTo>
                  <a:pt x="5598968" y="1548983"/>
                  <a:pt x="5547751" y="1600200"/>
                  <a:pt x="5484666" y="1600200"/>
                </a:cubicBezTo>
                <a:lnTo>
                  <a:pt x="34636" y="1600200"/>
                </a:lnTo>
                <a:cubicBezTo>
                  <a:pt x="15507" y="1600200"/>
                  <a:pt x="0" y="1584693"/>
                  <a:pt x="0" y="1565564"/>
                </a:cubicBezTo>
                <a:lnTo>
                  <a:pt x="0" y="34636"/>
                </a:lnTo>
                <a:cubicBezTo>
                  <a:pt x="0" y="15507"/>
                  <a:pt x="15507" y="0"/>
                  <a:pt x="34636" y="0"/>
                </a:cubicBezTo>
                <a:close/>
              </a:path>
            </a:pathLst>
          </a:custGeom>
          <a:solidFill>
            <a:srgbClr val="EFF6FF"/>
          </a:solidFill>
        </p:spPr>
      </p:sp>
      <p:sp>
        <p:nvSpPr>
          <p:cNvPr id="1048977" name="Shape 6"/>
          <p:cNvSpPr/>
          <p:nvPr/>
        </p:nvSpPr>
        <p:spPr>
          <a:xfrm>
            <a:off x="280979" y="4893378"/>
            <a:ext cx="34636" cy="1600200"/>
          </a:xfrm>
          <a:custGeom>
            <a:avLst/>
            <a:gdLst/>
            <a:ahLst/>
            <a:cxnLst/>
            <a:rect l="l" t="t" r="r" b="b"/>
            <a:pathLst>
              <a:path w="34636" h="1600200">
                <a:moveTo>
                  <a:pt x="34636" y="0"/>
                </a:moveTo>
                <a:lnTo>
                  <a:pt x="34636" y="0"/>
                </a:lnTo>
                <a:lnTo>
                  <a:pt x="34636" y="1600200"/>
                </a:lnTo>
                <a:lnTo>
                  <a:pt x="34636" y="1600200"/>
                </a:lnTo>
                <a:cubicBezTo>
                  <a:pt x="15507" y="1600200"/>
                  <a:pt x="0" y="1584693"/>
                  <a:pt x="0" y="1565564"/>
                </a:cubicBezTo>
                <a:lnTo>
                  <a:pt x="0" y="34636"/>
                </a:lnTo>
                <a:cubicBezTo>
                  <a:pt x="0" y="15507"/>
                  <a:pt x="15507" y="0"/>
                  <a:pt x="34636" y="0"/>
                </a:cubicBezTo>
                <a:close/>
              </a:path>
            </a:pathLst>
          </a:custGeom>
          <a:solidFill>
            <a:srgbClr val="2B7FFF"/>
          </a:solidFill>
        </p:spPr>
      </p:sp>
      <p:sp>
        <p:nvSpPr>
          <p:cNvPr id="1048978" name="Shape 7"/>
          <p:cNvSpPr/>
          <p:nvPr/>
        </p:nvSpPr>
        <p:spPr>
          <a:xfrm>
            <a:off x="500704" y="512197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23812"/>
                </a:moveTo>
                <a:cubicBezTo>
                  <a:pt x="146596" y="23812"/>
                  <a:pt x="178594" y="55811"/>
                  <a:pt x="178594" y="95250"/>
                </a:cubicBezTo>
                <a:cubicBezTo>
                  <a:pt x="178594" y="134689"/>
                  <a:pt x="146596" y="166688"/>
                  <a:pt x="107156" y="166688"/>
                </a:cubicBezTo>
                <a:cubicBezTo>
                  <a:pt x="82897" y="166688"/>
                  <a:pt x="61429" y="154595"/>
                  <a:pt x="48518" y="136066"/>
                </a:cubicBezTo>
                <a:cubicBezTo>
                  <a:pt x="44760" y="130671"/>
                  <a:pt x="37319" y="129369"/>
                  <a:pt x="31924" y="133127"/>
                </a:cubicBezTo>
                <a:cubicBezTo>
                  <a:pt x="26529" y="136885"/>
                  <a:pt x="25226" y="144326"/>
                  <a:pt x="28984" y="149721"/>
                </a:cubicBezTo>
                <a:cubicBezTo>
                  <a:pt x="46174" y="174352"/>
                  <a:pt x="74786" y="190500"/>
                  <a:pt x="107156" y="190500"/>
                </a:cubicBezTo>
                <a:cubicBezTo>
                  <a:pt x="159767" y="190500"/>
                  <a:pt x="202406" y="147861"/>
                  <a:pt x="202406" y="95250"/>
                </a:cubicBezTo>
                <a:cubicBezTo>
                  <a:pt x="202406" y="42639"/>
                  <a:pt x="159767" y="0"/>
                  <a:pt x="107156" y="0"/>
                </a:cubicBezTo>
                <a:cubicBezTo>
                  <a:pt x="75270" y="0"/>
                  <a:pt x="47067" y="15664"/>
                  <a:pt x="29766" y="39700"/>
                </a:cubicBezTo>
                <a:lnTo>
                  <a:pt x="29766" y="29766"/>
                </a:lnTo>
                <a:cubicBezTo>
                  <a:pt x="29766" y="23180"/>
                  <a:pt x="24445" y="17859"/>
                  <a:pt x="17859" y="17859"/>
                </a:cubicBezTo>
                <a:cubicBezTo>
                  <a:pt x="11274" y="17859"/>
                  <a:pt x="5953" y="23180"/>
                  <a:pt x="5953" y="29766"/>
                </a:cubicBezTo>
                <a:lnTo>
                  <a:pt x="5953" y="71438"/>
                </a:lnTo>
                <a:cubicBezTo>
                  <a:pt x="5953" y="78023"/>
                  <a:pt x="11274" y="83344"/>
                  <a:pt x="17859" y="83344"/>
                </a:cubicBezTo>
                <a:lnTo>
                  <a:pt x="27012" y="83344"/>
                </a:lnTo>
                <a:cubicBezTo>
                  <a:pt x="27198" y="83344"/>
                  <a:pt x="27384" y="83344"/>
                  <a:pt x="27570" y="83344"/>
                </a:cubicBezTo>
                <a:lnTo>
                  <a:pt x="59568" y="83344"/>
                </a:lnTo>
                <a:cubicBezTo>
                  <a:pt x="66154" y="83344"/>
                  <a:pt x="71475" y="78023"/>
                  <a:pt x="71475" y="71438"/>
                </a:cubicBezTo>
                <a:cubicBezTo>
                  <a:pt x="71475" y="64852"/>
                  <a:pt x="66154" y="59531"/>
                  <a:pt x="59568" y="59531"/>
                </a:cubicBezTo>
                <a:lnTo>
                  <a:pt x="45318" y="59531"/>
                </a:lnTo>
                <a:cubicBezTo>
                  <a:pt x="57634" y="38174"/>
                  <a:pt x="80739" y="23812"/>
                  <a:pt x="107156" y="23812"/>
                </a:cubicBezTo>
                <a:close/>
                <a:moveTo>
                  <a:pt x="116086" y="56555"/>
                </a:moveTo>
                <a:cubicBezTo>
                  <a:pt x="116086" y="51606"/>
                  <a:pt x="112105" y="47625"/>
                  <a:pt x="107156" y="47625"/>
                </a:cubicBezTo>
                <a:cubicBezTo>
                  <a:pt x="102208" y="47625"/>
                  <a:pt x="98227" y="51606"/>
                  <a:pt x="98227" y="56555"/>
                </a:cubicBezTo>
                <a:lnTo>
                  <a:pt x="98227" y="95250"/>
                </a:lnTo>
                <a:cubicBezTo>
                  <a:pt x="98227" y="97631"/>
                  <a:pt x="99157" y="99901"/>
                  <a:pt x="100831" y="101575"/>
                </a:cubicBezTo>
                <a:lnTo>
                  <a:pt x="127620" y="128364"/>
                </a:lnTo>
                <a:cubicBezTo>
                  <a:pt x="131118" y="131862"/>
                  <a:pt x="136773" y="131862"/>
                  <a:pt x="140233" y="128364"/>
                </a:cubicBezTo>
                <a:cubicBezTo>
                  <a:pt x="143694" y="124867"/>
                  <a:pt x="143731" y="119211"/>
                  <a:pt x="140233" y="115751"/>
                </a:cubicBezTo>
                <a:lnTo>
                  <a:pt x="116049" y="91567"/>
                </a:lnTo>
                <a:lnTo>
                  <a:pt x="116049" y="56555"/>
                </a:lnTo>
                <a:close/>
              </a:path>
            </a:pathLst>
          </a:custGeom>
          <a:solidFill>
            <a:srgbClr val="2B7FFF"/>
          </a:solidFill>
        </p:spPr>
      </p:sp>
      <p:sp>
        <p:nvSpPr>
          <p:cNvPr id="1048979" name="Text 8"/>
          <p:cNvSpPr/>
          <p:nvPr/>
        </p:nvSpPr>
        <p:spPr>
          <a:xfrm>
            <a:off x="726922" y="5083878"/>
            <a:ext cx="5057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时代背景</a:t>
            </a:r>
            <a:endParaRPr lang="en-US" sz="1600" dirty="0"/>
          </a:p>
        </p:txBody>
      </p:sp>
      <p:sp>
        <p:nvSpPr>
          <p:cNvPr id="1048980" name="Shape 9"/>
          <p:cNvSpPr/>
          <p:nvPr/>
        </p:nvSpPr>
        <p:spPr>
          <a:xfrm>
            <a:off x="507847" y="550297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B7FFF"/>
          </a:solidFill>
        </p:spPr>
      </p:sp>
      <p:sp>
        <p:nvSpPr>
          <p:cNvPr id="1048981" name="Text 10"/>
          <p:cNvSpPr/>
          <p:nvPr/>
        </p:nvSpPr>
        <p:spPr>
          <a:xfrm>
            <a:off x="755497" y="5464878"/>
            <a:ext cx="40481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长文本模型的普及，如 </a:t>
            </a:r>
            <a:r>
              <a:rPr lang="en-US" altLang="zh-CN" sz="1200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Claude 3.5 </a:t>
            </a:r>
            <a:r>
              <a:rPr lang="zh-CN" altLang="en-US" sz="1200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 </a:t>
            </a:r>
            <a:r>
              <a:rPr lang="en-US" altLang="zh-CN" sz="1200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200K+ </a:t>
            </a:r>
            <a:r>
              <a:rPr lang="zh-CN" altLang="en-US" sz="1200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窗口</a:t>
            </a:r>
            <a:endParaRPr lang="en-US" sz="1600" dirty="0"/>
          </a:p>
        </p:txBody>
      </p:sp>
      <p:sp>
        <p:nvSpPr>
          <p:cNvPr id="1048982" name="Shape 11"/>
          <p:cNvSpPr/>
          <p:nvPr/>
        </p:nvSpPr>
        <p:spPr>
          <a:xfrm>
            <a:off x="507847" y="580777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B7FFF"/>
          </a:solidFill>
        </p:spPr>
      </p:sp>
      <p:sp>
        <p:nvSpPr>
          <p:cNvPr id="1048983" name="Shape 13"/>
          <p:cNvSpPr/>
          <p:nvPr/>
        </p:nvSpPr>
        <p:spPr>
          <a:xfrm>
            <a:off x="507847" y="611257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B7FFF"/>
          </a:solidFill>
        </p:spPr>
      </p:sp>
      <p:sp>
        <p:nvSpPr>
          <p:cNvPr id="1048984" name="Text 14"/>
          <p:cNvSpPr/>
          <p:nvPr/>
        </p:nvSpPr>
        <p:spPr>
          <a:xfrm>
            <a:off x="755497" y="6074478"/>
            <a:ext cx="523874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工具接口规范，由 </a:t>
            </a:r>
            <a:r>
              <a:rPr lang="en-US" altLang="zh-CN" sz="1200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Anthropic </a:t>
            </a:r>
            <a:r>
              <a:rPr lang="zh-CN" altLang="en-US" sz="1200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 </a:t>
            </a:r>
            <a:r>
              <a:rPr lang="en-US" altLang="zh-CN" sz="1200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2024 </a:t>
            </a:r>
            <a:r>
              <a:rPr lang="zh-CN" altLang="en-US" sz="1200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年底推出并迅速标准化的协议</a:t>
            </a:r>
            <a:r>
              <a:rPr lang="en-US" altLang="zh-CN" sz="1200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MCP</a:t>
            </a:r>
            <a:endParaRPr lang="en-US" sz="1600" dirty="0"/>
          </a:p>
        </p:txBody>
      </p:sp>
      <p:sp>
        <p:nvSpPr>
          <p:cNvPr id="1048985" name="Text 10"/>
          <p:cNvSpPr/>
          <p:nvPr/>
        </p:nvSpPr>
        <p:spPr>
          <a:xfrm>
            <a:off x="758733" y="5772408"/>
            <a:ext cx="52355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</a:t>
            </a:r>
            <a:r>
              <a:rPr lang="zh-CN" altLang="en-US" sz="1200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兴起，将模型与动态知识库连接，通过检索实时事实来增强生成准确性</a:t>
            </a:r>
          </a:p>
        </p:txBody>
      </p:sp>
      <p:pic>
        <p:nvPicPr>
          <p:cNvPr id="2097160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3822" y="3561152"/>
            <a:ext cx="4083878" cy="22625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48986" name="Shape 45"/>
          <p:cNvSpPr/>
          <p:nvPr/>
        </p:nvSpPr>
        <p:spPr>
          <a:xfrm>
            <a:off x="6191250" y="5952205"/>
            <a:ext cx="5619024" cy="762000"/>
          </a:xfrm>
          <a:custGeom>
            <a:avLst/>
            <a:gdLst/>
            <a:ahLst/>
            <a:cxnLst/>
            <a:rect l="l" t="t" r="r" b="b"/>
            <a:pathLst>
              <a:path w="5619750" h="762000">
                <a:moveTo>
                  <a:pt x="114300" y="0"/>
                </a:moveTo>
                <a:lnTo>
                  <a:pt x="5505450" y="0"/>
                </a:lnTo>
                <a:cubicBezTo>
                  <a:pt x="5568534" y="0"/>
                  <a:pt x="5619750" y="51216"/>
                  <a:pt x="5619750" y="114300"/>
                </a:cubicBezTo>
                <a:lnTo>
                  <a:pt x="5619750" y="647700"/>
                </a:lnTo>
                <a:cubicBezTo>
                  <a:pt x="5619750" y="710784"/>
                  <a:pt x="5568534" y="762000"/>
                  <a:pt x="550545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B7FFF"/>
              </a:gs>
              <a:gs pos="100000">
                <a:srgbClr val="155DFC"/>
              </a:gs>
            </a:gsLst>
            <a:lin ang="0" scaled="1"/>
          </a:gradFill>
        </p:spPr>
      </p:sp>
      <p:sp>
        <p:nvSpPr>
          <p:cNvPr id="1048987" name="Shape 46"/>
          <p:cNvSpPr/>
          <p:nvPr/>
        </p:nvSpPr>
        <p:spPr>
          <a:xfrm>
            <a:off x="6330465" y="603655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48988" name="Text 47"/>
          <p:cNvSpPr/>
          <p:nvPr/>
        </p:nvSpPr>
        <p:spPr>
          <a:xfrm>
            <a:off x="6540014" y="6112755"/>
            <a:ext cx="5319721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核心洞察</a:t>
            </a: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</a:p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已经造出了依赖“过去”的参数推理者，但世界需要的是能吸收“当下”环境的 </a:t>
            </a:r>
            <a:r>
              <a:rPr lang="en-US" altLang="zh-CN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context </a:t>
            </a:r>
            <a:r>
              <a:rPr lang="zh-CN" alt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学习者。此外且还要关注如何让从 </a:t>
            </a:r>
            <a:r>
              <a:rPr lang="en-US" altLang="zh-CN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context </a:t>
            </a:r>
            <a:r>
              <a:rPr lang="zh-CN" altLang="en-US" sz="12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中习得的知识持久化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Shape 0"/>
          <p:cNvSpPr/>
          <p:nvPr/>
        </p:nvSpPr>
        <p:spPr>
          <a:xfrm>
            <a:off x="376878" y="376878"/>
            <a:ext cx="452253" cy="452253"/>
          </a:xfrm>
          <a:custGeom>
            <a:avLst/>
            <a:gdLst/>
            <a:ahLst/>
            <a:cxnLst/>
            <a:rect l="l" t="t" r="r" b="b"/>
            <a:pathLst>
              <a:path w="452253" h="452253">
                <a:moveTo>
                  <a:pt x="226127" y="0"/>
                </a:moveTo>
                <a:lnTo>
                  <a:pt x="226127" y="0"/>
                </a:lnTo>
                <a:cubicBezTo>
                  <a:pt x="351013" y="0"/>
                  <a:pt x="452253" y="101240"/>
                  <a:pt x="452253" y="226127"/>
                </a:cubicBezTo>
                <a:lnTo>
                  <a:pt x="452253" y="226127"/>
                </a:lnTo>
                <a:cubicBezTo>
                  <a:pt x="452253" y="351013"/>
                  <a:pt x="351013" y="452253"/>
                  <a:pt x="226127" y="452253"/>
                </a:cubicBezTo>
                <a:lnTo>
                  <a:pt x="226127" y="452253"/>
                </a:lnTo>
                <a:cubicBezTo>
                  <a:pt x="101240" y="452253"/>
                  <a:pt x="0" y="351013"/>
                  <a:pt x="0" y="226127"/>
                </a:cubicBezTo>
                <a:lnTo>
                  <a:pt x="0" y="226127"/>
                </a:lnTo>
                <a:cubicBezTo>
                  <a:pt x="0" y="101240"/>
                  <a:pt x="101240" y="0"/>
                  <a:pt x="226127" y="0"/>
                </a:cubicBezTo>
                <a:close/>
              </a:path>
            </a:pathLst>
          </a:custGeom>
          <a:solidFill>
            <a:srgbClr val="FF2056"/>
          </a:solidFill>
        </p:spPr>
      </p:sp>
      <p:sp>
        <p:nvSpPr>
          <p:cNvPr id="1048670" name="Text 1"/>
          <p:cNvSpPr/>
          <p:nvPr/>
        </p:nvSpPr>
        <p:spPr>
          <a:xfrm>
            <a:off x="329768" y="376878"/>
            <a:ext cx="546473" cy="4522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4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600" dirty="0"/>
          </a:p>
        </p:txBody>
      </p:sp>
      <p:sp>
        <p:nvSpPr>
          <p:cNvPr id="1048671" name="Text 2"/>
          <p:cNvSpPr/>
          <p:nvPr/>
        </p:nvSpPr>
        <p:spPr>
          <a:xfrm>
            <a:off x="942195" y="414566"/>
            <a:ext cx="5653168" cy="3768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71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第三次跃迁：Harness Engineering</a:t>
            </a:r>
            <a:endParaRPr lang="en-US" sz="1600" dirty="0"/>
          </a:p>
        </p:txBody>
      </p:sp>
      <p:sp>
        <p:nvSpPr>
          <p:cNvPr id="1048672" name="Shape 3"/>
          <p:cNvSpPr/>
          <p:nvPr/>
        </p:nvSpPr>
        <p:spPr>
          <a:xfrm>
            <a:off x="376878" y="904507"/>
            <a:ext cx="1206009" cy="37688"/>
          </a:xfrm>
          <a:custGeom>
            <a:avLst/>
            <a:gdLst/>
            <a:ahLst/>
            <a:cxnLst/>
            <a:rect l="l" t="t" r="r" b="b"/>
            <a:pathLst>
              <a:path w="1206009" h="37688">
                <a:moveTo>
                  <a:pt x="0" y="0"/>
                </a:moveTo>
                <a:lnTo>
                  <a:pt x="1206009" y="0"/>
                </a:lnTo>
                <a:lnTo>
                  <a:pt x="1206009" y="37688"/>
                </a:lnTo>
                <a:lnTo>
                  <a:pt x="0" y="37688"/>
                </a:lnTo>
                <a:lnTo>
                  <a:pt x="0" y="0"/>
                </a:lnTo>
                <a:close/>
              </a:path>
            </a:pathLst>
          </a:custGeom>
          <a:solidFill>
            <a:srgbClr val="FF2056"/>
          </a:solidFill>
        </p:spPr>
      </p:sp>
      <p:sp>
        <p:nvSpPr>
          <p:cNvPr id="1048673" name="Text 4"/>
          <p:cNvSpPr/>
          <p:nvPr/>
        </p:nvSpPr>
        <p:spPr>
          <a:xfrm>
            <a:off x="376878" y="1017570"/>
            <a:ext cx="11523042" cy="263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2026-：构建Agent运行的"环境"</a:t>
            </a:r>
            <a:endParaRPr lang="en-US" sz="1600" dirty="0"/>
          </a:p>
        </p:txBody>
      </p:sp>
      <p:sp>
        <p:nvSpPr>
          <p:cNvPr id="1048674" name="Shape 5"/>
          <p:cNvSpPr/>
          <p:nvPr/>
        </p:nvSpPr>
        <p:spPr>
          <a:xfrm>
            <a:off x="394009" y="1394448"/>
            <a:ext cx="4598905" cy="4221032"/>
          </a:xfrm>
          <a:custGeom>
            <a:avLst/>
            <a:gdLst/>
            <a:ahLst/>
            <a:cxnLst/>
            <a:rect l="l" t="t" r="r" b="b"/>
            <a:pathLst>
              <a:path w="5623190" h="4221032">
                <a:moveTo>
                  <a:pt x="34262" y="0"/>
                </a:moveTo>
                <a:lnTo>
                  <a:pt x="5510108" y="0"/>
                </a:lnTo>
                <a:cubicBezTo>
                  <a:pt x="5572561" y="0"/>
                  <a:pt x="5623190" y="50628"/>
                  <a:pt x="5623190" y="113081"/>
                </a:cubicBezTo>
                <a:lnTo>
                  <a:pt x="5623190" y="4107951"/>
                </a:lnTo>
                <a:cubicBezTo>
                  <a:pt x="5623190" y="4170404"/>
                  <a:pt x="5572561" y="4221032"/>
                  <a:pt x="5510108" y="4221032"/>
                </a:cubicBezTo>
                <a:lnTo>
                  <a:pt x="34262" y="4221032"/>
                </a:lnTo>
                <a:cubicBezTo>
                  <a:pt x="15339" y="4221032"/>
                  <a:pt x="0" y="4205693"/>
                  <a:pt x="0" y="4186771"/>
                </a:cubicBezTo>
                <a:lnTo>
                  <a:pt x="0" y="34262"/>
                </a:lnTo>
                <a:cubicBezTo>
                  <a:pt x="0" y="15352"/>
                  <a:pt x="15352" y="0"/>
                  <a:pt x="34262" y="0"/>
                </a:cubicBezTo>
                <a:close/>
              </a:path>
            </a:pathLst>
          </a:custGeom>
          <a:solidFill>
            <a:srgbClr val="EFF6FF"/>
          </a:solidFill>
        </p:spPr>
      </p:sp>
      <p:sp>
        <p:nvSpPr>
          <p:cNvPr id="1048675" name="Shape 6"/>
          <p:cNvSpPr/>
          <p:nvPr/>
        </p:nvSpPr>
        <p:spPr>
          <a:xfrm>
            <a:off x="394009" y="1394448"/>
            <a:ext cx="34262" cy="4221032"/>
          </a:xfrm>
          <a:custGeom>
            <a:avLst/>
            <a:gdLst/>
            <a:ahLst/>
            <a:cxnLst/>
            <a:rect l="l" t="t" r="r" b="b"/>
            <a:pathLst>
              <a:path w="34262" h="4221032">
                <a:moveTo>
                  <a:pt x="34262" y="0"/>
                </a:moveTo>
                <a:lnTo>
                  <a:pt x="34262" y="0"/>
                </a:lnTo>
                <a:lnTo>
                  <a:pt x="34262" y="4221032"/>
                </a:lnTo>
                <a:lnTo>
                  <a:pt x="34262" y="4221032"/>
                </a:lnTo>
                <a:cubicBezTo>
                  <a:pt x="15339" y="4221032"/>
                  <a:pt x="0" y="4205693"/>
                  <a:pt x="0" y="4186771"/>
                </a:cubicBezTo>
                <a:lnTo>
                  <a:pt x="0" y="34262"/>
                </a:lnTo>
                <a:cubicBezTo>
                  <a:pt x="0" y="15352"/>
                  <a:pt x="15352" y="0"/>
                  <a:pt x="34262" y="0"/>
                </a:cubicBezTo>
                <a:close/>
              </a:path>
            </a:pathLst>
          </a:custGeom>
          <a:solidFill>
            <a:srgbClr val="2B7FFF"/>
          </a:solidFill>
        </p:spPr>
      </p:sp>
      <p:sp>
        <p:nvSpPr>
          <p:cNvPr id="1048676" name="Shape 7"/>
          <p:cNvSpPr/>
          <p:nvPr/>
        </p:nvSpPr>
        <p:spPr>
          <a:xfrm>
            <a:off x="573668" y="1582887"/>
            <a:ext cx="211994" cy="188439"/>
          </a:xfrm>
          <a:custGeom>
            <a:avLst/>
            <a:gdLst/>
            <a:ahLst/>
            <a:cxnLst/>
            <a:rect l="l" t="t" r="r" b="b"/>
            <a:pathLst>
              <a:path w="211994" h="188439">
                <a:moveTo>
                  <a:pt x="113910" y="-6956"/>
                </a:moveTo>
                <a:cubicBezTo>
                  <a:pt x="112401" y="-9900"/>
                  <a:pt x="109346" y="-11777"/>
                  <a:pt x="106034" y="-11777"/>
                </a:cubicBezTo>
                <a:cubicBezTo>
                  <a:pt x="102721" y="-11777"/>
                  <a:pt x="99667" y="-9900"/>
                  <a:pt x="98158" y="-6956"/>
                </a:cubicBezTo>
                <a:lnTo>
                  <a:pt x="71069" y="46116"/>
                </a:lnTo>
                <a:lnTo>
                  <a:pt x="12219" y="55464"/>
                </a:lnTo>
                <a:cubicBezTo>
                  <a:pt x="8943" y="55980"/>
                  <a:pt x="6220" y="58298"/>
                  <a:pt x="5189" y="61463"/>
                </a:cubicBezTo>
                <a:cubicBezTo>
                  <a:pt x="4159" y="64629"/>
                  <a:pt x="5005" y="68088"/>
                  <a:pt x="7324" y="70444"/>
                </a:cubicBezTo>
                <a:lnTo>
                  <a:pt x="49428" y="112585"/>
                </a:lnTo>
                <a:lnTo>
                  <a:pt x="40154" y="171435"/>
                </a:lnTo>
                <a:cubicBezTo>
                  <a:pt x="39638" y="174711"/>
                  <a:pt x="41000" y="178023"/>
                  <a:pt x="43687" y="179974"/>
                </a:cubicBezTo>
                <a:cubicBezTo>
                  <a:pt x="46374" y="181925"/>
                  <a:pt x="49907" y="182219"/>
                  <a:pt x="52888" y="180710"/>
                </a:cubicBezTo>
                <a:lnTo>
                  <a:pt x="106034" y="153696"/>
                </a:lnTo>
                <a:lnTo>
                  <a:pt x="159143" y="180710"/>
                </a:lnTo>
                <a:cubicBezTo>
                  <a:pt x="162087" y="182219"/>
                  <a:pt x="165657" y="181925"/>
                  <a:pt x="168344" y="179974"/>
                </a:cubicBezTo>
                <a:cubicBezTo>
                  <a:pt x="171030" y="178023"/>
                  <a:pt x="172392" y="174748"/>
                  <a:pt x="171877" y="171435"/>
                </a:cubicBezTo>
                <a:lnTo>
                  <a:pt x="162565" y="112585"/>
                </a:lnTo>
                <a:lnTo>
                  <a:pt x="204670" y="70444"/>
                </a:lnTo>
                <a:cubicBezTo>
                  <a:pt x="207025" y="68088"/>
                  <a:pt x="207835" y="64629"/>
                  <a:pt x="206804" y="61463"/>
                </a:cubicBezTo>
                <a:cubicBezTo>
                  <a:pt x="205774" y="58298"/>
                  <a:pt x="203087" y="55980"/>
                  <a:pt x="199775" y="55464"/>
                </a:cubicBezTo>
                <a:lnTo>
                  <a:pt x="140961" y="46116"/>
                </a:lnTo>
                <a:lnTo>
                  <a:pt x="113910" y="-6956"/>
                </a:lnTo>
                <a:close/>
              </a:path>
            </a:pathLst>
          </a:custGeom>
          <a:solidFill>
            <a:srgbClr val="2B7FFF"/>
          </a:solidFill>
        </p:spPr>
      </p:sp>
      <p:sp>
        <p:nvSpPr>
          <p:cNvPr id="1048677" name="Text 8"/>
          <p:cNvSpPr/>
          <p:nvPr/>
        </p:nvSpPr>
        <p:spPr>
          <a:xfrm>
            <a:off x="797439" y="1545199"/>
            <a:ext cx="5163227" cy="263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484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</a:rPr>
              <a:t>时代背景</a:t>
            </a:r>
            <a:endParaRPr lang="en-US" sz="1600" dirty="0"/>
          </a:p>
        </p:txBody>
      </p:sp>
      <p:sp>
        <p:nvSpPr>
          <p:cNvPr id="1048678" name="Shape 9"/>
          <p:cNvSpPr/>
          <p:nvPr/>
        </p:nvSpPr>
        <p:spPr>
          <a:xfrm>
            <a:off x="561891" y="1884389"/>
            <a:ext cx="4338311" cy="1168321"/>
          </a:xfrm>
          <a:custGeom>
            <a:avLst/>
            <a:gdLst/>
            <a:ahLst/>
            <a:cxnLst/>
            <a:rect l="l" t="t" r="r" b="b"/>
            <a:pathLst>
              <a:path w="5304556" h="1168321">
                <a:moveTo>
                  <a:pt x="75380" y="0"/>
                </a:moveTo>
                <a:lnTo>
                  <a:pt x="5229176" y="0"/>
                </a:lnTo>
                <a:cubicBezTo>
                  <a:pt x="5270808" y="0"/>
                  <a:pt x="5304556" y="33749"/>
                  <a:pt x="5304556" y="75380"/>
                </a:cubicBezTo>
                <a:lnTo>
                  <a:pt x="5304556" y="1092941"/>
                </a:lnTo>
                <a:cubicBezTo>
                  <a:pt x="5304556" y="1134573"/>
                  <a:pt x="5270808" y="1168321"/>
                  <a:pt x="5229176" y="1168321"/>
                </a:cubicBezTo>
                <a:lnTo>
                  <a:pt x="75380" y="1168321"/>
                </a:lnTo>
                <a:cubicBezTo>
                  <a:pt x="33749" y="1168321"/>
                  <a:pt x="0" y="1134573"/>
                  <a:pt x="0" y="1092941"/>
                </a:cubicBezTo>
                <a:lnTo>
                  <a:pt x="0" y="75380"/>
                </a:lnTo>
                <a:cubicBezTo>
                  <a:pt x="0" y="33749"/>
                  <a:pt x="33749" y="0"/>
                  <a:pt x="7538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48679" name="Text 10"/>
          <p:cNvSpPr/>
          <p:nvPr/>
        </p:nvSpPr>
        <p:spPr>
          <a:xfrm>
            <a:off x="674954" y="1997453"/>
            <a:ext cx="5153805" cy="2261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LangChain核心公式</a:t>
            </a:r>
            <a:endParaRPr lang="en-US" sz="1600" dirty="0"/>
          </a:p>
        </p:txBody>
      </p:sp>
      <p:sp>
        <p:nvSpPr>
          <p:cNvPr id="1048680" name="Shape 11"/>
          <p:cNvSpPr/>
          <p:nvPr/>
        </p:nvSpPr>
        <p:spPr>
          <a:xfrm>
            <a:off x="674954" y="2261267"/>
            <a:ext cx="4153375" cy="452253"/>
          </a:xfrm>
          <a:custGeom>
            <a:avLst/>
            <a:gdLst/>
            <a:ahLst/>
            <a:cxnLst/>
            <a:rect l="l" t="t" r="r" b="b"/>
            <a:pathLst>
              <a:path w="5078430" h="452253">
                <a:moveTo>
                  <a:pt x="75377" y="0"/>
                </a:moveTo>
                <a:lnTo>
                  <a:pt x="5003053" y="0"/>
                </a:lnTo>
                <a:cubicBezTo>
                  <a:pt x="5044682" y="0"/>
                  <a:pt x="5078430" y="33747"/>
                  <a:pt x="5078430" y="75377"/>
                </a:cubicBezTo>
                <a:lnTo>
                  <a:pt x="5078430" y="376876"/>
                </a:lnTo>
                <a:cubicBezTo>
                  <a:pt x="5078430" y="418506"/>
                  <a:pt x="5044682" y="452253"/>
                  <a:pt x="5003053" y="452253"/>
                </a:cubicBezTo>
                <a:lnTo>
                  <a:pt x="75377" y="452253"/>
                </a:lnTo>
                <a:cubicBezTo>
                  <a:pt x="33775" y="452253"/>
                  <a:pt x="0" y="418478"/>
                  <a:pt x="0" y="376876"/>
                </a:cubicBezTo>
                <a:lnTo>
                  <a:pt x="0" y="75377"/>
                </a:lnTo>
                <a:cubicBezTo>
                  <a:pt x="0" y="33775"/>
                  <a:pt x="33775" y="0"/>
                  <a:pt x="75377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</p:sp>
      <p:sp>
        <p:nvSpPr>
          <p:cNvPr id="1048681" name="Text 12"/>
          <p:cNvSpPr/>
          <p:nvPr/>
        </p:nvSpPr>
        <p:spPr>
          <a:xfrm>
            <a:off x="693798" y="2336643"/>
            <a:ext cx="4122552" cy="301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81" b="1" dirty="0">
                <a:solidFill>
                  <a:schemeClr val="accent5">
                    <a:lumMod val="75000"/>
                  </a:scheme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Agent = Model + Harness</a:t>
            </a:r>
            <a:endParaRPr 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48682" name="Text 13"/>
          <p:cNvSpPr/>
          <p:nvPr/>
        </p:nvSpPr>
        <p:spPr>
          <a:xfrm>
            <a:off x="674954" y="2751209"/>
            <a:ext cx="5144383" cy="1884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62748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2026年3月</a:t>
            </a:r>
            <a:endParaRPr lang="en-US" sz="1600" dirty="0"/>
          </a:p>
        </p:txBody>
      </p:sp>
      <p:sp>
        <p:nvSpPr>
          <p:cNvPr id="1048683" name="Shape 14"/>
          <p:cNvSpPr/>
          <p:nvPr/>
        </p:nvSpPr>
        <p:spPr>
          <a:xfrm>
            <a:off x="561891" y="3128087"/>
            <a:ext cx="4338311" cy="1130634"/>
          </a:xfrm>
          <a:custGeom>
            <a:avLst/>
            <a:gdLst/>
            <a:ahLst/>
            <a:cxnLst/>
            <a:rect l="l" t="t" r="r" b="b"/>
            <a:pathLst>
              <a:path w="5304556" h="1130634">
                <a:moveTo>
                  <a:pt x="75379" y="0"/>
                </a:moveTo>
                <a:lnTo>
                  <a:pt x="5229177" y="0"/>
                </a:lnTo>
                <a:cubicBezTo>
                  <a:pt x="5270808" y="0"/>
                  <a:pt x="5304556" y="33748"/>
                  <a:pt x="5304556" y="75379"/>
                </a:cubicBezTo>
                <a:lnTo>
                  <a:pt x="5304556" y="1055254"/>
                </a:lnTo>
                <a:cubicBezTo>
                  <a:pt x="5304556" y="1096885"/>
                  <a:pt x="5270808" y="1130634"/>
                  <a:pt x="5229177" y="1130634"/>
                </a:cubicBezTo>
                <a:lnTo>
                  <a:pt x="75379" y="1130634"/>
                </a:lnTo>
                <a:cubicBezTo>
                  <a:pt x="33748" y="1130634"/>
                  <a:pt x="0" y="1096885"/>
                  <a:pt x="0" y="1055254"/>
                </a:cubicBezTo>
                <a:lnTo>
                  <a:pt x="0" y="75379"/>
                </a:lnTo>
                <a:cubicBezTo>
                  <a:pt x="0" y="33776"/>
                  <a:pt x="33776" y="0"/>
                  <a:pt x="75379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48684" name="Text 15"/>
          <p:cNvSpPr/>
          <p:nvPr/>
        </p:nvSpPr>
        <p:spPr>
          <a:xfrm>
            <a:off x="674954" y="3241150"/>
            <a:ext cx="5153805" cy="2261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OpenAI Codex实验</a:t>
            </a:r>
            <a:endParaRPr lang="en-US" sz="1600" dirty="0"/>
          </a:p>
        </p:txBody>
      </p:sp>
      <p:sp>
        <p:nvSpPr>
          <p:cNvPr id="1048685" name="Text 16"/>
          <p:cNvSpPr/>
          <p:nvPr/>
        </p:nvSpPr>
        <p:spPr>
          <a:xfrm>
            <a:off x="674954" y="3504964"/>
            <a:ext cx="5144383" cy="1884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5个月，100万+行代码</a:t>
            </a:r>
            <a:endParaRPr lang="en-US" sz="1600" dirty="0"/>
          </a:p>
        </p:txBody>
      </p:sp>
      <p:sp>
        <p:nvSpPr>
          <p:cNvPr id="1048686" name="Text 17"/>
          <p:cNvSpPr/>
          <p:nvPr/>
        </p:nvSpPr>
        <p:spPr>
          <a:xfrm>
            <a:off x="674954" y="3731091"/>
            <a:ext cx="5144383" cy="1884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0行人工手写代码</a:t>
            </a:r>
            <a:endParaRPr lang="en-US" sz="1600" dirty="0"/>
          </a:p>
        </p:txBody>
      </p:sp>
      <p:sp>
        <p:nvSpPr>
          <p:cNvPr id="1048687" name="Text 18"/>
          <p:cNvSpPr/>
          <p:nvPr/>
        </p:nvSpPr>
        <p:spPr>
          <a:xfrm>
            <a:off x="674954" y="3957218"/>
            <a:ext cx="5144383" cy="1884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效率提升约10倍</a:t>
            </a:r>
            <a:endParaRPr lang="en-US" sz="1600" dirty="0"/>
          </a:p>
        </p:txBody>
      </p:sp>
      <p:sp>
        <p:nvSpPr>
          <p:cNvPr id="1048688" name="Shape 19"/>
          <p:cNvSpPr/>
          <p:nvPr/>
        </p:nvSpPr>
        <p:spPr>
          <a:xfrm>
            <a:off x="561891" y="4334096"/>
            <a:ext cx="4338311" cy="1130634"/>
          </a:xfrm>
          <a:custGeom>
            <a:avLst/>
            <a:gdLst/>
            <a:ahLst/>
            <a:cxnLst/>
            <a:rect l="l" t="t" r="r" b="b"/>
            <a:pathLst>
              <a:path w="5304556" h="1130634">
                <a:moveTo>
                  <a:pt x="75379" y="0"/>
                </a:moveTo>
                <a:lnTo>
                  <a:pt x="5229177" y="0"/>
                </a:lnTo>
                <a:cubicBezTo>
                  <a:pt x="5270808" y="0"/>
                  <a:pt x="5304556" y="33748"/>
                  <a:pt x="5304556" y="75379"/>
                </a:cubicBezTo>
                <a:lnTo>
                  <a:pt x="5304556" y="1055254"/>
                </a:lnTo>
                <a:cubicBezTo>
                  <a:pt x="5304556" y="1096885"/>
                  <a:pt x="5270808" y="1130634"/>
                  <a:pt x="5229177" y="1130634"/>
                </a:cubicBezTo>
                <a:lnTo>
                  <a:pt x="75379" y="1130634"/>
                </a:lnTo>
                <a:cubicBezTo>
                  <a:pt x="33748" y="1130634"/>
                  <a:pt x="0" y="1096885"/>
                  <a:pt x="0" y="1055254"/>
                </a:cubicBezTo>
                <a:lnTo>
                  <a:pt x="0" y="75379"/>
                </a:lnTo>
                <a:cubicBezTo>
                  <a:pt x="0" y="33776"/>
                  <a:pt x="33776" y="0"/>
                  <a:pt x="75379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48689" name="Text 20"/>
          <p:cNvSpPr/>
          <p:nvPr/>
        </p:nvSpPr>
        <p:spPr>
          <a:xfrm>
            <a:off x="674954" y="4447159"/>
            <a:ext cx="5153805" cy="2261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LangChain Terminal Bench</a:t>
            </a:r>
            <a:endParaRPr lang="en-US" sz="1600" dirty="0"/>
          </a:p>
        </p:txBody>
      </p:sp>
      <p:sp>
        <p:nvSpPr>
          <p:cNvPr id="1048690" name="Text 21"/>
          <p:cNvSpPr/>
          <p:nvPr/>
        </p:nvSpPr>
        <p:spPr>
          <a:xfrm>
            <a:off x="674954" y="4710974"/>
            <a:ext cx="5144383" cy="1884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原始：52.8% (Top 30)</a:t>
            </a:r>
            <a:endParaRPr lang="en-US" sz="1600" dirty="0"/>
          </a:p>
        </p:txBody>
      </p:sp>
      <p:sp>
        <p:nvSpPr>
          <p:cNvPr id="1048691" name="Text 22"/>
          <p:cNvSpPr/>
          <p:nvPr/>
        </p:nvSpPr>
        <p:spPr>
          <a:xfrm>
            <a:off x="674954" y="4937100"/>
            <a:ext cx="5144383" cy="1884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优化后：66.5% (Top 5)</a:t>
            </a:r>
            <a:endParaRPr lang="en-US" sz="1600" dirty="0"/>
          </a:p>
        </p:txBody>
      </p:sp>
      <p:sp>
        <p:nvSpPr>
          <p:cNvPr id="1048692" name="Text 23"/>
          <p:cNvSpPr/>
          <p:nvPr/>
        </p:nvSpPr>
        <p:spPr>
          <a:xfrm>
            <a:off x="674954" y="5163227"/>
            <a:ext cx="5144383" cy="1884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31415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只改Harness，模型不变</a:t>
            </a:r>
            <a:endParaRPr lang="en-US" sz="1600" dirty="0"/>
          </a:p>
        </p:txBody>
      </p:sp>
      <p:sp>
        <p:nvSpPr>
          <p:cNvPr id="1048693" name="Shape 24"/>
          <p:cNvSpPr/>
          <p:nvPr/>
        </p:nvSpPr>
        <p:spPr>
          <a:xfrm>
            <a:off x="6354283" y="1354090"/>
            <a:ext cx="5643747" cy="1130634"/>
          </a:xfrm>
          <a:custGeom>
            <a:avLst/>
            <a:gdLst/>
            <a:ahLst/>
            <a:cxnLst/>
            <a:rect l="l" t="t" r="r" b="b"/>
            <a:pathLst>
              <a:path w="5643747" h="1130634">
                <a:moveTo>
                  <a:pt x="113063" y="0"/>
                </a:moveTo>
                <a:lnTo>
                  <a:pt x="5530683" y="0"/>
                </a:lnTo>
                <a:cubicBezTo>
                  <a:pt x="5593126" y="0"/>
                  <a:pt x="5643747" y="50620"/>
                  <a:pt x="5643747" y="113063"/>
                </a:cubicBezTo>
                <a:lnTo>
                  <a:pt x="5643747" y="1017570"/>
                </a:lnTo>
                <a:cubicBezTo>
                  <a:pt x="5643747" y="1080013"/>
                  <a:pt x="5593126" y="1130634"/>
                  <a:pt x="5530683" y="1130634"/>
                </a:cubicBezTo>
                <a:lnTo>
                  <a:pt x="113063" y="1130634"/>
                </a:lnTo>
                <a:cubicBezTo>
                  <a:pt x="50620" y="1130634"/>
                  <a:pt x="0" y="1080013"/>
                  <a:pt x="0" y="1017570"/>
                </a:cubicBezTo>
                <a:lnTo>
                  <a:pt x="0" y="113063"/>
                </a:lnTo>
                <a:cubicBezTo>
                  <a:pt x="0" y="50620"/>
                  <a:pt x="50620" y="0"/>
                  <a:pt x="113063" y="0"/>
                </a:cubicBezTo>
                <a:close/>
              </a:path>
            </a:pathLst>
          </a:custGeom>
          <a:gradFill flip="none" rotWithShape="1">
            <a:gsLst>
              <a:gs pos="0">
                <a:srgbClr val="FF2056"/>
              </a:gs>
              <a:gs pos="100000">
                <a:srgbClr val="EC003F"/>
              </a:gs>
            </a:gsLst>
            <a:lin ang="0" scaled="1"/>
          </a:gradFill>
        </p:spPr>
      </p:sp>
      <p:sp>
        <p:nvSpPr>
          <p:cNvPr id="1048694" name="Text 25"/>
          <p:cNvSpPr/>
          <p:nvPr/>
        </p:nvSpPr>
        <p:spPr>
          <a:xfrm>
            <a:off x="6505034" y="1504841"/>
            <a:ext cx="5436464" cy="263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Harness Engineering定义</a:t>
            </a:r>
            <a:endParaRPr lang="en-US" sz="1600" dirty="0"/>
          </a:p>
        </p:txBody>
      </p:sp>
      <p:sp>
        <p:nvSpPr>
          <p:cNvPr id="1048695" name="Text 26"/>
          <p:cNvSpPr/>
          <p:nvPr/>
        </p:nvSpPr>
        <p:spPr>
          <a:xfrm>
            <a:off x="6505034" y="1844031"/>
            <a:ext cx="5417620" cy="4899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一套围绕AI Agent构建的</a:t>
            </a:r>
            <a:r>
              <a:rPr lang="en-US" sz="1187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约束、反馈与控制系统</a:t>
            </a:r>
            <a:r>
              <a:rPr lang="en-US" sz="1187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，让Agent在人类设定的边界内自主、可靠、可持续地工作——它不优化模型本身，而是优化模型运行的"环境"</a:t>
            </a:r>
            <a:endParaRPr lang="en-US" sz="1600" dirty="0"/>
          </a:p>
        </p:txBody>
      </p:sp>
      <p:sp>
        <p:nvSpPr>
          <p:cNvPr id="1048696" name="Shape 40"/>
          <p:cNvSpPr/>
          <p:nvPr/>
        </p:nvSpPr>
        <p:spPr>
          <a:xfrm>
            <a:off x="6354283" y="4126203"/>
            <a:ext cx="5623190" cy="2261267"/>
          </a:xfrm>
          <a:custGeom>
            <a:avLst/>
            <a:gdLst/>
            <a:ahLst/>
            <a:cxnLst/>
            <a:rect l="l" t="t" r="r" b="b"/>
            <a:pathLst>
              <a:path w="5623190" h="2261267">
                <a:moveTo>
                  <a:pt x="34262" y="0"/>
                </a:moveTo>
                <a:lnTo>
                  <a:pt x="5510126" y="0"/>
                </a:lnTo>
                <a:cubicBezTo>
                  <a:pt x="5572569" y="0"/>
                  <a:pt x="5623190" y="50620"/>
                  <a:pt x="5623190" y="113063"/>
                </a:cubicBezTo>
                <a:lnTo>
                  <a:pt x="5623190" y="2148204"/>
                </a:lnTo>
                <a:cubicBezTo>
                  <a:pt x="5623190" y="2210647"/>
                  <a:pt x="5572569" y="2261267"/>
                  <a:pt x="5510126" y="2261267"/>
                </a:cubicBezTo>
                <a:lnTo>
                  <a:pt x="34262" y="2261267"/>
                </a:lnTo>
                <a:cubicBezTo>
                  <a:pt x="15339" y="2261267"/>
                  <a:pt x="0" y="2245928"/>
                  <a:pt x="0" y="2227006"/>
                </a:cubicBezTo>
                <a:lnTo>
                  <a:pt x="0" y="34262"/>
                </a:lnTo>
                <a:cubicBezTo>
                  <a:pt x="0" y="15352"/>
                  <a:pt x="15352" y="0"/>
                  <a:pt x="34262" y="0"/>
                </a:cubicBezTo>
                <a:close/>
              </a:path>
            </a:pathLst>
          </a:custGeom>
          <a:solidFill>
            <a:srgbClr val="FFFBEB"/>
          </a:solidFill>
        </p:spPr>
      </p:sp>
      <p:sp>
        <p:nvSpPr>
          <p:cNvPr id="1048697" name="Shape 41"/>
          <p:cNvSpPr/>
          <p:nvPr/>
        </p:nvSpPr>
        <p:spPr>
          <a:xfrm>
            <a:off x="6354283" y="4126203"/>
            <a:ext cx="34262" cy="2261267"/>
          </a:xfrm>
          <a:custGeom>
            <a:avLst/>
            <a:gdLst/>
            <a:ahLst/>
            <a:cxnLst/>
            <a:rect l="l" t="t" r="r" b="b"/>
            <a:pathLst>
              <a:path w="34262" h="2261267">
                <a:moveTo>
                  <a:pt x="34262" y="0"/>
                </a:moveTo>
                <a:lnTo>
                  <a:pt x="34262" y="0"/>
                </a:lnTo>
                <a:lnTo>
                  <a:pt x="34262" y="2261267"/>
                </a:lnTo>
                <a:lnTo>
                  <a:pt x="34262" y="2261267"/>
                </a:lnTo>
                <a:cubicBezTo>
                  <a:pt x="15339" y="2261267"/>
                  <a:pt x="0" y="2245928"/>
                  <a:pt x="0" y="2227006"/>
                </a:cubicBezTo>
                <a:lnTo>
                  <a:pt x="0" y="34262"/>
                </a:lnTo>
                <a:cubicBezTo>
                  <a:pt x="0" y="15352"/>
                  <a:pt x="15352" y="0"/>
                  <a:pt x="34262" y="0"/>
                </a:cubicBezTo>
                <a:close/>
              </a:path>
            </a:pathLst>
          </a:custGeom>
          <a:solidFill>
            <a:srgbClr val="FE9A00"/>
          </a:solidFill>
        </p:spPr>
      </p:sp>
      <p:sp>
        <p:nvSpPr>
          <p:cNvPr id="1048698" name="Shape 42"/>
          <p:cNvSpPr/>
          <p:nvPr/>
        </p:nvSpPr>
        <p:spPr>
          <a:xfrm>
            <a:off x="6545720" y="4314642"/>
            <a:ext cx="188439" cy="188439"/>
          </a:xfrm>
          <a:custGeom>
            <a:avLst/>
            <a:gdLst/>
            <a:ahLst/>
            <a:cxnLst/>
            <a:rect l="l" t="t" r="r" b="b"/>
            <a:pathLst>
              <a:path w="188439" h="188439">
                <a:moveTo>
                  <a:pt x="104525" y="-478"/>
                </a:moveTo>
                <a:cubicBezTo>
                  <a:pt x="98158" y="-4159"/>
                  <a:pt x="90281" y="-4159"/>
                  <a:pt x="83914" y="-478"/>
                </a:cubicBezTo>
                <a:lnTo>
                  <a:pt x="52925" y="17409"/>
                </a:lnTo>
                <a:cubicBezTo>
                  <a:pt x="46558" y="21089"/>
                  <a:pt x="42620" y="27898"/>
                  <a:pt x="42620" y="35259"/>
                </a:cubicBezTo>
                <a:lnTo>
                  <a:pt x="42620" y="72762"/>
                </a:lnTo>
                <a:lnTo>
                  <a:pt x="10121" y="91533"/>
                </a:lnTo>
                <a:cubicBezTo>
                  <a:pt x="3754" y="95213"/>
                  <a:pt x="-184" y="102022"/>
                  <a:pt x="-184" y="109383"/>
                </a:cubicBezTo>
                <a:lnTo>
                  <a:pt x="-184" y="145194"/>
                </a:lnTo>
                <a:cubicBezTo>
                  <a:pt x="-184" y="152555"/>
                  <a:pt x="3754" y="159363"/>
                  <a:pt x="10121" y="163044"/>
                </a:cubicBezTo>
                <a:lnTo>
                  <a:pt x="41147" y="180931"/>
                </a:lnTo>
                <a:cubicBezTo>
                  <a:pt x="47515" y="184611"/>
                  <a:pt x="55391" y="184611"/>
                  <a:pt x="61758" y="180931"/>
                </a:cubicBezTo>
                <a:lnTo>
                  <a:pt x="94256" y="162161"/>
                </a:lnTo>
                <a:lnTo>
                  <a:pt x="126755" y="180931"/>
                </a:lnTo>
                <a:cubicBezTo>
                  <a:pt x="133122" y="184611"/>
                  <a:pt x="140998" y="184611"/>
                  <a:pt x="147365" y="180931"/>
                </a:cubicBezTo>
                <a:lnTo>
                  <a:pt x="178318" y="163044"/>
                </a:lnTo>
                <a:cubicBezTo>
                  <a:pt x="184685" y="159363"/>
                  <a:pt x="188623" y="152555"/>
                  <a:pt x="188623" y="145194"/>
                </a:cubicBezTo>
                <a:lnTo>
                  <a:pt x="188623" y="109383"/>
                </a:lnTo>
                <a:cubicBezTo>
                  <a:pt x="188623" y="102022"/>
                  <a:pt x="184685" y="95213"/>
                  <a:pt x="178318" y="91533"/>
                </a:cubicBezTo>
                <a:lnTo>
                  <a:pt x="145819" y="72762"/>
                </a:lnTo>
                <a:lnTo>
                  <a:pt x="145819" y="35259"/>
                </a:lnTo>
                <a:cubicBezTo>
                  <a:pt x="145819" y="27898"/>
                  <a:pt x="141881" y="21089"/>
                  <a:pt x="135514" y="17409"/>
                </a:cubicBezTo>
                <a:lnTo>
                  <a:pt x="104525" y="-478"/>
                </a:lnTo>
                <a:close/>
                <a:moveTo>
                  <a:pt x="85386" y="107690"/>
                </a:moveTo>
                <a:lnTo>
                  <a:pt x="85386" y="146887"/>
                </a:lnTo>
                <a:lnTo>
                  <a:pt x="52888" y="165657"/>
                </a:lnTo>
                <a:cubicBezTo>
                  <a:pt x="52446" y="165915"/>
                  <a:pt x="51931" y="166062"/>
                  <a:pt x="51416" y="166062"/>
                </a:cubicBezTo>
                <a:lnTo>
                  <a:pt x="51416" y="127307"/>
                </a:lnTo>
                <a:lnTo>
                  <a:pt x="85386" y="107690"/>
                </a:lnTo>
                <a:close/>
                <a:moveTo>
                  <a:pt x="170552" y="107911"/>
                </a:moveTo>
                <a:cubicBezTo>
                  <a:pt x="170810" y="108352"/>
                  <a:pt x="170957" y="108868"/>
                  <a:pt x="170957" y="109383"/>
                </a:cubicBezTo>
                <a:lnTo>
                  <a:pt x="170957" y="145194"/>
                </a:lnTo>
                <a:cubicBezTo>
                  <a:pt x="170957" y="146261"/>
                  <a:pt x="170405" y="147218"/>
                  <a:pt x="169485" y="147733"/>
                </a:cubicBezTo>
                <a:lnTo>
                  <a:pt x="138458" y="165620"/>
                </a:lnTo>
                <a:cubicBezTo>
                  <a:pt x="138017" y="165878"/>
                  <a:pt x="137502" y="166025"/>
                  <a:pt x="136986" y="166025"/>
                </a:cubicBezTo>
                <a:lnTo>
                  <a:pt x="136986" y="127270"/>
                </a:lnTo>
                <a:lnTo>
                  <a:pt x="170552" y="107911"/>
                </a:lnTo>
                <a:close/>
                <a:moveTo>
                  <a:pt x="128190" y="35259"/>
                </a:moveTo>
                <a:lnTo>
                  <a:pt x="128190" y="72762"/>
                </a:lnTo>
                <a:lnTo>
                  <a:pt x="94219" y="92379"/>
                </a:lnTo>
                <a:lnTo>
                  <a:pt x="94219" y="53182"/>
                </a:lnTo>
                <a:lnTo>
                  <a:pt x="127785" y="33823"/>
                </a:lnTo>
                <a:cubicBezTo>
                  <a:pt x="128043" y="34265"/>
                  <a:pt x="128190" y="34780"/>
                  <a:pt x="128190" y="35295"/>
                </a:cubicBezTo>
                <a:close/>
              </a:path>
            </a:pathLst>
          </a:custGeom>
          <a:solidFill>
            <a:srgbClr val="FE9A00"/>
          </a:solidFill>
        </p:spPr>
      </p:sp>
      <p:sp>
        <p:nvSpPr>
          <p:cNvPr id="1048699" name="Text 43"/>
          <p:cNvSpPr/>
          <p:nvPr/>
        </p:nvSpPr>
        <p:spPr>
          <a:xfrm>
            <a:off x="6757714" y="4276955"/>
            <a:ext cx="5163227" cy="263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4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Harness六大组件</a:t>
            </a:r>
            <a:endParaRPr lang="en-US" sz="1600" dirty="0"/>
          </a:p>
        </p:txBody>
      </p:sp>
      <p:sp>
        <p:nvSpPr>
          <p:cNvPr id="1048700" name="Shape 44"/>
          <p:cNvSpPr/>
          <p:nvPr/>
        </p:nvSpPr>
        <p:spPr>
          <a:xfrm>
            <a:off x="6522165" y="4616145"/>
            <a:ext cx="2619301" cy="489941"/>
          </a:xfrm>
          <a:custGeom>
            <a:avLst/>
            <a:gdLst/>
            <a:ahLst/>
            <a:cxnLst/>
            <a:rect l="l" t="t" r="r" b="b"/>
            <a:pathLst>
              <a:path w="2619301" h="489941">
                <a:moveTo>
                  <a:pt x="75377" y="0"/>
                </a:moveTo>
                <a:lnTo>
                  <a:pt x="2543924" y="0"/>
                </a:lnTo>
                <a:cubicBezTo>
                  <a:pt x="2585554" y="0"/>
                  <a:pt x="2619301" y="33748"/>
                  <a:pt x="2619301" y="75377"/>
                </a:cubicBezTo>
                <a:lnTo>
                  <a:pt x="2619301" y="414564"/>
                </a:lnTo>
                <a:cubicBezTo>
                  <a:pt x="2619301" y="456194"/>
                  <a:pt x="2585554" y="489941"/>
                  <a:pt x="2543924" y="489941"/>
                </a:cubicBezTo>
                <a:lnTo>
                  <a:pt x="75377" y="489941"/>
                </a:lnTo>
                <a:cubicBezTo>
                  <a:pt x="33748" y="489941"/>
                  <a:pt x="0" y="456194"/>
                  <a:pt x="0" y="414564"/>
                </a:cubicBezTo>
                <a:lnTo>
                  <a:pt x="0" y="75377"/>
                </a:lnTo>
                <a:cubicBezTo>
                  <a:pt x="0" y="33776"/>
                  <a:pt x="33776" y="0"/>
                  <a:pt x="75377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48701" name="Text 45"/>
          <p:cNvSpPr/>
          <p:nvPr/>
        </p:nvSpPr>
        <p:spPr>
          <a:xfrm>
            <a:off x="6597541" y="4691520"/>
            <a:ext cx="2534504" cy="1884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altLang="zh-CN" sz="1039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Environment Arch</a:t>
            </a:r>
            <a:endParaRPr lang="en-US" altLang="zh-CN" sz="1600" dirty="0"/>
          </a:p>
        </p:txBody>
      </p:sp>
      <p:sp>
        <p:nvSpPr>
          <p:cNvPr id="1048702" name="Text 46"/>
          <p:cNvSpPr/>
          <p:nvPr/>
        </p:nvSpPr>
        <p:spPr>
          <a:xfrm>
            <a:off x="6597541" y="4879959"/>
            <a:ext cx="2525082" cy="1507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89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运行环境、版本信息、历史记录</a:t>
            </a:r>
            <a:endParaRPr lang="en-US" sz="1600" dirty="0"/>
          </a:p>
        </p:txBody>
      </p:sp>
      <p:sp>
        <p:nvSpPr>
          <p:cNvPr id="1048703" name="Shape 47"/>
          <p:cNvSpPr/>
          <p:nvPr/>
        </p:nvSpPr>
        <p:spPr>
          <a:xfrm>
            <a:off x="9214380" y="4616145"/>
            <a:ext cx="2619301" cy="489941"/>
          </a:xfrm>
          <a:custGeom>
            <a:avLst/>
            <a:gdLst/>
            <a:ahLst/>
            <a:cxnLst/>
            <a:rect l="l" t="t" r="r" b="b"/>
            <a:pathLst>
              <a:path w="2619301" h="489941">
                <a:moveTo>
                  <a:pt x="75377" y="0"/>
                </a:moveTo>
                <a:lnTo>
                  <a:pt x="2543924" y="0"/>
                </a:lnTo>
                <a:cubicBezTo>
                  <a:pt x="2585554" y="0"/>
                  <a:pt x="2619301" y="33748"/>
                  <a:pt x="2619301" y="75377"/>
                </a:cubicBezTo>
                <a:lnTo>
                  <a:pt x="2619301" y="414564"/>
                </a:lnTo>
                <a:cubicBezTo>
                  <a:pt x="2619301" y="456194"/>
                  <a:pt x="2585554" y="489941"/>
                  <a:pt x="2543924" y="489941"/>
                </a:cubicBezTo>
                <a:lnTo>
                  <a:pt x="75377" y="489941"/>
                </a:lnTo>
                <a:cubicBezTo>
                  <a:pt x="33748" y="489941"/>
                  <a:pt x="0" y="456194"/>
                  <a:pt x="0" y="414564"/>
                </a:cubicBezTo>
                <a:lnTo>
                  <a:pt x="0" y="75377"/>
                </a:lnTo>
                <a:cubicBezTo>
                  <a:pt x="0" y="33776"/>
                  <a:pt x="33776" y="0"/>
                  <a:pt x="75377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48704" name="Text 48"/>
          <p:cNvSpPr/>
          <p:nvPr/>
        </p:nvSpPr>
        <p:spPr>
          <a:xfrm>
            <a:off x="9289755" y="4691520"/>
            <a:ext cx="2534504" cy="1884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Tool Access and Use</a:t>
            </a:r>
            <a:endParaRPr lang="en-US" sz="1600" dirty="0"/>
          </a:p>
        </p:txBody>
      </p:sp>
      <p:sp>
        <p:nvSpPr>
          <p:cNvPr id="1048705" name="Text 49"/>
          <p:cNvSpPr/>
          <p:nvPr/>
        </p:nvSpPr>
        <p:spPr>
          <a:xfrm>
            <a:off x="9289755" y="4879959"/>
            <a:ext cx="2525082" cy="1507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89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工具调用审查</a:t>
            </a:r>
            <a:r>
              <a:rPr lang="en-US" sz="89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、</a:t>
            </a:r>
            <a:r>
              <a:rPr lang="zh-CN" altLang="en-US" sz="89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执行边界清晰</a:t>
            </a:r>
            <a:endParaRPr lang="en-US" sz="1600" dirty="0"/>
          </a:p>
        </p:txBody>
      </p:sp>
      <p:sp>
        <p:nvSpPr>
          <p:cNvPr id="1048706" name="Shape 50"/>
          <p:cNvSpPr/>
          <p:nvPr/>
        </p:nvSpPr>
        <p:spPr>
          <a:xfrm>
            <a:off x="6522165" y="5181462"/>
            <a:ext cx="2619301" cy="489941"/>
          </a:xfrm>
          <a:custGeom>
            <a:avLst/>
            <a:gdLst/>
            <a:ahLst/>
            <a:cxnLst/>
            <a:rect l="l" t="t" r="r" b="b"/>
            <a:pathLst>
              <a:path w="2619301" h="489941">
                <a:moveTo>
                  <a:pt x="75377" y="0"/>
                </a:moveTo>
                <a:lnTo>
                  <a:pt x="2543924" y="0"/>
                </a:lnTo>
                <a:cubicBezTo>
                  <a:pt x="2585554" y="0"/>
                  <a:pt x="2619301" y="33748"/>
                  <a:pt x="2619301" y="75377"/>
                </a:cubicBezTo>
                <a:lnTo>
                  <a:pt x="2619301" y="414564"/>
                </a:lnTo>
                <a:cubicBezTo>
                  <a:pt x="2619301" y="456194"/>
                  <a:pt x="2585554" y="489941"/>
                  <a:pt x="2543924" y="489941"/>
                </a:cubicBezTo>
                <a:lnTo>
                  <a:pt x="75377" y="489941"/>
                </a:lnTo>
                <a:cubicBezTo>
                  <a:pt x="33748" y="489941"/>
                  <a:pt x="0" y="456194"/>
                  <a:pt x="0" y="414564"/>
                </a:cubicBezTo>
                <a:lnTo>
                  <a:pt x="0" y="75377"/>
                </a:lnTo>
                <a:cubicBezTo>
                  <a:pt x="0" y="33776"/>
                  <a:pt x="33776" y="0"/>
                  <a:pt x="75377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48707" name="Text 51"/>
          <p:cNvSpPr/>
          <p:nvPr/>
        </p:nvSpPr>
        <p:spPr>
          <a:xfrm>
            <a:off x="6597541" y="5256837"/>
            <a:ext cx="2534504" cy="1884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altLang="zh-CN" sz="1039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Memory</a:t>
            </a:r>
            <a:endParaRPr lang="en-US" sz="1600" dirty="0"/>
          </a:p>
        </p:txBody>
      </p:sp>
      <p:sp>
        <p:nvSpPr>
          <p:cNvPr id="1048708" name="Text 52"/>
          <p:cNvSpPr/>
          <p:nvPr/>
        </p:nvSpPr>
        <p:spPr>
          <a:xfrm>
            <a:off x="6597541" y="5445276"/>
            <a:ext cx="2525082" cy="1507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89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结构化记忆、提示词复用</a:t>
            </a:r>
            <a:endParaRPr lang="en-US" sz="1600" dirty="0"/>
          </a:p>
        </p:txBody>
      </p:sp>
      <p:sp>
        <p:nvSpPr>
          <p:cNvPr id="1048709" name="Shape 53"/>
          <p:cNvSpPr/>
          <p:nvPr/>
        </p:nvSpPr>
        <p:spPr>
          <a:xfrm>
            <a:off x="9214380" y="5181462"/>
            <a:ext cx="2619301" cy="489941"/>
          </a:xfrm>
          <a:custGeom>
            <a:avLst/>
            <a:gdLst/>
            <a:ahLst/>
            <a:cxnLst/>
            <a:rect l="l" t="t" r="r" b="b"/>
            <a:pathLst>
              <a:path w="2619301" h="489941">
                <a:moveTo>
                  <a:pt x="75377" y="0"/>
                </a:moveTo>
                <a:lnTo>
                  <a:pt x="2543924" y="0"/>
                </a:lnTo>
                <a:cubicBezTo>
                  <a:pt x="2585554" y="0"/>
                  <a:pt x="2619301" y="33748"/>
                  <a:pt x="2619301" y="75377"/>
                </a:cubicBezTo>
                <a:lnTo>
                  <a:pt x="2619301" y="414564"/>
                </a:lnTo>
                <a:cubicBezTo>
                  <a:pt x="2619301" y="456194"/>
                  <a:pt x="2585554" y="489941"/>
                  <a:pt x="2543924" y="489941"/>
                </a:cubicBezTo>
                <a:lnTo>
                  <a:pt x="75377" y="489941"/>
                </a:lnTo>
                <a:cubicBezTo>
                  <a:pt x="33748" y="489941"/>
                  <a:pt x="0" y="456194"/>
                  <a:pt x="0" y="414564"/>
                </a:cubicBezTo>
                <a:lnTo>
                  <a:pt x="0" y="75377"/>
                </a:lnTo>
                <a:cubicBezTo>
                  <a:pt x="0" y="33776"/>
                  <a:pt x="33776" y="0"/>
                  <a:pt x="75377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48710" name="Text 54"/>
          <p:cNvSpPr/>
          <p:nvPr/>
        </p:nvSpPr>
        <p:spPr>
          <a:xfrm>
            <a:off x="9289755" y="5256837"/>
            <a:ext cx="2534504" cy="1884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Context Arch</a:t>
            </a:r>
            <a:endParaRPr lang="en-US" sz="1600" dirty="0"/>
          </a:p>
        </p:txBody>
      </p:sp>
      <p:sp>
        <p:nvSpPr>
          <p:cNvPr id="1048711" name="Text 55"/>
          <p:cNvSpPr/>
          <p:nvPr/>
        </p:nvSpPr>
        <p:spPr>
          <a:xfrm>
            <a:off x="9289755" y="5445276"/>
            <a:ext cx="2525082" cy="1507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89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上下文压缩</a:t>
            </a:r>
            <a:r>
              <a:rPr lang="en-US" sz="89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、</a:t>
            </a:r>
            <a:r>
              <a:rPr lang="zh-CN" altLang="en-US" sz="89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上下文质量</a:t>
            </a:r>
            <a:endParaRPr lang="en-US" sz="1600" dirty="0"/>
          </a:p>
        </p:txBody>
      </p:sp>
      <p:sp>
        <p:nvSpPr>
          <p:cNvPr id="1048712" name="Shape 56"/>
          <p:cNvSpPr/>
          <p:nvPr/>
        </p:nvSpPr>
        <p:spPr>
          <a:xfrm>
            <a:off x="6522165" y="5746778"/>
            <a:ext cx="2619301" cy="489941"/>
          </a:xfrm>
          <a:custGeom>
            <a:avLst/>
            <a:gdLst/>
            <a:ahLst/>
            <a:cxnLst/>
            <a:rect l="l" t="t" r="r" b="b"/>
            <a:pathLst>
              <a:path w="2619301" h="489941">
                <a:moveTo>
                  <a:pt x="75377" y="0"/>
                </a:moveTo>
                <a:lnTo>
                  <a:pt x="2543924" y="0"/>
                </a:lnTo>
                <a:cubicBezTo>
                  <a:pt x="2585554" y="0"/>
                  <a:pt x="2619301" y="33748"/>
                  <a:pt x="2619301" y="75377"/>
                </a:cubicBezTo>
                <a:lnTo>
                  <a:pt x="2619301" y="414564"/>
                </a:lnTo>
                <a:cubicBezTo>
                  <a:pt x="2619301" y="456194"/>
                  <a:pt x="2585554" y="489941"/>
                  <a:pt x="2543924" y="489941"/>
                </a:cubicBezTo>
                <a:lnTo>
                  <a:pt x="75377" y="489941"/>
                </a:lnTo>
                <a:cubicBezTo>
                  <a:pt x="33748" y="489941"/>
                  <a:pt x="0" y="456194"/>
                  <a:pt x="0" y="414564"/>
                </a:cubicBezTo>
                <a:lnTo>
                  <a:pt x="0" y="75377"/>
                </a:lnTo>
                <a:cubicBezTo>
                  <a:pt x="0" y="33776"/>
                  <a:pt x="33776" y="0"/>
                  <a:pt x="75377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48713" name="Text 57"/>
          <p:cNvSpPr/>
          <p:nvPr/>
        </p:nvSpPr>
        <p:spPr>
          <a:xfrm>
            <a:off x="6597541" y="5822154"/>
            <a:ext cx="2534504" cy="1884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Delegation</a:t>
            </a:r>
            <a:endParaRPr lang="en-US" sz="1600" dirty="0"/>
          </a:p>
        </p:txBody>
      </p:sp>
      <p:sp>
        <p:nvSpPr>
          <p:cNvPr id="1048714" name="Text 58"/>
          <p:cNvSpPr/>
          <p:nvPr/>
        </p:nvSpPr>
        <p:spPr>
          <a:xfrm>
            <a:off x="6597541" y="6010593"/>
            <a:ext cx="2525082" cy="1507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89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任务分发、工作并行化</a:t>
            </a:r>
            <a:endParaRPr lang="en-US" sz="1600" dirty="0"/>
          </a:p>
        </p:txBody>
      </p:sp>
      <p:sp>
        <p:nvSpPr>
          <p:cNvPr id="1048715" name="Shape 59"/>
          <p:cNvSpPr/>
          <p:nvPr/>
        </p:nvSpPr>
        <p:spPr>
          <a:xfrm>
            <a:off x="9214380" y="5746778"/>
            <a:ext cx="2619301" cy="489941"/>
          </a:xfrm>
          <a:custGeom>
            <a:avLst/>
            <a:gdLst/>
            <a:ahLst/>
            <a:cxnLst/>
            <a:rect l="l" t="t" r="r" b="b"/>
            <a:pathLst>
              <a:path w="2619301" h="489941">
                <a:moveTo>
                  <a:pt x="75377" y="0"/>
                </a:moveTo>
                <a:lnTo>
                  <a:pt x="2543924" y="0"/>
                </a:lnTo>
                <a:cubicBezTo>
                  <a:pt x="2585554" y="0"/>
                  <a:pt x="2619301" y="33748"/>
                  <a:pt x="2619301" y="75377"/>
                </a:cubicBezTo>
                <a:lnTo>
                  <a:pt x="2619301" y="414564"/>
                </a:lnTo>
                <a:cubicBezTo>
                  <a:pt x="2619301" y="456194"/>
                  <a:pt x="2585554" y="489941"/>
                  <a:pt x="2543924" y="489941"/>
                </a:cubicBezTo>
                <a:lnTo>
                  <a:pt x="75377" y="489941"/>
                </a:lnTo>
                <a:cubicBezTo>
                  <a:pt x="33748" y="489941"/>
                  <a:pt x="0" y="456194"/>
                  <a:pt x="0" y="414564"/>
                </a:cubicBezTo>
                <a:lnTo>
                  <a:pt x="0" y="75377"/>
                </a:lnTo>
                <a:cubicBezTo>
                  <a:pt x="0" y="33776"/>
                  <a:pt x="33776" y="0"/>
                  <a:pt x="75377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48716" name="Text 60"/>
          <p:cNvSpPr/>
          <p:nvPr/>
        </p:nvSpPr>
        <p:spPr>
          <a:xfrm>
            <a:off x="9289755" y="5822154"/>
            <a:ext cx="2534504" cy="1884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Verification</a:t>
            </a:r>
            <a:endParaRPr lang="en-US" sz="1600" dirty="0"/>
          </a:p>
        </p:txBody>
      </p:sp>
      <p:sp>
        <p:nvSpPr>
          <p:cNvPr id="1048717" name="Text 61"/>
          <p:cNvSpPr/>
          <p:nvPr/>
        </p:nvSpPr>
        <p:spPr>
          <a:xfrm>
            <a:off x="9289755" y="6010593"/>
            <a:ext cx="2525082" cy="1507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altLang="zh-CN" sz="890" dirty="0" err="1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循环检测、</a:t>
            </a:r>
            <a:r>
              <a:rPr lang="en-US" sz="890" dirty="0" err="1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自验证</a:t>
            </a:r>
            <a:endParaRPr lang="en-US" sz="1600" dirty="0"/>
          </a:p>
        </p:txBody>
      </p:sp>
      <p:sp>
        <p:nvSpPr>
          <p:cNvPr id="1048718" name="文本框 63"/>
          <p:cNvSpPr txBox="1"/>
          <p:nvPr/>
        </p:nvSpPr>
        <p:spPr>
          <a:xfrm>
            <a:off x="428271" y="6445993"/>
            <a:ext cx="3599180" cy="3708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hlinkClick r:id="rId3"/>
              </a:rPr>
              <a:t>https://openai.com/zh-Hans-CN/index/harness-engineering/</a:t>
            </a:r>
            <a:endParaRPr lang="en-US" altLang="zh-CN" sz="1000" dirty="0"/>
          </a:p>
          <a:p>
            <a:r>
              <a:rPr lang="en-US" altLang="zh-CN" sz="1000" dirty="0">
                <a:hlinkClick r:id="rId4"/>
              </a:rPr>
              <a:t>Components of A Coding Agent - by Sebastian </a:t>
            </a:r>
            <a:r>
              <a:rPr lang="en-US" altLang="zh-CN" sz="1000" dirty="0" err="1">
                <a:hlinkClick r:id="rId4"/>
              </a:rPr>
              <a:t>Raschka</a:t>
            </a:r>
            <a:r>
              <a:rPr lang="en-US" altLang="zh-CN" sz="1000" dirty="0">
                <a:hlinkClick r:id="rId4"/>
              </a:rPr>
              <a:t>, PhD</a:t>
            </a:r>
            <a:endParaRPr lang="zh-CN" altLang="en-US" sz="1000" dirty="0"/>
          </a:p>
        </p:txBody>
      </p:sp>
      <p:pic>
        <p:nvPicPr>
          <p:cNvPr id="2097155" name="图片 65" descr="文本  AI 生成的内容可能不正确。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2521" y="2713520"/>
            <a:ext cx="4581490" cy="1158099"/>
          </a:xfrm>
          <a:prstGeom prst="rect">
            <a:avLst/>
          </a:prstGeom>
        </p:spPr>
      </p:pic>
      <p:sp>
        <p:nvSpPr>
          <p:cNvPr id="3" name="右大括号 2">
            <a:extLst>
              <a:ext uri="{FF2B5EF4-FFF2-40B4-BE49-F238E27FC236}">
                <a16:creationId xmlns:a16="http://schemas.microsoft.com/office/drawing/2014/main" id="{D1B57CA1-5A1C-25A2-9CD8-D434DF38B28B}"/>
              </a:ext>
            </a:extLst>
          </p:cNvPr>
          <p:cNvSpPr/>
          <p:nvPr/>
        </p:nvSpPr>
        <p:spPr>
          <a:xfrm>
            <a:off x="5065828" y="1394448"/>
            <a:ext cx="276046" cy="4221032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3A9640D-E8E7-71D6-B7CB-F322BBCAED42}"/>
              </a:ext>
            </a:extLst>
          </p:cNvPr>
          <p:cNvSpPr txBox="1"/>
          <p:nvPr/>
        </p:nvSpPr>
        <p:spPr>
          <a:xfrm>
            <a:off x="5312091" y="3174803"/>
            <a:ext cx="12971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Software</a:t>
            </a:r>
          </a:p>
          <a:p>
            <a:pPr algn="ctr"/>
            <a:r>
              <a:rPr lang="en-US" altLang="zh-CN" dirty="0"/>
              <a:t>Engineering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Shape 0"/>
          <p:cNvSpPr/>
          <p:nvPr/>
        </p:nvSpPr>
        <p:spPr>
          <a:xfrm>
            <a:off x="376878" y="376878"/>
            <a:ext cx="452253" cy="452253"/>
          </a:xfrm>
          <a:custGeom>
            <a:avLst/>
            <a:gdLst/>
            <a:ahLst/>
            <a:cxnLst/>
            <a:rect l="l" t="t" r="r" b="b"/>
            <a:pathLst>
              <a:path w="452253" h="452253">
                <a:moveTo>
                  <a:pt x="226127" y="0"/>
                </a:moveTo>
                <a:lnTo>
                  <a:pt x="226127" y="0"/>
                </a:lnTo>
                <a:cubicBezTo>
                  <a:pt x="351013" y="0"/>
                  <a:pt x="452253" y="101240"/>
                  <a:pt x="452253" y="226127"/>
                </a:cubicBezTo>
                <a:lnTo>
                  <a:pt x="452253" y="226127"/>
                </a:lnTo>
                <a:cubicBezTo>
                  <a:pt x="452253" y="351013"/>
                  <a:pt x="351013" y="452253"/>
                  <a:pt x="226127" y="452253"/>
                </a:cubicBezTo>
                <a:lnTo>
                  <a:pt x="226127" y="452253"/>
                </a:lnTo>
                <a:cubicBezTo>
                  <a:pt x="101240" y="452253"/>
                  <a:pt x="0" y="351013"/>
                  <a:pt x="0" y="226127"/>
                </a:cubicBezTo>
                <a:lnTo>
                  <a:pt x="0" y="226127"/>
                </a:lnTo>
                <a:cubicBezTo>
                  <a:pt x="0" y="101240"/>
                  <a:pt x="101240" y="0"/>
                  <a:pt x="226127" y="0"/>
                </a:cubicBezTo>
                <a:close/>
              </a:path>
            </a:pathLst>
          </a:custGeom>
          <a:solidFill>
            <a:srgbClr val="FF2056"/>
          </a:solidFill>
        </p:spPr>
      </p:sp>
      <p:sp>
        <p:nvSpPr>
          <p:cNvPr id="1048661" name="Text 1"/>
          <p:cNvSpPr/>
          <p:nvPr/>
        </p:nvSpPr>
        <p:spPr>
          <a:xfrm>
            <a:off x="329768" y="376878"/>
            <a:ext cx="546473" cy="4522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4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600" dirty="0"/>
          </a:p>
        </p:txBody>
      </p:sp>
      <p:sp>
        <p:nvSpPr>
          <p:cNvPr id="1048662" name="Text 2"/>
          <p:cNvSpPr/>
          <p:nvPr/>
        </p:nvSpPr>
        <p:spPr>
          <a:xfrm>
            <a:off x="942195" y="414566"/>
            <a:ext cx="5653168" cy="3768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71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第三次跃迁：Harness Engineering</a:t>
            </a:r>
            <a:endParaRPr lang="en-US" sz="1600" dirty="0"/>
          </a:p>
        </p:txBody>
      </p:sp>
      <p:sp>
        <p:nvSpPr>
          <p:cNvPr id="1048663" name="Shape 3"/>
          <p:cNvSpPr/>
          <p:nvPr/>
        </p:nvSpPr>
        <p:spPr>
          <a:xfrm>
            <a:off x="376878" y="904507"/>
            <a:ext cx="1206009" cy="37688"/>
          </a:xfrm>
          <a:custGeom>
            <a:avLst/>
            <a:gdLst/>
            <a:ahLst/>
            <a:cxnLst/>
            <a:rect l="l" t="t" r="r" b="b"/>
            <a:pathLst>
              <a:path w="1206009" h="37688">
                <a:moveTo>
                  <a:pt x="0" y="0"/>
                </a:moveTo>
                <a:lnTo>
                  <a:pt x="1206009" y="0"/>
                </a:lnTo>
                <a:lnTo>
                  <a:pt x="1206009" y="37688"/>
                </a:lnTo>
                <a:lnTo>
                  <a:pt x="0" y="37688"/>
                </a:lnTo>
                <a:lnTo>
                  <a:pt x="0" y="0"/>
                </a:lnTo>
                <a:close/>
              </a:path>
            </a:pathLst>
          </a:custGeom>
          <a:solidFill>
            <a:srgbClr val="FF2056"/>
          </a:solidFill>
        </p:spPr>
      </p:sp>
      <p:sp>
        <p:nvSpPr>
          <p:cNvPr id="1048664" name="Text 4"/>
          <p:cNvSpPr/>
          <p:nvPr/>
        </p:nvSpPr>
        <p:spPr>
          <a:xfrm>
            <a:off x="376878" y="1017570"/>
            <a:ext cx="11523042" cy="263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2026-：构建Agent运行的"环境"</a:t>
            </a:r>
            <a:endParaRPr lang="en-US" sz="1600" dirty="0"/>
          </a:p>
        </p:txBody>
      </p:sp>
      <p:sp>
        <p:nvSpPr>
          <p:cNvPr id="1048665" name="文本框 63"/>
          <p:cNvSpPr txBox="1"/>
          <p:nvPr/>
        </p:nvSpPr>
        <p:spPr>
          <a:xfrm>
            <a:off x="428271" y="6445993"/>
            <a:ext cx="6532880" cy="2311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hlinkClick r:id="rId3"/>
              </a:rPr>
              <a:t>From Prompts to Harnesses: The Three Eras of AI Agent Engineering | by Mohamed </a:t>
            </a:r>
            <a:r>
              <a:rPr lang="en-US" altLang="zh-CN" sz="1000" dirty="0" err="1">
                <a:hlinkClick r:id="rId3"/>
              </a:rPr>
              <a:t>Hendawy</a:t>
            </a:r>
            <a:r>
              <a:rPr lang="en-US" altLang="zh-CN" sz="1000" dirty="0">
                <a:hlinkClick r:id="rId3"/>
              </a:rPr>
              <a:t> | Apr, 2026 | Medium</a:t>
            </a:r>
            <a:endParaRPr lang="zh-CN" altLang="en-US" sz="1000" dirty="0"/>
          </a:p>
        </p:txBody>
      </p:sp>
      <p:pic>
        <p:nvPicPr>
          <p:cNvPr id="2097154" name="图片 71" descr="文本  AI 生成的内容可能不正确。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2887" y="1528673"/>
            <a:ext cx="8638934" cy="44248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Human-</a:t>
            </a:r>
            <a:r>
              <a:rPr lang="en-US" sz="2700" b="1" dirty="0" err="1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Agent关系的演变</a:t>
            </a:r>
            <a:endParaRPr lang="en-US" sz="1600" dirty="0"/>
          </a:p>
        </p:txBody>
      </p:sp>
      <p:sp>
        <p:nvSpPr>
          <p:cNvPr id="1048619" name="Shape 1"/>
          <p:cNvSpPr/>
          <p:nvPr/>
        </p:nvSpPr>
        <p:spPr>
          <a:xfrm>
            <a:off x="381000" y="876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E51FF"/>
          </a:solidFill>
        </p:spPr>
      </p:sp>
      <p:sp>
        <p:nvSpPr>
          <p:cNvPr id="1048620" name="Text 2"/>
          <p:cNvSpPr/>
          <p:nvPr/>
        </p:nvSpPr>
        <p:spPr>
          <a:xfrm>
            <a:off x="381000" y="990600"/>
            <a:ext cx="11515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贯穿三次范式跃迁的核心线索</a:t>
            </a:r>
            <a:endParaRPr lang="en-US" sz="1600" dirty="0"/>
          </a:p>
        </p:txBody>
      </p:sp>
      <p:sp>
        <p:nvSpPr>
          <p:cNvPr id="1048621" name="Shape 3"/>
          <p:cNvSpPr/>
          <p:nvPr/>
        </p:nvSpPr>
        <p:spPr>
          <a:xfrm>
            <a:off x="381000" y="1714500"/>
            <a:ext cx="3705225" cy="3208020"/>
          </a:xfrm>
          <a:custGeom>
            <a:avLst/>
            <a:gdLst/>
            <a:ahLst/>
            <a:cxnLst/>
            <a:rect l="l" t="t" r="r" b="b"/>
            <a:pathLst>
              <a:path w="3705225" h="3657600">
                <a:moveTo>
                  <a:pt x="114300" y="0"/>
                </a:moveTo>
                <a:lnTo>
                  <a:pt x="3590925" y="0"/>
                </a:lnTo>
                <a:cubicBezTo>
                  <a:pt x="3654009" y="0"/>
                  <a:pt x="3705225" y="51216"/>
                  <a:pt x="3705225" y="114300"/>
                </a:cubicBezTo>
                <a:lnTo>
                  <a:pt x="3705225" y="3543300"/>
                </a:lnTo>
                <a:cubicBezTo>
                  <a:pt x="3705225" y="3606384"/>
                  <a:pt x="3654009" y="3657600"/>
                  <a:pt x="3590925" y="3657600"/>
                </a:cubicBezTo>
                <a:lnTo>
                  <a:pt x="114300" y="3657600"/>
                </a:lnTo>
                <a:cubicBezTo>
                  <a:pt x="51216" y="3657600"/>
                  <a:pt x="0" y="3606384"/>
                  <a:pt x="0" y="3543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B7FFF"/>
              </a:gs>
              <a:gs pos="100000">
                <a:srgbClr val="1447E6"/>
              </a:gs>
            </a:gsLst>
            <a:lin ang="2700000" scaled="1"/>
          </a:gradFill>
        </p:spPr>
      </p:sp>
      <p:sp>
        <p:nvSpPr>
          <p:cNvPr id="1048622" name="Shape 4"/>
          <p:cNvSpPr/>
          <p:nvPr/>
        </p:nvSpPr>
        <p:spPr>
          <a:xfrm>
            <a:off x="571500" y="190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1048623" name="Shape 5"/>
          <p:cNvSpPr/>
          <p:nvPr/>
        </p:nvSpPr>
        <p:spPr>
          <a:xfrm>
            <a:off x="700088" y="20193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17859"/>
                </a:moveTo>
                <a:cubicBezTo>
                  <a:pt x="57150" y="7992"/>
                  <a:pt x="65142" y="0"/>
                  <a:pt x="75009" y="0"/>
                </a:cubicBezTo>
                <a:cubicBezTo>
                  <a:pt x="84877" y="0"/>
                  <a:pt x="92869" y="7992"/>
                  <a:pt x="92869" y="17859"/>
                </a:cubicBezTo>
                <a:lnTo>
                  <a:pt x="92869" y="84028"/>
                </a:lnTo>
                <a:cubicBezTo>
                  <a:pt x="96664" y="80635"/>
                  <a:pt x="101664" y="78581"/>
                  <a:pt x="107156" y="78581"/>
                </a:cubicBezTo>
                <a:cubicBezTo>
                  <a:pt x="116354" y="78581"/>
                  <a:pt x="124212" y="84386"/>
                  <a:pt x="127248" y="92512"/>
                </a:cubicBezTo>
                <a:cubicBezTo>
                  <a:pt x="131177" y="88359"/>
                  <a:pt x="136714" y="85725"/>
                  <a:pt x="142875" y="85725"/>
                </a:cubicBezTo>
                <a:cubicBezTo>
                  <a:pt x="154171" y="85725"/>
                  <a:pt x="163413" y="94431"/>
                  <a:pt x="164262" y="105504"/>
                </a:cubicBezTo>
                <a:cubicBezTo>
                  <a:pt x="168057" y="102066"/>
                  <a:pt x="173102" y="100013"/>
                  <a:pt x="178594" y="100013"/>
                </a:cubicBezTo>
                <a:cubicBezTo>
                  <a:pt x="190426" y="100013"/>
                  <a:pt x="200025" y="109612"/>
                  <a:pt x="200025" y="121444"/>
                </a:cubicBezTo>
                <a:lnTo>
                  <a:pt x="200025" y="171450"/>
                </a:lnTo>
                <a:cubicBezTo>
                  <a:pt x="200025" y="203016"/>
                  <a:pt x="174441" y="228600"/>
                  <a:pt x="142875" y="228600"/>
                </a:cubicBezTo>
                <a:lnTo>
                  <a:pt x="104790" y="228600"/>
                </a:lnTo>
                <a:cubicBezTo>
                  <a:pt x="102557" y="228600"/>
                  <a:pt x="100370" y="228466"/>
                  <a:pt x="98227" y="228154"/>
                </a:cubicBezTo>
                <a:cubicBezTo>
                  <a:pt x="73536" y="225653"/>
                  <a:pt x="50810" y="212973"/>
                  <a:pt x="35719" y="192881"/>
                </a:cubicBezTo>
                <a:lnTo>
                  <a:pt x="3572" y="150019"/>
                </a:lnTo>
                <a:cubicBezTo>
                  <a:pt x="-2366" y="142116"/>
                  <a:pt x="-759" y="130954"/>
                  <a:pt x="7144" y="125016"/>
                </a:cubicBezTo>
                <a:cubicBezTo>
                  <a:pt x="15047" y="119077"/>
                  <a:pt x="26209" y="120685"/>
                  <a:pt x="32147" y="128588"/>
                </a:cubicBezTo>
                <a:lnTo>
                  <a:pt x="57150" y="161940"/>
                </a:lnTo>
                <a:lnTo>
                  <a:pt x="57150" y="17859"/>
                </a:lnTo>
                <a:close/>
                <a:moveTo>
                  <a:pt x="107156" y="135731"/>
                </a:moveTo>
                <a:cubicBezTo>
                  <a:pt x="107156" y="131802"/>
                  <a:pt x="103942" y="128588"/>
                  <a:pt x="100013" y="128588"/>
                </a:cubicBezTo>
                <a:cubicBezTo>
                  <a:pt x="96083" y="128588"/>
                  <a:pt x="92869" y="131802"/>
                  <a:pt x="92869" y="135731"/>
                </a:cubicBezTo>
                <a:lnTo>
                  <a:pt x="92869" y="178594"/>
                </a:lnTo>
                <a:cubicBezTo>
                  <a:pt x="92869" y="182523"/>
                  <a:pt x="96083" y="185738"/>
                  <a:pt x="100013" y="185738"/>
                </a:cubicBezTo>
                <a:cubicBezTo>
                  <a:pt x="103942" y="185738"/>
                  <a:pt x="107156" y="182523"/>
                  <a:pt x="107156" y="178594"/>
                </a:cubicBezTo>
                <a:lnTo>
                  <a:pt x="107156" y="135731"/>
                </a:lnTo>
                <a:close/>
                <a:moveTo>
                  <a:pt x="128588" y="128588"/>
                </a:moveTo>
                <a:cubicBezTo>
                  <a:pt x="124658" y="128588"/>
                  <a:pt x="121444" y="131802"/>
                  <a:pt x="121444" y="135731"/>
                </a:cubicBezTo>
                <a:lnTo>
                  <a:pt x="121444" y="178594"/>
                </a:lnTo>
                <a:cubicBezTo>
                  <a:pt x="121444" y="182523"/>
                  <a:pt x="124658" y="185738"/>
                  <a:pt x="128588" y="185738"/>
                </a:cubicBezTo>
                <a:cubicBezTo>
                  <a:pt x="132517" y="185738"/>
                  <a:pt x="135731" y="182523"/>
                  <a:pt x="135731" y="178594"/>
                </a:cubicBezTo>
                <a:lnTo>
                  <a:pt x="135731" y="135731"/>
                </a:lnTo>
                <a:cubicBezTo>
                  <a:pt x="135731" y="131802"/>
                  <a:pt x="132517" y="128588"/>
                  <a:pt x="128588" y="128588"/>
                </a:cubicBezTo>
                <a:close/>
                <a:moveTo>
                  <a:pt x="164306" y="135731"/>
                </a:moveTo>
                <a:cubicBezTo>
                  <a:pt x="164306" y="131802"/>
                  <a:pt x="161092" y="128588"/>
                  <a:pt x="157163" y="128588"/>
                </a:cubicBezTo>
                <a:cubicBezTo>
                  <a:pt x="153233" y="128588"/>
                  <a:pt x="150019" y="131802"/>
                  <a:pt x="150019" y="135731"/>
                </a:cubicBezTo>
                <a:lnTo>
                  <a:pt x="150019" y="178594"/>
                </a:lnTo>
                <a:cubicBezTo>
                  <a:pt x="150019" y="182523"/>
                  <a:pt x="153233" y="185738"/>
                  <a:pt x="157163" y="185738"/>
                </a:cubicBezTo>
                <a:cubicBezTo>
                  <a:pt x="161092" y="185738"/>
                  <a:pt x="164306" y="182523"/>
                  <a:pt x="164306" y="178594"/>
                </a:cubicBezTo>
                <a:lnTo>
                  <a:pt x="164306" y="135731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48624" name="Text 6"/>
          <p:cNvSpPr/>
          <p:nvPr/>
        </p:nvSpPr>
        <p:spPr>
          <a:xfrm>
            <a:off x="1143000" y="1981200"/>
            <a:ext cx="800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阶段一</a:t>
            </a:r>
            <a:endParaRPr lang="en-US" sz="1600" dirty="0"/>
          </a:p>
        </p:txBody>
      </p:sp>
      <p:sp>
        <p:nvSpPr>
          <p:cNvPr id="1048625" name="Shape 7"/>
          <p:cNvSpPr/>
          <p:nvPr/>
        </p:nvSpPr>
        <p:spPr>
          <a:xfrm>
            <a:off x="571500" y="2514600"/>
            <a:ext cx="3324225" cy="685800"/>
          </a:xfrm>
          <a:custGeom>
            <a:avLst/>
            <a:gdLst/>
            <a:ahLst/>
            <a:cxnLst/>
            <a:rect l="l" t="t" r="r" b="b"/>
            <a:pathLst>
              <a:path w="3324225" h="685800">
                <a:moveTo>
                  <a:pt x="76199" y="0"/>
                </a:moveTo>
                <a:lnTo>
                  <a:pt x="3248026" y="0"/>
                </a:lnTo>
                <a:cubicBezTo>
                  <a:pt x="3290109" y="0"/>
                  <a:pt x="3324225" y="34116"/>
                  <a:pt x="3324225" y="76199"/>
                </a:cubicBezTo>
                <a:lnTo>
                  <a:pt x="3324225" y="609601"/>
                </a:lnTo>
                <a:cubicBezTo>
                  <a:pt x="3324225" y="651684"/>
                  <a:pt x="3290109" y="685800"/>
                  <a:pt x="32480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1048626" name="Text 8"/>
          <p:cNvSpPr/>
          <p:nvPr/>
        </p:nvSpPr>
        <p:spPr>
          <a:xfrm>
            <a:off x="685800" y="2628900"/>
            <a:ext cx="3181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Human-</a:t>
            </a:r>
            <a:r>
              <a:rPr lang="en-US" altLang="zh-CN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govern</a:t>
            </a:r>
            <a:endParaRPr lang="en-US" sz="1600" dirty="0"/>
          </a:p>
        </p:txBody>
      </p:sp>
      <p:sp>
        <p:nvSpPr>
          <p:cNvPr id="1048627" name="Text 9"/>
          <p:cNvSpPr/>
          <p:nvPr/>
        </p:nvSpPr>
        <p:spPr>
          <a:xfrm>
            <a:off x="685800" y="2895600"/>
            <a:ext cx="31623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BEDB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2022-</a:t>
            </a:r>
            <a:endParaRPr lang="en-US" sz="1600" dirty="0"/>
          </a:p>
        </p:txBody>
      </p:sp>
      <p:sp>
        <p:nvSpPr>
          <p:cNvPr id="1048628" name="Text 10"/>
          <p:cNvSpPr/>
          <p:nvPr/>
        </p:nvSpPr>
        <p:spPr>
          <a:xfrm>
            <a:off x="571500" y="3314700"/>
            <a:ext cx="33909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Human是主导者</a:t>
            </a:r>
            <a:endParaRPr lang="en-US" sz="1600" dirty="0"/>
          </a:p>
        </p:txBody>
      </p:sp>
      <p:sp>
        <p:nvSpPr>
          <p:cNvPr id="1048629" name="Text 11"/>
          <p:cNvSpPr/>
          <p:nvPr/>
        </p:nvSpPr>
        <p:spPr>
          <a:xfrm>
            <a:off x="571500" y="3581400"/>
            <a:ext cx="33909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每一步都需要Human操作</a:t>
            </a:r>
            <a:endParaRPr lang="en-US" sz="1600" dirty="0"/>
          </a:p>
        </p:txBody>
      </p:sp>
      <p:sp>
        <p:nvSpPr>
          <p:cNvPr id="1048630" name="Text 12"/>
          <p:cNvSpPr/>
          <p:nvPr/>
        </p:nvSpPr>
        <p:spPr>
          <a:xfrm>
            <a:off x="571500" y="3848100"/>
            <a:ext cx="33909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Agent = 高级自动补全工具</a:t>
            </a:r>
            <a:endParaRPr lang="en-US" sz="1600" dirty="0"/>
          </a:p>
        </p:txBody>
      </p:sp>
      <p:sp>
        <p:nvSpPr>
          <p:cNvPr id="1048631" name="Shape 13"/>
          <p:cNvSpPr/>
          <p:nvPr/>
        </p:nvSpPr>
        <p:spPr>
          <a:xfrm>
            <a:off x="571500" y="4152900"/>
            <a:ext cx="3324225" cy="457200"/>
          </a:xfrm>
          <a:custGeom>
            <a:avLst/>
            <a:gdLst/>
            <a:ahLst/>
            <a:cxnLst/>
            <a:rect l="l" t="t" r="r" b="b"/>
            <a:pathLst>
              <a:path w="3324225" h="457200">
                <a:moveTo>
                  <a:pt x="76202" y="0"/>
                </a:moveTo>
                <a:lnTo>
                  <a:pt x="3248023" y="0"/>
                </a:lnTo>
                <a:cubicBezTo>
                  <a:pt x="3290108" y="0"/>
                  <a:pt x="3324225" y="34117"/>
                  <a:pt x="3324225" y="76202"/>
                </a:cubicBezTo>
                <a:lnTo>
                  <a:pt x="3324225" y="380998"/>
                </a:lnTo>
                <a:cubicBezTo>
                  <a:pt x="3324225" y="423083"/>
                  <a:pt x="3290108" y="457200"/>
                  <a:pt x="324802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1048632" name="Text 14"/>
          <p:cNvSpPr/>
          <p:nvPr/>
        </p:nvSpPr>
        <p:spPr>
          <a:xfrm>
            <a:off x="685800" y="4267200"/>
            <a:ext cx="31718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"AI as a Tool"</a:t>
            </a:r>
            <a:endParaRPr lang="en-US" sz="1600" dirty="0"/>
          </a:p>
        </p:txBody>
      </p:sp>
      <p:sp>
        <p:nvSpPr>
          <p:cNvPr id="1048633" name="Shape 15"/>
          <p:cNvSpPr/>
          <p:nvPr/>
        </p:nvSpPr>
        <p:spPr>
          <a:xfrm>
            <a:off x="4241764" y="1714500"/>
            <a:ext cx="3705225" cy="3208020"/>
          </a:xfrm>
          <a:custGeom>
            <a:avLst/>
            <a:gdLst/>
            <a:ahLst/>
            <a:cxnLst/>
            <a:rect l="l" t="t" r="r" b="b"/>
            <a:pathLst>
              <a:path w="3705225" h="3657600">
                <a:moveTo>
                  <a:pt x="114300" y="0"/>
                </a:moveTo>
                <a:lnTo>
                  <a:pt x="3590925" y="0"/>
                </a:lnTo>
                <a:cubicBezTo>
                  <a:pt x="3654009" y="0"/>
                  <a:pt x="3705225" y="51216"/>
                  <a:pt x="3705225" y="114300"/>
                </a:cubicBezTo>
                <a:lnTo>
                  <a:pt x="3705225" y="3543300"/>
                </a:lnTo>
                <a:cubicBezTo>
                  <a:pt x="3705225" y="3606384"/>
                  <a:pt x="3654009" y="3657600"/>
                  <a:pt x="3590925" y="3657600"/>
                </a:cubicBezTo>
                <a:lnTo>
                  <a:pt x="114300" y="3657600"/>
                </a:lnTo>
                <a:cubicBezTo>
                  <a:pt x="51216" y="3657600"/>
                  <a:pt x="0" y="3606384"/>
                  <a:pt x="0" y="3543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E9A00"/>
              </a:gs>
              <a:gs pos="100000">
                <a:srgbClr val="BB4D00"/>
              </a:gs>
            </a:gsLst>
            <a:lin ang="2700000" scaled="1"/>
          </a:gradFill>
        </p:spPr>
      </p:sp>
      <p:sp>
        <p:nvSpPr>
          <p:cNvPr id="1048634" name="Shape 16"/>
          <p:cNvSpPr/>
          <p:nvPr/>
        </p:nvSpPr>
        <p:spPr>
          <a:xfrm>
            <a:off x="4432264" y="190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1048635" name="Shape 17"/>
          <p:cNvSpPr/>
          <p:nvPr/>
        </p:nvSpPr>
        <p:spPr>
          <a:xfrm>
            <a:off x="4532277" y="20193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14288"/>
                </a:moveTo>
                <a:cubicBezTo>
                  <a:pt x="92512" y="14288"/>
                  <a:pt x="63624" y="30718"/>
                  <a:pt x="42595" y="50274"/>
                </a:cubicBezTo>
                <a:cubicBezTo>
                  <a:pt x="21699" y="69696"/>
                  <a:pt x="7724" y="92869"/>
                  <a:pt x="1072" y="108808"/>
                </a:cubicBezTo>
                <a:cubicBezTo>
                  <a:pt x="-402" y="112335"/>
                  <a:pt x="-402" y="116265"/>
                  <a:pt x="1072" y="119792"/>
                </a:cubicBezTo>
                <a:cubicBezTo>
                  <a:pt x="7724" y="135731"/>
                  <a:pt x="21699" y="158948"/>
                  <a:pt x="42595" y="178326"/>
                </a:cubicBezTo>
                <a:cubicBezTo>
                  <a:pt x="63624" y="197837"/>
                  <a:pt x="92512" y="214313"/>
                  <a:pt x="128588" y="214313"/>
                </a:cubicBezTo>
                <a:cubicBezTo>
                  <a:pt x="164663" y="214313"/>
                  <a:pt x="193551" y="197882"/>
                  <a:pt x="214580" y="178326"/>
                </a:cubicBezTo>
                <a:cubicBezTo>
                  <a:pt x="235476" y="158904"/>
                  <a:pt x="249451" y="135731"/>
                  <a:pt x="256103" y="119792"/>
                </a:cubicBezTo>
                <a:cubicBezTo>
                  <a:pt x="257577" y="116265"/>
                  <a:pt x="257577" y="112335"/>
                  <a:pt x="256103" y="108808"/>
                </a:cubicBezTo>
                <a:cubicBezTo>
                  <a:pt x="249451" y="92869"/>
                  <a:pt x="235476" y="69652"/>
                  <a:pt x="214580" y="50274"/>
                </a:cubicBezTo>
                <a:cubicBezTo>
                  <a:pt x="193551" y="30763"/>
                  <a:pt x="164663" y="14287"/>
                  <a:pt x="128588" y="14287"/>
                </a:cubicBezTo>
                <a:close/>
                <a:moveTo>
                  <a:pt x="64294" y="114300"/>
                </a:moveTo>
                <a:cubicBezTo>
                  <a:pt x="64294" y="78815"/>
                  <a:pt x="93103" y="50006"/>
                  <a:pt x="128588" y="50006"/>
                </a:cubicBezTo>
                <a:cubicBezTo>
                  <a:pt x="164072" y="50006"/>
                  <a:pt x="192881" y="78815"/>
                  <a:pt x="192881" y="114300"/>
                </a:cubicBezTo>
                <a:cubicBezTo>
                  <a:pt x="192881" y="149785"/>
                  <a:pt x="164072" y="178594"/>
                  <a:pt x="128588" y="178594"/>
                </a:cubicBezTo>
                <a:cubicBezTo>
                  <a:pt x="93103" y="178594"/>
                  <a:pt x="64294" y="149785"/>
                  <a:pt x="64294" y="114300"/>
                </a:cubicBezTo>
                <a:close/>
                <a:moveTo>
                  <a:pt x="128588" y="85725"/>
                </a:moveTo>
                <a:cubicBezTo>
                  <a:pt x="128588" y="101486"/>
                  <a:pt x="115773" y="114300"/>
                  <a:pt x="100013" y="114300"/>
                </a:cubicBezTo>
                <a:cubicBezTo>
                  <a:pt x="94878" y="114300"/>
                  <a:pt x="90056" y="112961"/>
                  <a:pt x="85859" y="110550"/>
                </a:cubicBezTo>
                <a:cubicBezTo>
                  <a:pt x="85412" y="115416"/>
                  <a:pt x="85814" y="120417"/>
                  <a:pt x="87154" y="125373"/>
                </a:cubicBezTo>
                <a:cubicBezTo>
                  <a:pt x="93271" y="148233"/>
                  <a:pt x="116800" y="161806"/>
                  <a:pt x="139660" y="155689"/>
                </a:cubicBezTo>
                <a:cubicBezTo>
                  <a:pt x="162520" y="149572"/>
                  <a:pt x="176093" y="126043"/>
                  <a:pt x="169977" y="103183"/>
                </a:cubicBezTo>
                <a:cubicBezTo>
                  <a:pt x="164529" y="82778"/>
                  <a:pt x="145197" y="69786"/>
                  <a:pt x="124837" y="71571"/>
                </a:cubicBezTo>
                <a:cubicBezTo>
                  <a:pt x="127203" y="75724"/>
                  <a:pt x="128588" y="80546"/>
                  <a:pt x="128588" y="8572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48636" name="Text 18"/>
          <p:cNvSpPr/>
          <p:nvPr/>
        </p:nvSpPr>
        <p:spPr>
          <a:xfrm>
            <a:off x="5003764" y="1981200"/>
            <a:ext cx="800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阶段二</a:t>
            </a:r>
            <a:endParaRPr lang="en-US" sz="1600" dirty="0"/>
          </a:p>
        </p:txBody>
      </p:sp>
      <p:sp>
        <p:nvSpPr>
          <p:cNvPr id="1048637" name="Shape 19"/>
          <p:cNvSpPr/>
          <p:nvPr/>
        </p:nvSpPr>
        <p:spPr>
          <a:xfrm>
            <a:off x="4432264" y="2514600"/>
            <a:ext cx="3324225" cy="685800"/>
          </a:xfrm>
          <a:custGeom>
            <a:avLst/>
            <a:gdLst/>
            <a:ahLst/>
            <a:cxnLst/>
            <a:rect l="l" t="t" r="r" b="b"/>
            <a:pathLst>
              <a:path w="3324225" h="685800">
                <a:moveTo>
                  <a:pt x="76199" y="0"/>
                </a:moveTo>
                <a:lnTo>
                  <a:pt x="3248026" y="0"/>
                </a:lnTo>
                <a:cubicBezTo>
                  <a:pt x="3290109" y="0"/>
                  <a:pt x="3324225" y="34116"/>
                  <a:pt x="3324225" y="76199"/>
                </a:cubicBezTo>
                <a:lnTo>
                  <a:pt x="3324225" y="609601"/>
                </a:lnTo>
                <a:cubicBezTo>
                  <a:pt x="3324225" y="651684"/>
                  <a:pt x="3290109" y="685800"/>
                  <a:pt x="32480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1048638" name="Text 20"/>
          <p:cNvSpPr/>
          <p:nvPr/>
        </p:nvSpPr>
        <p:spPr>
          <a:xfrm>
            <a:off x="4546564" y="2628900"/>
            <a:ext cx="3181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Human-</a:t>
            </a:r>
            <a:r>
              <a:rPr lang="en-US" altLang="zh-CN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</a:t>
            </a: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-the-Loop</a:t>
            </a:r>
            <a:endParaRPr lang="en-US" sz="1600" dirty="0"/>
          </a:p>
        </p:txBody>
      </p:sp>
      <p:sp>
        <p:nvSpPr>
          <p:cNvPr id="1048639" name="Text 21"/>
          <p:cNvSpPr/>
          <p:nvPr/>
        </p:nvSpPr>
        <p:spPr>
          <a:xfrm>
            <a:off x="4546564" y="2895600"/>
            <a:ext cx="31623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EE68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2024-</a:t>
            </a:r>
            <a:endParaRPr lang="en-US" sz="1600" dirty="0"/>
          </a:p>
        </p:txBody>
      </p:sp>
      <p:sp>
        <p:nvSpPr>
          <p:cNvPr id="1048640" name="Text 22"/>
          <p:cNvSpPr/>
          <p:nvPr/>
        </p:nvSpPr>
        <p:spPr>
          <a:xfrm>
            <a:off x="4432264" y="3314700"/>
            <a:ext cx="33909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Human提供上下文</a:t>
            </a:r>
            <a:endParaRPr lang="en-US" sz="1600" dirty="0"/>
          </a:p>
        </p:txBody>
      </p:sp>
      <p:sp>
        <p:nvSpPr>
          <p:cNvPr id="1048641" name="Text 23"/>
          <p:cNvSpPr/>
          <p:nvPr/>
        </p:nvSpPr>
        <p:spPr>
          <a:xfrm>
            <a:off x="4432264" y="3581400"/>
            <a:ext cx="33909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Agent自主检索和执行</a:t>
            </a:r>
            <a:endParaRPr lang="en-US" sz="1600" dirty="0"/>
          </a:p>
        </p:txBody>
      </p:sp>
      <p:sp>
        <p:nvSpPr>
          <p:cNvPr id="1048642" name="Text 24"/>
          <p:cNvSpPr/>
          <p:nvPr/>
        </p:nvSpPr>
        <p:spPr>
          <a:xfrm>
            <a:off x="4432264" y="3848100"/>
            <a:ext cx="33909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Agent = 有工作记忆的助手</a:t>
            </a:r>
            <a:endParaRPr lang="en-US" sz="1600" dirty="0"/>
          </a:p>
        </p:txBody>
      </p:sp>
      <p:sp>
        <p:nvSpPr>
          <p:cNvPr id="1048643" name="Shape 25"/>
          <p:cNvSpPr/>
          <p:nvPr/>
        </p:nvSpPr>
        <p:spPr>
          <a:xfrm>
            <a:off x="4432264" y="4152900"/>
            <a:ext cx="3324225" cy="457200"/>
          </a:xfrm>
          <a:custGeom>
            <a:avLst/>
            <a:gdLst/>
            <a:ahLst/>
            <a:cxnLst/>
            <a:rect l="l" t="t" r="r" b="b"/>
            <a:pathLst>
              <a:path w="3324225" h="457200">
                <a:moveTo>
                  <a:pt x="76202" y="0"/>
                </a:moveTo>
                <a:lnTo>
                  <a:pt x="3248023" y="0"/>
                </a:lnTo>
                <a:cubicBezTo>
                  <a:pt x="3290108" y="0"/>
                  <a:pt x="3324225" y="34117"/>
                  <a:pt x="3324225" y="76202"/>
                </a:cubicBezTo>
                <a:lnTo>
                  <a:pt x="3324225" y="380998"/>
                </a:lnTo>
                <a:cubicBezTo>
                  <a:pt x="3324225" y="423083"/>
                  <a:pt x="3290108" y="457200"/>
                  <a:pt x="324802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1048644" name="Text 26"/>
          <p:cNvSpPr/>
          <p:nvPr/>
        </p:nvSpPr>
        <p:spPr>
          <a:xfrm>
            <a:off x="4546564" y="4267200"/>
            <a:ext cx="31718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"AI as an Assistant"</a:t>
            </a:r>
            <a:endParaRPr lang="en-US" sz="1600" dirty="0"/>
          </a:p>
        </p:txBody>
      </p:sp>
      <p:sp>
        <p:nvSpPr>
          <p:cNvPr id="1048645" name="Shape 27"/>
          <p:cNvSpPr/>
          <p:nvPr/>
        </p:nvSpPr>
        <p:spPr>
          <a:xfrm>
            <a:off x="8102636" y="1714500"/>
            <a:ext cx="3705225" cy="3208020"/>
          </a:xfrm>
          <a:custGeom>
            <a:avLst/>
            <a:gdLst/>
            <a:ahLst/>
            <a:cxnLst/>
            <a:rect l="l" t="t" r="r" b="b"/>
            <a:pathLst>
              <a:path w="3705225" h="3657600">
                <a:moveTo>
                  <a:pt x="114300" y="0"/>
                </a:moveTo>
                <a:lnTo>
                  <a:pt x="3590925" y="0"/>
                </a:lnTo>
                <a:cubicBezTo>
                  <a:pt x="3654009" y="0"/>
                  <a:pt x="3705225" y="51216"/>
                  <a:pt x="3705225" y="114300"/>
                </a:cubicBezTo>
                <a:lnTo>
                  <a:pt x="3705225" y="3543300"/>
                </a:lnTo>
                <a:cubicBezTo>
                  <a:pt x="3705225" y="3606384"/>
                  <a:pt x="3654009" y="3657600"/>
                  <a:pt x="3590925" y="3657600"/>
                </a:cubicBezTo>
                <a:lnTo>
                  <a:pt x="114300" y="3657600"/>
                </a:lnTo>
                <a:cubicBezTo>
                  <a:pt x="51216" y="3657600"/>
                  <a:pt x="0" y="3606384"/>
                  <a:pt x="0" y="3543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2056"/>
              </a:gs>
              <a:gs pos="100000">
                <a:srgbClr val="C70036"/>
              </a:gs>
            </a:gsLst>
            <a:lin ang="2700000" scaled="1"/>
          </a:gradFill>
        </p:spPr>
      </p:sp>
      <p:sp>
        <p:nvSpPr>
          <p:cNvPr id="1048646" name="Shape 28"/>
          <p:cNvSpPr/>
          <p:nvPr/>
        </p:nvSpPr>
        <p:spPr>
          <a:xfrm>
            <a:off x="8293136" y="190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1048647" name="Shape 29"/>
          <p:cNvSpPr/>
          <p:nvPr/>
        </p:nvSpPr>
        <p:spPr>
          <a:xfrm>
            <a:off x="8407436" y="2019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44336" y="114345"/>
                </a:moveTo>
                <a:lnTo>
                  <a:pt x="75322" y="60811"/>
                </a:lnTo>
                <a:cubicBezTo>
                  <a:pt x="72822" y="55364"/>
                  <a:pt x="71393" y="49292"/>
                  <a:pt x="71393" y="42863"/>
                </a:cubicBezTo>
                <a:cubicBezTo>
                  <a:pt x="71393" y="19199"/>
                  <a:pt x="90592" y="0"/>
                  <a:pt x="114255" y="0"/>
                </a:cubicBezTo>
                <a:cubicBezTo>
                  <a:pt x="137919" y="0"/>
                  <a:pt x="157118" y="19199"/>
                  <a:pt x="157118" y="42863"/>
                </a:cubicBezTo>
                <a:cubicBezTo>
                  <a:pt x="157118" y="49247"/>
                  <a:pt x="155734" y="55319"/>
                  <a:pt x="153189" y="60811"/>
                </a:cubicBezTo>
                <a:lnTo>
                  <a:pt x="173013" y="95057"/>
                </a:lnTo>
                <a:cubicBezTo>
                  <a:pt x="162699" y="106665"/>
                  <a:pt x="149036" y="115193"/>
                  <a:pt x="133543" y="119077"/>
                </a:cubicBezTo>
                <a:lnTo>
                  <a:pt x="114300" y="85680"/>
                </a:lnTo>
                <a:lnTo>
                  <a:pt x="83894" y="138187"/>
                </a:lnTo>
                <a:cubicBezTo>
                  <a:pt x="93494" y="141223"/>
                  <a:pt x="103674" y="142875"/>
                  <a:pt x="114300" y="142875"/>
                </a:cubicBezTo>
                <a:cubicBezTo>
                  <a:pt x="145866" y="142875"/>
                  <a:pt x="174040" y="128275"/>
                  <a:pt x="192390" y="105370"/>
                </a:cubicBezTo>
                <a:cubicBezTo>
                  <a:pt x="197346" y="99209"/>
                  <a:pt x="206320" y="98227"/>
                  <a:pt x="212482" y="103138"/>
                </a:cubicBezTo>
                <a:cubicBezTo>
                  <a:pt x="218643" y="108049"/>
                  <a:pt x="219626" y="117068"/>
                  <a:pt x="214714" y="123230"/>
                </a:cubicBezTo>
                <a:cubicBezTo>
                  <a:pt x="191185" y="152608"/>
                  <a:pt x="154930" y="171450"/>
                  <a:pt x="114345" y="171450"/>
                </a:cubicBezTo>
                <a:cubicBezTo>
                  <a:pt x="98539" y="171450"/>
                  <a:pt x="83359" y="168593"/>
                  <a:pt x="69384" y="163369"/>
                </a:cubicBezTo>
                <a:lnTo>
                  <a:pt x="44068" y="207035"/>
                </a:lnTo>
                <a:cubicBezTo>
                  <a:pt x="41970" y="210651"/>
                  <a:pt x="38844" y="213598"/>
                  <a:pt x="35094" y="215473"/>
                </a:cubicBezTo>
                <a:lnTo>
                  <a:pt x="10358" y="227841"/>
                </a:lnTo>
                <a:cubicBezTo>
                  <a:pt x="8126" y="228957"/>
                  <a:pt x="5492" y="228823"/>
                  <a:pt x="3393" y="227528"/>
                </a:cubicBezTo>
                <a:cubicBezTo>
                  <a:pt x="1295" y="226234"/>
                  <a:pt x="0" y="223912"/>
                  <a:pt x="0" y="221456"/>
                </a:cubicBezTo>
                <a:lnTo>
                  <a:pt x="0" y="196721"/>
                </a:lnTo>
                <a:cubicBezTo>
                  <a:pt x="0" y="192971"/>
                  <a:pt x="982" y="189265"/>
                  <a:pt x="2902" y="185961"/>
                </a:cubicBezTo>
                <a:lnTo>
                  <a:pt x="29691" y="139660"/>
                </a:lnTo>
                <a:cubicBezTo>
                  <a:pt x="23976" y="134660"/>
                  <a:pt x="18708" y="129168"/>
                  <a:pt x="13930" y="123230"/>
                </a:cubicBezTo>
                <a:cubicBezTo>
                  <a:pt x="8974" y="117068"/>
                  <a:pt x="10001" y="108094"/>
                  <a:pt x="16163" y="103138"/>
                </a:cubicBezTo>
                <a:cubicBezTo>
                  <a:pt x="22324" y="98182"/>
                  <a:pt x="31299" y="99209"/>
                  <a:pt x="36255" y="105370"/>
                </a:cubicBezTo>
                <a:cubicBezTo>
                  <a:pt x="38799" y="108540"/>
                  <a:pt x="41523" y="111532"/>
                  <a:pt x="44381" y="114345"/>
                </a:cubicBezTo>
                <a:close/>
                <a:moveTo>
                  <a:pt x="170155" y="182121"/>
                </a:moveTo>
                <a:cubicBezTo>
                  <a:pt x="184666" y="176317"/>
                  <a:pt x="198016" y="168280"/>
                  <a:pt x="209848" y="158502"/>
                </a:cubicBezTo>
                <a:lnTo>
                  <a:pt x="225743" y="185961"/>
                </a:lnTo>
                <a:cubicBezTo>
                  <a:pt x="227618" y="189220"/>
                  <a:pt x="228645" y="192926"/>
                  <a:pt x="228645" y="196721"/>
                </a:cubicBezTo>
                <a:lnTo>
                  <a:pt x="228645" y="221456"/>
                </a:lnTo>
                <a:cubicBezTo>
                  <a:pt x="228645" y="223912"/>
                  <a:pt x="227350" y="226234"/>
                  <a:pt x="225251" y="227528"/>
                </a:cubicBezTo>
                <a:cubicBezTo>
                  <a:pt x="223153" y="228823"/>
                  <a:pt x="220519" y="228957"/>
                  <a:pt x="218286" y="227841"/>
                </a:cubicBezTo>
                <a:lnTo>
                  <a:pt x="193551" y="215473"/>
                </a:lnTo>
                <a:cubicBezTo>
                  <a:pt x="189801" y="213598"/>
                  <a:pt x="186675" y="210651"/>
                  <a:pt x="184577" y="207035"/>
                </a:cubicBezTo>
                <a:lnTo>
                  <a:pt x="170155" y="182121"/>
                </a:lnTo>
                <a:close/>
                <a:moveTo>
                  <a:pt x="114300" y="57150"/>
                </a:moveTo>
                <a:cubicBezTo>
                  <a:pt x="122185" y="57150"/>
                  <a:pt x="128588" y="50748"/>
                  <a:pt x="128588" y="42863"/>
                </a:cubicBezTo>
                <a:cubicBezTo>
                  <a:pt x="128588" y="34977"/>
                  <a:pt x="122185" y="28575"/>
                  <a:pt x="114300" y="28575"/>
                </a:cubicBezTo>
                <a:cubicBezTo>
                  <a:pt x="106415" y="28575"/>
                  <a:pt x="100013" y="34977"/>
                  <a:pt x="100013" y="42863"/>
                </a:cubicBezTo>
                <a:cubicBezTo>
                  <a:pt x="100013" y="50748"/>
                  <a:pt x="106415" y="57150"/>
                  <a:pt x="114300" y="5715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48648" name="Text 30"/>
          <p:cNvSpPr/>
          <p:nvPr/>
        </p:nvSpPr>
        <p:spPr>
          <a:xfrm>
            <a:off x="8864636" y="1981200"/>
            <a:ext cx="800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阶段三</a:t>
            </a:r>
            <a:endParaRPr lang="en-US" sz="1600" dirty="0"/>
          </a:p>
        </p:txBody>
      </p:sp>
      <p:sp>
        <p:nvSpPr>
          <p:cNvPr id="1048649" name="Shape 31"/>
          <p:cNvSpPr/>
          <p:nvPr/>
        </p:nvSpPr>
        <p:spPr>
          <a:xfrm>
            <a:off x="8293136" y="2514600"/>
            <a:ext cx="3324225" cy="685800"/>
          </a:xfrm>
          <a:custGeom>
            <a:avLst/>
            <a:gdLst/>
            <a:ahLst/>
            <a:cxnLst/>
            <a:rect l="l" t="t" r="r" b="b"/>
            <a:pathLst>
              <a:path w="3324225" h="685800">
                <a:moveTo>
                  <a:pt x="76199" y="0"/>
                </a:moveTo>
                <a:lnTo>
                  <a:pt x="3248026" y="0"/>
                </a:lnTo>
                <a:cubicBezTo>
                  <a:pt x="3290109" y="0"/>
                  <a:pt x="3324225" y="34116"/>
                  <a:pt x="3324225" y="76199"/>
                </a:cubicBezTo>
                <a:lnTo>
                  <a:pt x="3324225" y="609601"/>
                </a:lnTo>
                <a:cubicBezTo>
                  <a:pt x="3324225" y="651684"/>
                  <a:pt x="3290109" y="685800"/>
                  <a:pt x="32480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</p:spPr>
      </p:sp>
      <p:sp>
        <p:nvSpPr>
          <p:cNvPr id="1048650" name="Text 32"/>
          <p:cNvSpPr/>
          <p:nvPr/>
        </p:nvSpPr>
        <p:spPr>
          <a:xfrm>
            <a:off x="8407436" y="2628900"/>
            <a:ext cx="3181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Human-on-the-loop</a:t>
            </a:r>
            <a:endParaRPr lang="en-US" sz="1600" dirty="0"/>
          </a:p>
        </p:txBody>
      </p:sp>
      <p:sp>
        <p:nvSpPr>
          <p:cNvPr id="1048651" name="Text 33"/>
          <p:cNvSpPr/>
          <p:nvPr/>
        </p:nvSpPr>
        <p:spPr>
          <a:xfrm>
            <a:off x="8407436" y="2895600"/>
            <a:ext cx="31623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CCD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2026-</a:t>
            </a:r>
            <a:endParaRPr lang="en-US" sz="1600" dirty="0"/>
          </a:p>
        </p:txBody>
      </p:sp>
      <p:sp>
        <p:nvSpPr>
          <p:cNvPr id="1048652" name="Text 34"/>
          <p:cNvSpPr/>
          <p:nvPr/>
        </p:nvSpPr>
        <p:spPr>
          <a:xfrm>
            <a:off x="8293136" y="3314700"/>
            <a:ext cx="33909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</a:t>
            </a:r>
            <a:r>
              <a:rPr lang="en-US" sz="1050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Human设计</a:t>
            </a:r>
            <a:r>
              <a:rPr lang="zh-CN" altLang="en-US" sz="10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环境</a:t>
            </a:r>
            <a:endParaRPr lang="en-US" sz="1600" dirty="0"/>
          </a:p>
        </p:txBody>
      </p:sp>
      <p:sp>
        <p:nvSpPr>
          <p:cNvPr id="1048653" name="Text 35"/>
          <p:cNvSpPr/>
          <p:nvPr/>
        </p:nvSpPr>
        <p:spPr>
          <a:xfrm>
            <a:off x="8293136" y="3581400"/>
            <a:ext cx="33909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Agent在边界内自主运行</a:t>
            </a:r>
            <a:endParaRPr lang="en-US" sz="1600" dirty="0"/>
          </a:p>
        </p:txBody>
      </p:sp>
      <p:sp>
        <p:nvSpPr>
          <p:cNvPr id="1048654" name="Text 36"/>
          <p:cNvSpPr/>
          <p:nvPr/>
        </p:nvSpPr>
        <p:spPr>
          <a:xfrm>
            <a:off x="8293136" y="3848100"/>
            <a:ext cx="33909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 Agent = 数字同事/协作者</a:t>
            </a:r>
            <a:endParaRPr lang="en-US" sz="1600" dirty="0"/>
          </a:p>
        </p:txBody>
      </p:sp>
      <p:sp>
        <p:nvSpPr>
          <p:cNvPr id="1048655" name="Shape 37"/>
          <p:cNvSpPr/>
          <p:nvPr/>
        </p:nvSpPr>
        <p:spPr>
          <a:xfrm>
            <a:off x="8293136" y="4152900"/>
            <a:ext cx="3324225" cy="457200"/>
          </a:xfrm>
          <a:custGeom>
            <a:avLst/>
            <a:gdLst/>
            <a:ahLst/>
            <a:cxnLst/>
            <a:rect l="l" t="t" r="r" b="b"/>
            <a:pathLst>
              <a:path w="3324225" h="457200">
                <a:moveTo>
                  <a:pt x="76202" y="0"/>
                </a:moveTo>
                <a:lnTo>
                  <a:pt x="3248023" y="0"/>
                </a:lnTo>
                <a:cubicBezTo>
                  <a:pt x="3290108" y="0"/>
                  <a:pt x="3324225" y="34117"/>
                  <a:pt x="3324225" y="76202"/>
                </a:cubicBezTo>
                <a:lnTo>
                  <a:pt x="3324225" y="380998"/>
                </a:lnTo>
                <a:cubicBezTo>
                  <a:pt x="3324225" y="423083"/>
                  <a:pt x="3290108" y="457200"/>
                  <a:pt x="324802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1048656" name="Text 38"/>
          <p:cNvSpPr/>
          <p:nvPr/>
        </p:nvSpPr>
        <p:spPr>
          <a:xfrm>
            <a:off x="8407436" y="4267200"/>
            <a:ext cx="31718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"AI as a Coworker"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总结与展望</a:t>
            </a:r>
            <a:endParaRPr lang="en-US" sz="1600" dirty="0"/>
          </a:p>
        </p:txBody>
      </p:sp>
      <p:sp>
        <p:nvSpPr>
          <p:cNvPr id="1048577" name="Shape 1"/>
          <p:cNvSpPr/>
          <p:nvPr/>
        </p:nvSpPr>
        <p:spPr>
          <a:xfrm>
            <a:off x="381000" y="876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15FFF"/>
          </a:solidFill>
        </p:spPr>
      </p:sp>
      <p:sp>
        <p:nvSpPr>
          <p:cNvPr id="1048578" name="Shape 2"/>
          <p:cNvSpPr/>
          <p:nvPr/>
        </p:nvSpPr>
        <p:spPr>
          <a:xfrm>
            <a:off x="398318" y="1333500"/>
            <a:ext cx="5598968" cy="2933700"/>
          </a:xfrm>
          <a:custGeom>
            <a:avLst/>
            <a:gdLst/>
            <a:ahLst/>
            <a:cxnLst/>
            <a:rect l="l" t="t" r="r" b="b"/>
            <a:pathLst>
              <a:path w="5598968" h="2933700">
                <a:moveTo>
                  <a:pt x="34636" y="0"/>
                </a:moveTo>
                <a:lnTo>
                  <a:pt x="5484671" y="0"/>
                </a:lnTo>
                <a:cubicBezTo>
                  <a:pt x="5547796" y="0"/>
                  <a:pt x="5598968" y="51172"/>
                  <a:pt x="5598968" y="114297"/>
                </a:cubicBezTo>
                <a:lnTo>
                  <a:pt x="5598968" y="2819403"/>
                </a:lnTo>
                <a:cubicBezTo>
                  <a:pt x="5598968" y="2882528"/>
                  <a:pt x="5547796" y="2933700"/>
                  <a:pt x="5484671" y="2933700"/>
                </a:cubicBezTo>
                <a:lnTo>
                  <a:pt x="34636" y="2933700"/>
                </a:lnTo>
                <a:cubicBezTo>
                  <a:pt x="15507" y="2933700"/>
                  <a:pt x="0" y="2918193"/>
                  <a:pt x="0" y="2899064"/>
                </a:cubicBezTo>
                <a:lnTo>
                  <a:pt x="0" y="34636"/>
                </a:lnTo>
                <a:cubicBezTo>
                  <a:pt x="0" y="15507"/>
                  <a:pt x="15507" y="0"/>
                  <a:pt x="34636" y="0"/>
                </a:cubicBezTo>
                <a:close/>
              </a:path>
            </a:pathLst>
          </a:custGeom>
          <a:gradFill flip="none" rotWithShape="1">
            <a:gsLst>
              <a:gs pos="0">
                <a:srgbClr val="EEF2FF"/>
              </a:gs>
              <a:gs pos="100000">
                <a:srgbClr val="E0E7FF"/>
              </a:gs>
            </a:gsLst>
            <a:lin ang="2700000" scaled="1"/>
          </a:gradFill>
        </p:spPr>
      </p:sp>
      <p:sp>
        <p:nvSpPr>
          <p:cNvPr id="1048579" name="Shape 3"/>
          <p:cNvSpPr/>
          <p:nvPr/>
        </p:nvSpPr>
        <p:spPr>
          <a:xfrm>
            <a:off x="398318" y="1333500"/>
            <a:ext cx="34636" cy="2933700"/>
          </a:xfrm>
          <a:custGeom>
            <a:avLst/>
            <a:gdLst/>
            <a:ahLst/>
            <a:cxnLst/>
            <a:rect l="l" t="t" r="r" b="b"/>
            <a:pathLst>
              <a:path w="34636" h="2933700">
                <a:moveTo>
                  <a:pt x="34636" y="0"/>
                </a:moveTo>
                <a:lnTo>
                  <a:pt x="34636" y="0"/>
                </a:lnTo>
                <a:lnTo>
                  <a:pt x="34636" y="2933700"/>
                </a:lnTo>
                <a:lnTo>
                  <a:pt x="34636" y="2933700"/>
                </a:lnTo>
                <a:cubicBezTo>
                  <a:pt x="15507" y="2933700"/>
                  <a:pt x="0" y="2918193"/>
                  <a:pt x="0" y="2899064"/>
                </a:cubicBezTo>
                <a:lnTo>
                  <a:pt x="0" y="34636"/>
                </a:lnTo>
                <a:cubicBezTo>
                  <a:pt x="0" y="15507"/>
                  <a:pt x="15507" y="0"/>
                  <a:pt x="34636" y="0"/>
                </a:cubicBezTo>
                <a:close/>
              </a:path>
            </a:pathLst>
          </a:custGeom>
          <a:solidFill>
            <a:srgbClr val="615FFF"/>
          </a:solidFill>
        </p:spPr>
      </p:sp>
      <p:sp>
        <p:nvSpPr>
          <p:cNvPr id="1048580" name="Shape 4"/>
          <p:cNvSpPr/>
          <p:nvPr/>
        </p:nvSpPr>
        <p:spPr>
          <a:xfrm>
            <a:off x="653761" y="15621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615FFF"/>
          </a:solidFill>
        </p:spPr>
      </p:sp>
      <p:sp>
        <p:nvSpPr>
          <p:cNvPr id="1048581" name="Text 5"/>
          <p:cNvSpPr/>
          <p:nvPr/>
        </p:nvSpPr>
        <p:spPr>
          <a:xfrm>
            <a:off x="844261" y="1524000"/>
            <a:ext cx="5057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三次跃迁的本质</a:t>
            </a:r>
            <a:endParaRPr lang="en-US" sz="1600" dirty="0"/>
          </a:p>
        </p:txBody>
      </p:sp>
      <p:sp>
        <p:nvSpPr>
          <p:cNvPr id="1048582" name="Shape 6"/>
          <p:cNvSpPr/>
          <p:nvPr/>
        </p:nvSpPr>
        <p:spPr>
          <a:xfrm>
            <a:off x="606136" y="1905000"/>
            <a:ext cx="5200650" cy="647700"/>
          </a:xfrm>
          <a:custGeom>
            <a:avLst/>
            <a:gdLst/>
            <a:ahLst/>
            <a:cxnLst/>
            <a:rect l="l" t="t" r="r" b="b"/>
            <a:pathLst>
              <a:path w="5200650" h="64770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571498"/>
                </a:lnTo>
                <a:cubicBezTo>
                  <a:pt x="5200650" y="613583"/>
                  <a:pt x="5166533" y="647700"/>
                  <a:pt x="512444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48583" name="Text 7"/>
          <p:cNvSpPr/>
          <p:nvPr/>
        </p:nvSpPr>
        <p:spPr>
          <a:xfrm>
            <a:off x="720436" y="2019300"/>
            <a:ext cx="5048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Prompt Engineering</a:t>
            </a:r>
            <a:endParaRPr lang="en-US" sz="1600" dirty="0"/>
          </a:p>
        </p:txBody>
      </p:sp>
      <p:sp>
        <p:nvSpPr>
          <p:cNvPr id="1048584" name="Text 8"/>
          <p:cNvSpPr/>
          <p:nvPr/>
        </p:nvSpPr>
        <p:spPr>
          <a:xfrm>
            <a:off x="720436" y="2247900"/>
            <a:ext cx="5038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解决了"如何与模型对话"的问题</a:t>
            </a:r>
            <a:endParaRPr lang="en-US" sz="1600" dirty="0"/>
          </a:p>
        </p:txBody>
      </p:sp>
      <p:sp>
        <p:nvSpPr>
          <p:cNvPr id="1048585" name="Shape 9"/>
          <p:cNvSpPr/>
          <p:nvPr/>
        </p:nvSpPr>
        <p:spPr>
          <a:xfrm>
            <a:off x="606136" y="2667000"/>
            <a:ext cx="5200650" cy="647700"/>
          </a:xfrm>
          <a:custGeom>
            <a:avLst/>
            <a:gdLst/>
            <a:ahLst/>
            <a:cxnLst/>
            <a:rect l="l" t="t" r="r" b="b"/>
            <a:pathLst>
              <a:path w="5200650" h="64770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571498"/>
                </a:lnTo>
                <a:cubicBezTo>
                  <a:pt x="5200650" y="613583"/>
                  <a:pt x="5166533" y="647700"/>
                  <a:pt x="512444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48586" name="Text 10"/>
          <p:cNvSpPr/>
          <p:nvPr/>
        </p:nvSpPr>
        <p:spPr>
          <a:xfrm>
            <a:off x="720436" y="2781300"/>
            <a:ext cx="5048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Context Engineering</a:t>
            </a:r>
            <a:endParaRPr lang="en-US" sz="1600" dirty="0"/>
          </a:p>
        </p:txBody>
      </p:sp>
      <p:sp>
        <p:nvSpPr>
          <p:cNvPr id="1048587" name="Text 11"/>
          <p:cNvSpPr/>
          <p:nvPr/>
        </p:nvSpPr>
        <p:spPr>
          <a:xfrm>
            <a:off x="720436" y="3009900"/>
            <a:ext cx="5038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解决了"如何管理信息"的问题</a:t>
            </a:r>
            <a:endParaRPr lang="en-US" sz="1600" dirty="0"/>
          </a:p>
        </p:txBody>
      </p:sp>
      <p:sp>
        <p:nvSpPr>
          <p:cNvPr id="1048588" name="Shape 12"/>
          <p:cNvSpPr/>
          <p:nvPr/>
        </p:nvSpPr>
        <p:spPr>
          <a:xfrm>
            <a:off x="606136" y="3429000"/>
            <a:ext cx="5200650" cy="647700"/>
          </a:xfrm>
          <a:custGeom>
            <a:avLst/>
            <a:gdLst/>
            <a:ahLst/>
            <a:cxnLst/>
            <a:rect l="l" t="t" r="r" b="b"/>
            <a:pathLst>
              <a:path w="5200650" h="64770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571498"/>
                </a:lnTo>
                <a:cubicBezTo>
                  <a:pt x="5200650" y="613583"/>
                  <a:pt x="5166533" y="647700"/>
                  <a:pt x="512444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48589" name="Text 13"/>
          <p:cNvSpPr/>
          <p:nvPr/>
        </p:nvSpPr>
        <p:spPr>
          <a:xfrm>
            <a:off x="720436" y="3543300"/>
            <a:ext cx="5048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Harness Engineering</a:t>
            </a:r>
            <a:endParaRPr lang="en-US" sz="1600" dirty="0"/>
          </a:p>
        </p:txBody>
      </p:sp>
      <p:sp>
        <p:nvSpPr>
          <p:cNvPr id="1048590" name="Text 14"/>
          <p:cNvSpPr/>
          <p:nvPr/>
        </p:nvSpPr>
        <p:spPr>
          <a:xfrm>
            <a:off x="720436" y="3771900"/>
            <a:ext cx="5038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解决了"如何让Agent可靠工作"的问题</a:t>
            </a:r>
            <a:endParaRPr lang="en-US" sz="1600" dirty="0"/>
          </a:p>
        </p:txBody>
      </p:sp>
      <p:sp>
        <p:nvSpPr>
          <p:cNvPr id="1048591" name="Shape 28"/>
          <p:cNvSpPr/>
          <p:nvPr/>
        </p:nvSpPr>
        <p:spPr>
          <a:xfrm>
            <a:off x="6208568" y="1333500"/>
            <a:ext cx="5598968" cy="2857500"/>
          </a:xfrm>
          <a:custGeom>
            <a:avLst/>
            <a:gdLst/>
            <a:ahLst/>
            <a:cxnLst/>
            <a:rect l="l" t="t" r="r" b="b"/>
            <a:pathLst>
              <a:path w="5598968" h="2857500">
                <a:moveTo>
                  <a:pt x="34636" y="0"/>
                </a:moveTo>
                <a:lnTo>
                  <a:pt x="5484668" y="0"/>
                </a:lnTo>
                <a:cubicBezTo>
                  <a:pt x="5547752" y="0"/>
                  <a:pt x="5598968" y="51216"/>
                  <a:pt x="5598968" y="114300"/>
                </a:cubicBezTo>
                <a:lnTo>
                  <a:pt x="5598968" y="2743200"/>
                </a:lnTo>
                <a:cubicBezTo>
                  <a:pt x="5598968" y="2806284"/>
                  <a:pt x="5547752" y="2857500"/>
                  <a:pt x="5484668" y="2857500"/>
                </a:cubicBezTo>
                <a:lnTo>
                  <a:pt x="34636" y="2857500"/>
                </a:lnTo>
                <a:cubicBezTo>
                  <a:pt x="15507" y="2857500"/>
                  <a:pt x="0" y="2841993"/>
                  <a:pt x="0" y="2822864"/>
                </a:cubicBezTo>
                <a:lnTo>
                  <a:pt x="0" y="34636"/>
                </a:lnTo>
                <a:cubicBezTo>
                  <a:pt x="0" y="15507"/>
                  <a:pt x="15507" y="0"/>
                  <a:pt x="34636" y="0"/>
                </a:cubicBezTo>
                <a:close/>
              </a:path>
            </a:pathLst>
          </a:custGeom>
          <a:gradFill flip="none" rotWithShape="1">
            <a:gsLst>
              <a:gs pos="0">
                <a:srgbClr val="ECFDF5"/>
              </a:gs>
              <a:gs pos="100000">
                <a:srgbClr val="D0FAE5"/>
              </a:gs>
            </a:gsLst>
            <a:lin ang="2700000" scaled="1"/>
          </a:gradFill>
        </p:spPr>
      </p:sp>
      <p:sp>
        <p:nvSpPr>
          <p:cNvPr id="1048592" name="Shape 29"/>
          <p:cNvSpPr/>
          <p:nvPr/>
        </p:nvSpPr>
        <p:spPr>
          <a:xfrm>
            <a:off x="6208568" y="1333500"/>
            <a:ext cx="34636" cy="2857500"/>
          </a:xfrm>
          <a:custGeom>
            <a:avLst/>
            <a:gdLst/>
            <a:ahLst/>
            <a:cxnLst/>
            <a:rect l="l" t="t" r="r" b="b"/>
            <a:pathLst>
              <a:path w="34636" h="2857500">
                <a:moveTo>
                  <a:pt x="34636" y="0"/>
                </a:moveTo>
                <a:lnTo>
                  <a:pt x="34636" y="0"/>
                </a:lnTo>
                <a:lnTo>
                  <a:pt x="34636" y="2857500"/>
                </a:lnTo>
                <a:lnTo>
                  <a:pt x="34636" y="2857500"/>
                </a:lnTo>
                <a:cubicBezTo>
                  <a:pt x="15507" y="2857500"/>
                  <a:pt x="0" y="2841993"/>
                  <a:pt x="0" y="2822864"/>
                </a:cubicBezTo>
                <a:lnTo>
                  <a:pt x="0" y="34636"/>
                </a:lnTo>
                <a:cubicBezTo>
                  <a:pt x="0" y="15507"/>
                  <a:pt x="15507" y="0"/>
                  <a:pt x="34636" y="0"/>
                </a:cubicBezTo>
                <a:close/>
              </a:path>
            </a:pathLst>
          </a:custGeom>
          <a:solidFill>
            <a:srgbClr val="00BC7D"/>
          </a:solidFill>
        </p:spPr>
      </p:sp>
      <p:sp>
        <p:nvSpPr>
          <p:cNvPr id="1048593" name="Shape 30"/>
          <p:cNvSpPr/>
          <p:nvPr/>
        </p:nvSpPr>
        <p:spPr>
          <a:xfrm>
            <a:off x="6440199" y="15621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00BC7D"/>
          </a:solidFill>
        </p:spPr>
      </p:sp>
      <p:sp>
        <p:nvSpPr>
          <p:cNvPr id="1048594" name="Text 31"/>
          <p:cNvSpPr/>
          <p:nvPr/>
        </p:nvSpPr>
        <p:spPr>
          <a:xfrm>
            <a:off x="6654512" y="1524000"/>
            <a:ext cx="5057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5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个人思考</a:t>
            </a:r>
            <a:endParaRPr lang="en-US" sz="1600" dirty="0"/>
          </a:p>
        </p:txBody>
      </p:sp>
      <p:sp>
        <p:nvSpPr>
          <p:cNvPr id="1048595" name="Shape 32"/>
          <p:cNvSpPr/>
          <p:nvPr/>
        </p:nvSpPr>
        <p:spPr>
          <a:xfrm>
            <a:off x="6416387" y="1905000"/>
            <a:ext cx="5200650" cy="647700"/>
          </a:xfrm>
          <a:custGeom>
            <a:avLst/>
            <a:gdLst/>
            <a:ahLst/>
            <a:cxnLst/>
            <a:rect l="l" t="t" r="r" b="b"/>
            <a:pathLst>
              <a:path w="5200650" h="64770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571498"/>
                </a:lnTo>
                <a:cubicBezTo>
                  <a:pt x="5200650" y="613583"/>
                  <a:pt x="5166533" y="647700"/>
                  <a:pt x="512444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48596" name="Text 33"/>
          <p:cNvSpPr/>
          <p:nvPr/>
        </p:nvSpPr>
        <p:spPr>
          <a:xfrm>
            <a:off x="6530687" y="2019300"/>
            <a:ext cx="5048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词元（</a:t>
            </a:r>
            <a:r>
              <a:rPr lang="en-US" altLang="zh-CN" sz="12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token</a:t>
            </a:r>
            <a:r>
              <a:rPr lang="zh-CN" altLang="en-US" sz="12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）成为“货币”</a:t>
            </a:r>
            <a:endParaRPr lang="en-US" sz="1600" dirty="0"/>
          </a:p>
        </p:txBody>
      </p:sp>
      <p:sp>
        <p:nvSpPr>
          <p:cNvPr id="1048597" name="Text 34"/>
          <p:cNvSpPr/>
          <p:nvPr/>
        </p:nvSpPr>
        <p:spPr>
          <a:xfrm>
            <a:off x="6530687" y="2247900"/>
            <a:ext cx="5038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05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质量先行、效率兼顾</a:t>
            </a:r>
            <a:endParaRPr lang="en-US" sz="1600" dirty="0"/>
          </a:p>
        </p:txBody>
      </p:sp>
      <p:sp>
        <p:nvSpPr>
          <p:cNvPr id="1048598" name="Shape 35"/>
          <p:cNvSpPr/>
          <p:nvPr/>
        </p:nvSpPr>
        <p:spPr>
          <a:xfrm>
            <a:off x="6416387" y="2628900"/>
            <a:ext cx="5200650" cy="647700"/>
          </a:xfrm>
          <a:custGeom>
            <a:avLst/>
            <a:gdLst/>
            <a:ahLst/>
            <a:cxnLst/>
            <a:rect l="l" t="t" r="r" b="b"/>
            <a:pathLst>
              <a:path w="5200650" h="64770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571498"/>
                </a:lnTo>
                <a:cubicBezTo>
                  <a:pt x="5200650" y="613583"/>
                  <a:pt x="5166533" y="647700"/>
                  <a:pt x="512444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48599" name="Text 36"/>
          <p:cNvSpPr/>
          <p:nvPr/>
        </p:nvSpPr>
        <p:spPr>
          <a:xfrm>
            <a:off x="6530687" y="2743200"/>
            <a:ext cx="5048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想象力和行动力</a:t>
            </a:r>
            <a:endParaRPr lang="en-US" sz="1600" dirty="0"/>
          </a:p>
        </p:txBody>
      </p:sp>
      <p:sp>
        <p:nvSpPr>
          <p:cNvPr id="1048600" name="Text 37"/>
          <p:cNvSpPr/>
          <p:nvPr/>
        </p:nvSpPr>
        <p:spPr>
          <a:xfrm>
            <a:off x="6530687" y="2971800"/>
            <a:ext cx="5038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</a:t>
            </a:r>
            <a:r>
              <a:rPr lang="zh-CN" altLang="en-US" sz="105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可以实现你的任何想法</a:t>
            </a:r>
            <a:endParaRPr lang="en-US" sz="1600" dirty="0"/>
          </a:p>
        </p:txBody>
      </p:sp>
      <p:sp>
        <p:nvSpPr>
          <p:cNvPr id="1048601" name="Shape 38"/>
          <p:cNvSpPr/>
          <p:nvPr/>
        </p:nvSpPr>
        <p:spPr>
          <a:xfrm>
            <a:off x="6416387" y="3352800"/>
            <a:ext cx="5200650" cy="647700"/>
          </a:xfrm>
          <a:custGeom>
            <a:avLst/>
            <a:gdLst/>
            <a:ahLst/>
            <a:cxnLst/>
            <a:rect l="l" t="t" r="r" b="b"/>
            <a:pathLst>
              <a:path w="5200650" h="64770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571498"/>
                </a:lnTo>
                <a:cubicBezTo>
                  <a:pt x="5200650" y="613583"/>
                  <a:pt x="5166533" y="647700"/>
                  <a:pt x="512444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48602" name="Text 39"/>
          <p:cNvSpPr/>
          <p:nvPr/>
        </p:nvSpPr>
        <p:spPr>
          <a:xfrm>
            <a:off x="6530687" y="3467100"/>
            <a:ext cx="5048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200" b="1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</a:rPr>
              <a:t>系统化 工程化</a:t>
            </a:r>
            <a:endParaRPr lang="en-US" sz="1600" dirty="0"/>
          </a:p>
        </p:txBody>
      </p:sp>
      <p:sp>
        <p:nvSpPr>
          <p:cNvPr id="1048603" name="Text 40"/>
          <p:cNvSpPr/>
          <p:nvPr/>
        </p:nvSpPr>
        <p:spPr>
          <a:xfrm>
            <a:off x="6530687" y="3695700"/>
            <a:ext cx="5038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050" dirty="0">
                <a:solidFill>
                  <a:srgbClr val="45556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整体架构、交互体验、应用场景</a:t>
            </a:r>
            <a:endParaRPr lang="en-US" sz="1600" dirty="0"/>
          </a:p>
        </p:txBody>
      </p:sp>
      <p:pic>
        <p:nvPicPr>
          <p:cNvPr id="2097152" name="图片 49"/>
          <p:cNvPicPr>
            <a:picLocks noChangeAspect="1"/>
          </p:cNvPicPr>
          <p:nvPr/>
        </p:nvPicPr>
        <p:blipFill>
          <a:blip r:embed="rId3"/>
          <a:srcRect b="27818"/>
          <a:stretch>
            <a:fillRect/>
          </a:stretch>
        </p:blipFill>
        <p:spPr>
          <a:xfrm>
            <a:off x="3001716" y="4495800"/>
            <a:ext cx="5429731" cy="213954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Shape 42">
            <a:extLst>
              <a:ext uri="{FF2B5EF4-FFF2-40B4-BE49-F238E27FC236}">
                <a16:creationId xmlns:a16="http://schemas.microsoft.com/office/drawing/2014/main" id="{C221A207-B20D-53E4-2061-71F3DBD0E61B}"/>
              </a:ext>
            </a:extLst>
          </p:cNvPr>
          <p:cNvSpPr/>
          <p:nvPr/>
        </p:nvSpPr>
        <p:spPr>
          <a:xfrm>
            <a:off x="3422072" y="705757"/>
            <a:ext cx="4200286" cy="533400"/>
          </a:xfrm>
          <a:custGeom>
            <a:avLst/>
            <a:gdLst/>
            <a:ahLst/>
            <a:cxnLst/>
            <a:rect l="l" t="t" r="r" b="b"/>
            <a:pathLst>
              <a:path w="5238750" h="876300">
                <a:moveTo>
                  <a:pt x="76203" y="0"/>
                </a:moveTo>
                <a:lnTo>
                  <a:pt x="5162547" y="0"/>
                </a:lnTo>
                <a:cubicBezTo>
                  <a:pt x="5204633" y="0"/>
                  <a:pt x="5238750" y="34117"/>
                  <a:pt x="5238750" y="76203"/>
                </a:cubicBezTo>
                <a:lnTo>
                  <a:pt x="5238750" y="800097"/>
                </a:lnTo>
                <a:cubicBezTo>
                  <a:pt x="5238750" y="842183"/>
                  <a:pt x="5204633" y="876300"/>
                  <a:pt x="516254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" name="Text 43">
            <a:extLst>
              <a:ext uri="{FF2B5EF4-FFF2-40B4-BE49-F238E27FC236}">
                <a16:creationId xmlns:a16="http://schemas.microsoft.com/office/drawing/2014/main" id="{9AED2CB1-984E-D03A-E813-9DBC3BC1CDA2}"/>
              </a:ext>
            </a:extLst>
          </p:cNvPr>
          <p:cNvSpPr/>
          <p:nvPr/>
        </p:nvSpPr>
        <p:spPr>
          <a:xfrm>
            <a:off x="2826866" y="820057"/>
            <a:ext cx="5057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Agent = LLM</a:t>
            </a:r>
            <a:r>
              <a:rPr lang="en-US" dirty="0">
                <a:solidFill>
                  <a:srgbClr val="1D29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+ Planning + Memory + Tool Use</a:t>
            </a:r>
            <a:endParaRPr lang="en-US" sz="1600" dirty="0"/>
          </a:p>
        </p:txBody>
      </p:sp>
      <p:cxnSp>
        <p:nvCxnSpPr>
          <p:cNvPr id="8" name="连接符: 曲线 7">
            <a:extLst>
              <a:ext uri="{FF2B5EF4-FFF2-40B4-BE49-F238E27FC236}">
                <a16:creationId xmlns:a16="http://schemas.microsoft.com/office/drawing/2014/main" id="{AF745FAC-0E97-CF36-4A7A-13C72C2A3B10}"/>
              </a:ext>
            </a:extLst>
          </p:cNvPr>
          <p:cNvCxnSpPr/>
          <p:nvPr/>
        </p:nvCxnSpPr>
        <p:spPr>
          <a:xfrm flipV="1">
            <a:off x="3422072" y="1239157"/>
            <a:ext cx="1948214" cy="1770743"/>
          </a:xfrm>
          <a:prstGeom prst="curvedConnector3">
            <a:avLst>
              <a:gd name="adj1" fmla="val 49255"/>
            </a:avLst>
          </a:prstGeom>
          <a:ln w="57150">
            <a:solidFill>
              <a:srgbClr val="615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72B"/>
              </a:gs>
              <a:gs pos="50000">
                <a:srgbClr val="1D293D"/>
              </a:gs>
              <a:gs pos="100000">
                <a:srgbClr val="312C85"/>
              </a:gs>
            </a:gsLst>
            <a:lin ang="2700000" scaled="1"/>
          </a:gradFill>
        </p:spPr>
      </p:sp>
      <p:pic>
        <p:nvPicPr>
          <p:cNvPr id="209715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62" r="62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1048608" name="Shape 1"/>
          <p:cNvSpPr/>
          <p:nvPr/>
        </p:nvSpPr>
        <p:spPr>
          <a:xfrm>
            <a:off x="5774531" y="1650429"/>
            <a:ext cx="642938" cy="571500"/>
          </a:xfrm>
          <a:custGeom>
            <a:avLst/>
            <a:gdLst/>
            <a:ahLst/>
            <a:cxnLst/>
            <a:rect l="l" t="t" r="r" b="b"/>
            <a:pathLst>
              <a:path w="642938" h="571500">
                <a:moveTo>
                  <a:pt x="428625" y="160734"/>
                </a:moveTo>
                <a:cubicBezTo>
                  <a:pt x="428625" y="269230"/>
                  <a:pt x="332631" y="357188"/>
                  <a:pt x="214313" y="357188"/>
                </a:cubicBezTo>
                <a:cubicBezTo>
                  <a:pt x="184510" y="357188"/>
                  <a:pt x="156158" y="351606"/>
                  <a:pt x="130373" y="341561"/>
                </a:cubicBezTo>
                <a:lnTo>
                  <a:pt x="39291" y="389781"/>
                </a:lnTo>
                <a:cubicBezTo>
                  <a:pt x="28910" y="395250"/>
                  <a:pt x="16185" y="393353"/>
                  <a:pt x="7813" y="385093"/>
                </a:cubicBezTo>
                <a:cubicBezTo>
                  <a:pt x="-558" y="376833"/>
                  <a:pt x="-2456" y="363996"/>
                  <a:pt x="3125" y="353616"/>
                </a:cubicBezTo>
                <a:lnTo>
                  <a:pt x="42863" y="278606"/>
                </a:lnTo>
                <a:cubicBezTo>
                  <a:pt x="15962" y="245790"/>
                  <a:pt x="0" y="204936"/>
                  <a:pt x="0" y="160734"/>
                </a:cubicBezTo>
                <a:cubicBezTo>
                  <a:pt x="0" y="52239"/>
                  <a:pt x="95994" y="-35719"/>
                  <a:pt x="214313" y="-35719"/>
                </a:cubicBezTo>
                <a:cubicBezTo>
                  <a:pt x="332631" y="-35719"/>
                  <a:pt x="428625" y="52239"/>
                  <a:pt x="428625" y="160734"/>
                </a:cubicBezTo>
                <a:close/>
                <a:moveTo>
                  <a:pt x="428625" y="571500"/>
                </a:moveTo>
                <a:cubicBezTo>
                  <a:pt x="323590" y="571500"/>
                  <a:pt x="236190" y="502183"/>
                  <a:pt x="217884" y="410766"/>
                </a:cubicBezTo>
                <a:cubicBezTo>
                  <a:pt x="351830" y="409091"/>
                  <a:pt x="468250" y="313767"/>
                  <a:pt x="481087" y="184510"/>
                </a:cubicBezTo>
                <a:cubicBezTo>
                  <a:pt x="574067" y="205941"/>
                  <a:pt x="642938" y="283071"/>
                  <a:pt x="642938" y="375047"/>
                </a:cubicBezTo>
                <a:cubicBezTo>
                  <a:pt x="642938" y="419249"/>
                  <a:pt x="626976" y="460102"/>
                  <a:pt x="600075" y="492919"/>
                </a:cubicBezTo>
                <a:lnTo>
                  <a:pt x="639812" y="567928"/>
                </a:lnTo>
                <a:cubicBezTo>
                  <a:pt x="645282" y="578309"/>
                  <a:pt x="643384" y="591034"/>
                  <a:pt x="635124" y="599405"/>
                </a:cubicBezTo>
                <a:cubicBezTo>
                  <a:pt x="626864" y="607777"/>
                  <a:pt x="614028" y="609674"/>
                  <a:pt x="603647" y="604093"/>
                </a:cubicBezTo>
                <a:lnTo>
                  <a:pt x="512564" y="555873"/>
                </a:lnTo>
                <a:cubicBezTo>
                  <a:pt x="486780" y="565919"/>
                  <a:pt x="458428" y="571500"/>
                  <a:pt x="428625" y="571500"/>
                </a:cubicBezTo>
                <a:close/>
              </a:path>
            </a:pathLst>
          </a:custGeom>
          <a:solidFill>
            <a:srgbClr val="7C86FF"/>
          </a:solidFill>
        </p:spPr>
      </p:sp>
      <p:sp>
        <p:nvSpPr>
          <p:cNvPr id="1048609" name="Text 2"/>
          <p:cNvSpPr/>
          <p:nvPr/>
        </p:nvSpPr>
        <p:spPr>
          <a:xfrm>
            <a:off x="4810125" y="2755329"/>
            <a:ext cx="2571750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谢谢聆听</a:t>
            </a:r>
            <a:endParaRPr lang="en-US" sz="1600" dirty="0"/>
          </a:p>
        </p:txBody>
      </p:sp>
      <p:sp>
        <p:nvSpPr>
          <p:cNvPr id="1048610" name="Text 3"/>
          <p:cNvSpPr/>
          <p:nvPr/>
        </p:nvSpPr>
        <p:spPr>
          <a:xfrm>
            <a:off x="5238750" y="3555429"/>
            <a:ext cx="1714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C6D2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欢迎提问与讨论</a:t>
            </a:r>
            <a:endParaRPr lang="en-US" sz="1600" dirty="0"/>
          </a:p>
        </p:txBody>
      </p:sp>
      <p:sp>
        <p:nvSpPr>
          <p:cNvPr id="1048611" name="Shape 4"/>
          <p:cNvSpPr/>
          <p:nvPr/>
        </p:nvSpPr>
        <p:spPr>
          <a:xfrm>
            <a:off x="4590401" y="4168493"/>
            <a:ext cx="3007302" cy="1035627"/>
          </a:xfrm>
          <a:custGeom>
            <a:avLst/>
            <a:gdLst/>
            <a:ahLst/>
            <a:cxnLst/>
            <a:rect l="l" t="t" r="r" b="b"/>
            <a:pathLst>
              <a:path w="3007302" h="1035627">
                <a:moveTo>
                  <a:pt x="114302" y="0"/>
                </a:moveTo>
                <a:lnTo>
                  <a:pt x="2893000" y="0"/>
                </a:lnTo>
                <a:cubicBezTo>
                  <a:pt x="2956127" y="0"/>
                  <a:pt x="3007302" y="51175"/>
                  <a:pt x="3007302" y="114302"/>
                </a:cubicBezTo>
                <a:lnTo>
                  <a:pt x="3007302" y="921325"/>
                </a:lnTo>
                <a:cubicBezTo>
                  <a:pt x="3007302" y="984452"/>
                  <a:pt x="2956127" y="1035627"/>
                  <a:pt x="2893000" y="1035627"/>
                </a:cubicBezTo>
                <a:lnTo>
                  <a:pt x="114302" y="1035627"/>
                </a:lnTo>
                <a:cubicBezTo>
                  <a:pt x="51175" y="1035627"/>
                  <a:pt x="0" y="984452"/>
                  <a:pt x="0" y="921325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236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48612" name="Shape 5"/>
          <p:cNvSpPr/>
          <p:nvPr/>
        </p:nvSpPr>
        <p:spPr>
          <a:xfrm>
            <a:off x="5230612" y="464144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073" y="21431"/>
                </a:moveTo>
                <a:cubicBezTo>
                  <a:pt x="7200" y="21431"/>
                  <a:pt x="0" y="28631"/>
                  <a:pt x="0" y="37505"/>
                </a:cubicBezTo>
                <a:cubicBezTo>
                  <a:pt x="0" y="42561"/>
                  <a:pt x="2378" y="47316"/>
                  <a:pt x="6429" y="50363"/>
                </a:cubicBezTo>
                <a:lnTo>
                  <a:pt x="76081" y="102602"/>
                </a:lnTo>
                <a:cubicBezTo>
                  <a:pt x="81807" y="106888"/>
                  <a:pt x="89643" y="106888"/>
                  <a:pt x="95369" y="102602"/>
                </a:cubicBezTo>
                <a:lnTo>
                  <a:pt x="165021" y="50363"/>
                </a:lnTo>
                <a:cubicBezTo>
                  <a:pt x="169072" y="47316"/>
                  <a:pt x="171450" y="42561"/>
                  <a:pt x="171450" y="37505"/>
                </a:cubicBezTo>
                <a:cubicBezTo>
                  <a:pt x="171450" y="28631"/>
                  <a:pt x="164250" y="21431"/>
                  <a:pt x="155377" y="21431"/>
                </a:cubicBezTo>
                <a:lnTo>
                  <a:pt x="16073" y="21431"/>
                </a:lnTo>
                <a:close/>
                <a:moveTo>
                  <a:pt x="0" y="65633"/>
                </a:moveTo>
                <a:lnTo>
                  <a:pt x="0" y="128588"/>
                </a:lnTo>
                <a:cubicBezTo>
                  <a:pt x="0" y="140408"/>
                  <a:pt x="9611" y="150019"/>
                  <a:pt x="21431" y="150019"/>
                </a:cubicBezTo>
                <a:lnTo>
                  <a:pt x="150019" y="150019"/>
                </a:lnTo>
                <a:cubicBezTo>
                  <a:pt x="161839" y="150019"/>
                  <a:pt x="171450" y="140408"/>
                  <a:pt x="171450" y="128588"/>
                </a:cubicBezTo>
                <a:lnTo>
                  <a:pt x="171450" y="65633"/>
                </a:lnTo>
                <a:lnTo>
                  <a:pt x="105013" y="115461"/>
                </a:lnTo>
                <a:cubicBezTo>
                  <a:pt x="93594" y="124033"/>
                  <a:pt x="77856" y="124033"/>
                  <a:pt x="66437" y="115461"/>
                </a:cubicBezTo>
                <a:lnTo>
                  <a:pt x="0" y="65633"/>
                </a:lnTo>
                <a:close/>
              </a:path>
            </a:pathLst>
          </a:custGeom>
          <a:solidFill>
            <a:srgbClr val="CAD5E2"/>
          </a:solidFill>
        </p:spPr>
      </p:sp>
      <p:sp>
        <p:nvSpPr>
          <p:cNvPr id="1048613" name="Text 6"/>
          <p:cNvSpPr/>
          <p:nvPr/>
        </p:nvSpPr>
        <p:spPr>
          <a:xfrm>
            <a:off x="4955824" y="4593820"/>
            <a:ext cx="23526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zh-CN" sz="1350" dirty="0">
                <a:solidFill>
                  <a:srgbClr val="CAD5E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汇报人：庄凯霖</a:t>
            </a:r>
            <a:endParaRPr lang="en-US" sz="1600" dirty="0"/>
          </a:p>
        </p:txBody>
      </p:sp>
      <p:sp>
        <p:nvSpPr>
          <p:cNvPr id="1048614" name="Text 7"/>
          <p:cNvSpPr/>
          <p:nvPr/>
        </p:nvSpPr>
        <p:spPr>
          <a:xfrm>
            <a:off x="4689124" y="4432435"/>
            <a:ext cx="2619375" cy="4471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1212</Words>
  <Application>Microsoft Office PowerPoint</Application>
  <PresentationFormat>宽屏</PresentationFormat>
  <Paragraphs>232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Noto Sans SC</vt:lpstr>
      <vt:lpstr>Arial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从Prompt到Harness：Agent工程范式的三次跃迁</dc:title>
  <dc:creator>Kimi</dc:creator>
  <cp:lastModifiedBy>KL Zhuang</cp:lastModifiedBy>
  <cp:revision>12</cp:revision>
  <dcterms:created xsi:type="dcterms:W3CDTF">2026-04-07T18:48:00Z</dcterms:created>
  <dcterms:modified xsi:type="dcterms:W3CDTF">2026-04-16T13:04:51Z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从Prompt到Harness：Agent工程范式的三次跃迁","ContentProducer":"001191110108MACG2KBH8F10000","ProduceID":"19d5ba23-7082-8c60-8000-0000c3d7c511","ReservedCode1":"","ContentPropagator":"001191110108MACG2KBH8F20000","PropagateID":"19d5ba23-7082-8c60-8000-0000c3d7c511","ReservedCode2":""}</vt:lpwstr>
  </property>
  <property fmtid="{D5CDD505-2E9C-101B-9397-08002B2CF9AE}" pid="3" name="ICV">
    <vt:lpwstr>31a4539f522b4081a0541ab404887c4f_22</vt:lpwstr>
  </property>
</Properties>
</file>